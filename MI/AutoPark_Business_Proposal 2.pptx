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C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572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aUToronto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AutoPark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731520" y="210312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Self-Parking for the Next Generation of Vehicles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31520" y="2926080"/>
            <a:ext cx="228600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32004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Mobility Innovation Challenge  |  Seed Investment Proposal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40233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Prithvi Seran  ·  Amanda Liu  ·  Forest Li  ·  Ailing Ji  ·  Nevan Kho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44805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Summer Competition  |  June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41C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OPPORTUNITY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$72.7B</a:t>
            </a:r>
            <a:endParaRPr lang="en-US" sz="5200" dirty="0"/>
          </a:p>
          <a:p>
            <a:pPr indent="0" marL="0">
              <a:buNone/>
            </a:pPr>
            <a:r>
              <a:rPr lang="en-US" sz="14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wasted annually by US drivers</a:t>
            </a:r>
            <a:endParaRPr lang="en-US" sz="5200" dirty="0"/>
          </a:p>
          <a:p>
            <a:pPr indent="0" marL="0">
              <a:buNone/>
            </a:pPr>
            <a:r>
              <a:rPr lang="en-US" sz="14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searching for parking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4846320" y="914400"/>
            <a:ext cx="3840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107 hrs</a:t>
            </a:r>
            <a:endParaRPr lang="en-US" sz="5200" dirty="0"/>
          </a:p>
          <a:p>
            <a:pPr indent="0" marL="0">
              <a:buNone/>
            </a:pPr>
            <a:r>
              <a:rPr lang="en-US" sz="14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year lost by NYC drivers</a:t>
            </a:r>
            <a:endParaRPr lang="en-US" sz="5200" dirty="0"/>
          </a:p>
          <a:p>
            <a:pPr indent="0" marL="0">
              <a:buNone/>
            </a:pPr>
            <a:r>
              <a:rPr lang="en-US" sz="14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circling for a parking spot</a:t>
            </a:r>
            <a:endParaRPr lang="en-US" sz="5200" dirty="0"/>
          </a:p>
        </p:txBody>
      </p:sp>
      <p:sp>
        <p:nvSpPr>
          <p:cNvPr id="5" name="Shape 3"/>
          <p:cNvSpPr/>
          <p:nvPr/>
        </p:nvSpPr>
        <p:spPr>
          <a:xfrm>
            <a:off x="731520" y="2926080"/>
            <a:ext cx="7680960" cy="9144"/>
          </a:xfrm>
          <a:prstGeom prst="rect">
            <a:avLst/>
          </a:prstGeom>
          <a:solidFill>
            <a:srgbClr val="2A3566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3108960"/>
            <a:ext cx="76809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are aUToronto AutoPark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full-stack autonomous self-parking system. We let the car drop you at the door and handle parking entirely on its own — finding, navigating, and completing the maneuver without any driver input.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4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Targeting a $10B+ smart parking market growing at 17% CAGR, with a clear path to OEM licensing.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Agenda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B82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463040" y="12801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463040" y="15087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parking crisis costing billions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18745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B82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463040" y="18745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Stakeholders &amp; Impacts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463040" y="21031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benefits and how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24688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B82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463040" y="24688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Benchmarking &amp; Market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463040" y="26974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size, growth, and competitors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31520" y="30632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B82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463040" y="30632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Solution: AutoPark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463040" y="32918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product and what makes it different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31520" y="36576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B82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463040" y="36576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Integration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463040" y="3886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fits into the vehicle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31520" y="42519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B82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463040" y="42519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Plan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463040" y="44805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model, costs, and projections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C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3B82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731520" y="2103120"/>
            <a:ext cx="4572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</a:t>
            </a:r>
            <a:endParaRPr lang="en-US" sz="4200" dirty="0"/>
          </a:p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Statement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731520" y="3474720"/>
            <a:ext cx="182880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37490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urban parking crisis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Parking Crisis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100584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parking is time-consuming, inefficient, and stressful — a problem that worsens as cities grow denser.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737360"/>
            <a:ext cx="2468880" cy="1828800"/>
          </a:xfrm>
          <a:prstGeom prst="rect">
            <a:avLst/>
          </a:prstGeom>
          <a:solidFill>
            <a:srgbClr val="F2F4F8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05840" y="192024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8992" y="1993392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05840" y="24688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$72.7B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1005840" y="292608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cost from wasted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and fuel in the US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474720" y="1737360"/>
            <a:ext cx="2468880" cy="1828800"/>
          </a:xfrm>
          <a:prstGeom prst="rect">
            <a:avLst/>
          </a:prstGeom>
          <a:solidFill>
            <a:srgbClr val="F2F4F8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749040" y="192024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2192" y="1993392"/>
            <a:ext cx="320040" cy="3200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749040" y="24688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107 hrs</a:t>
            </a:r>
            <a:endParaRPr lang="en-US" sz="2800" dirty="0"/>
          </a:p>
        </p:txBody>
      </p:sp>
      <p:sp>
        <p:nvSpPr>
          <p:cNvPr id="13" name="Text 9"/>
          <p:cNvSpPr/>
          <p:nvPr/>
        </p:nvSpPr>
        <p:spPr>
          <a:xfrm>
            <a:off x="3749040" y="292608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year lost per driver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New York City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217920" y="1737360"/>
            <a:ext cx="2468880" cy="1828800"/>
          </a:xfrm>
          <a:prstGeom prst="rect">
            <a:avLst/>
          </a:prstGeom>
          <a:solidFill>
            <a:srgbClr val="F2F4F8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492240" y="192024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5392" y="1993392"/>
            <a:ext cx="320040" cy="32004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492240" y="24688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4.4 days</a:t>
            </a:r>
            <a:endParaRPr lang="en-US" sz="2800" dirty="0"/>
          </a:p>
        </p:txBody>
      </p:sp>
      <p:sp>
        <p:nvSpPr>
          <p:cNvPr id="18" name="Text 13"/>
          <p:cNvSpPr/>
          <p:nvPr/>
        </p:nvSpPr>
        <p:spPr>
          <a:xfrm>
            <a:off x="6492240" y="292608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Equivalent time wasted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circling for parking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731520" y="3840480"/>
            <a:ext cx="7680960" cy="7315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0" name="Text 15"/>
          <p:cNvSpPr/>
          <p:nvPr/>
        </p:nvSpPr>
        <p:spPr>
          <a:xfrm>
            <a:off x="1005840" y="3886200"/>
            <a:ext cx="7132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AVs become mainstream, the parking problem doesn’t disappear — it transforms. Self-driving cars still need to park, and today’s infrastructure isn’t ready.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C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3B82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731520" y="2103120"/>
            <a:ext cx="5486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Stakeholders</a:t>
            </a:r>
            <a:endParaRPr lang="en-US" sz="4200" dirty="0"/>
          </a:p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&amp; Impacts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731520" y="3474720"/>
            <a:ext cx="182880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37490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benefits and how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Primary Beneficiaries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2468880" cy="3200400"/>
          </a:xfrm>
          <a:prstGeom prst="rect">
            <a:avLst/>
          </a:prstGeom>
          <a:solidFill>
            <a:srgbClr val="F2F4F8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31520" y="1188720"/>
            <a:ext cx="246888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" name="Shape 3"/>
          <p:cNvSpPr/>
          <p:nvPr/>
        </p:nvSpPr>
        <p:spPr>
          <a:xfrm>
            <a:off x="1005840" y="146304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1031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OEMs (B2B)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05840" y="23774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GM, Ford, Stellantis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05840" y="2743200"/>
            <a:ext cx="2011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AV feature war, OEMs need differentiation. AutoPark is a high-value, licensable software module for their vehicle lineup.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74720" y="1188720"/>
            <a:ext cx="2468880" cy="3200400"/>
          </a:xfrm>
          <a:prstGeom prst="rect">
            <a:avLst/>
          </a:prstGeom>
          <a:solidFill>
            <a:srgbClr val="F2F4F8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474720" y="1188720"/>
            <a:ext cx="246888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1" name="Shape 9"/>
          <p:cNvSpPr/>
          <p:nvPr/>
        </p:nvSpPr>
        <p:spPr>
          <a:xfrm>
            <a:off x="3749040" y="146304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22192" y="1536192"/>
            <a:ext cx="365760" cy="36576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3749040" y="21031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 Owners (B2C)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3749040" y="23774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End-User Experience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3749040" y="2743200"/>
            <a:ext cx="2011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curbside-to-curbside experience. Dropped off at the door, the car handles parking entirely — invisible and seamless.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217920" y="1188720"/>
            <a:ext cx="2468880" cy="3200400"/>
          </a:xfrm>
          <a:prstGeom prst="rect">
            <a:avLst/>
          </a:prstGeom>
          <a:solidFill>
            <a:srgbClr val="F2F4F8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6217920" y="1188720"/>
            <a:ext cx="246888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8" name="Shape 15"/>
          <p:cNvSpPr/>
          <p:nvPr/>
        </p:nvSpPr>
        <p:spPr>
          <a:xfrm>
            <a:off x="6492240" y="146304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5392" y="1536192"/>
            <a:ext cx="365760" cy="36576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6492240" y="21031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</a:t>
            </a:r>
            <a:endParaRPr lang="en-US" sz="1600" dirty="0"/>
          </a:p>
        </p:txBody>
      </p:sp>
      <p:sp>
        <p:nvSpPr>
          <p:cNvPr id="21" name="Text 17"/>
          <p:cNvSpPr/>
          <p:nvPr/>
        </p:nvSpPr>
        <p:spPr>
          <a:xfrm>
            <a:off x="6492240" y="23774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Lots, Malls, Airports</a:t>
            </a:r>
            <a:endParaRPr lang="en-US" sz="1100" dirty="0"/>
          </a:p>
        </p:txBody>
      </p:sp>
      <p:sp>
        <p:nvSpPr>
          <p:cNvPr id="22" name="Text 18"/>
          <p:cNvSpPr/>
          <p:nvPr/>
        </p:nvSpPr>
        <p:spPr>
          <a:xfrm>
            <a:off x="6492240" y="2743200"/>
            <a:ext cx="2011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Parking lot operators gain real-time occupancy data, reduced congestion, and a new SaaS revenue stream via gate fees.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C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3B82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731520" y="210312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Benchmarking &amp;</a:t>
            </a:r>
            <a:endParaRPr lang="en-US" sz="4200" dirty="0"/>
          </a:p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Market Assessment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731520" y="3474720"/>
            <a:ext cx="182880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3749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$10B+ market with no end-to-end solution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Market Size &amp; Growth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38404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$9.3 – $11.2B</a:t>
            </a:r>
            <a:endParaRPr lang="en-US" sz="3600" dirty="0"/>
          </a:p>
          <a:p>
            <a:pPr indent="0" marL="0">
              <a:buNone/>
            </a:pPr>
            <a:r>
              <a:rPr lang="en-US" sz="13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 Market Value</a:t>
            </a:r>
            <a:endParaRPr lang="en-US" sz="3600" dirty="0"/>
          </a:p>
          <a:p>
            <a:pPr indent="0" marL="0">
              <a:buNone/>
            </a:pP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3B82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$33B+</a:t>
            </a:r>
            <a:endParaRPr lang="en-US" sz="3600" dirty="0"/>
          </a:p>
          <a:p>
            <a:pPr indent="0" marL="0">
              <a:buNone/>
            </a:pPr>
            <a:r>
              <a:rPr lang="en-US" sz="13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Projected by 2033</a:t>
            </a:r>
            <a:endParaRPr lang="en-US" sz="3600" dirty="0"/>
          </a:p>
          <a:p>
            <a:pPr indent="0" marL="0">
              <a:buNone/>
            </a:pPr>
            <a:endParaRPr lang="en-US" sz="3600" dirty="0"/>
          </a:p>
          <a:p>
            <a:pPr indent="0" marL="0">
              <a:buNone/>
            </a:pPr>
            <a:r>
              <a:rPr lang="en-US" sz="28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17.4% CAGR</a:t>
            </a:r>
            <a:endParaRPr lang="en-US" sz="3600" dirty="0"/>
          </a:p>
          <a:p>
            <a:pPr indent="0" marL="0">
              <a:buNone/>
            </a:pPr>
            <a:r>
              <a:rPr lang="en-US" sz="13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Compound Annual Growth Rate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846320" y="1097280"/>
            <a:ext cx="3840480" cy="4114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4937760" y="111556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Firm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583680" y="1115568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 Est.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680960" y="1115568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 Est.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846320" y="1508760"/>
            <a:ext cx="3840480" cy="384048"/>
          </a:xfrm>
          <a:prstGeom prst="rect">
            <a:avLst/>
          </a:prstGeom>
          <a:solidFill>
            <a:srgbClr val="F2F4F8"/>
          </a:solidFill>
          <a:ln/>
        </p:spPr>
      </p:sp>
      <p:sp>
        <p:nvSpPr>
          <p:cNvPr id="9" name="Text 7"/>
          <p:cNvSpPr/>
          <p:nvPr/>
        </p:nvSpPr>
        <p:spPr>
          <a:xfrm>
            <a:off x="4937760" y="150876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Straits Research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583680" y="150876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$7.98B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680960" y="150876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$9.37B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846320" y="1892808"/>
            <a:ext cx="384048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4937760" y="1892808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Precedence Research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583680" y="1892808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$9.15B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680960" y="1892808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$11.18B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846320" y="2276856"/>
            <a:ext cx="3840480" cy="384048"/>
          </a:xfrm>
          <a:prstGeom prst="rect">
            <a:avLst/>
          </a:prstGeom>
          <a:solidFill>
            <a:srgbClr val="F2F4F8"/>
          </a:solidFill>
          <a:ln/>
        </p:spPr>
      </p:sp>
      <p:sp>
        <p:nvSpPr>
          <p:cNvPr id="17" name="Text 15"/>
          <p:cNvSpPr/>
          <p:nvPr/>
        </p:nvSpPr>
        <p:spPr>
          <a:xfrm>
            <a:off x="4937760" y="2276856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Research Co.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583680" y="2276856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$8.50B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680960" y="2276856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$10.27B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846320" y="2660904"/>
            <a:ext cx="384048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4937760" y="2660904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IMARC Group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583680" y="2660904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$5.70B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680960" y="2660904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846320" y="32004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Tailwinds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846320" y="3611880"/>
            <a:ext cx="320040" cy="3200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01184" y="3657600"/>
            <a:ext cx="219456" cy="219456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5303520" y="356616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Urbanization &amp; Congestion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5303520" y="3767328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people moving to cities, increasing parking demand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4846320" y="4069080"/>
            <a:ext cx="320040" cy="3200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1184" y="4114800"/>
            <a:ext cx="219456" cy="219456"/>
          </a:xfrm>
          <a:prstGeom prst="rect">
            <a:avLst/>
          </a:prstGeom>
        </p:spPr>
      </p:pic>
      <p:sp>
        <p:nvSpPr>
          <p:cNvPr id="31" name="Text 27"/>
          <p:cNvSpPr/>
          <p:nvPr/>
        </p:nvSpPr>
        <p:spPr>
          <a:xfrm>
            <a:off x="5303520" y="402336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Environmental Concerns</a:t>
            </a:r>
            <a:endParaRPr lang="en-US" sz="1000" dirty="0"/>
          </a:p>
        </p:txBody>
      </p:sp>
      <p:sp>
        <p:nvSpPr>
          <p:cNvPr id="32" name="Text 28"/>
          <p:cNvSpPr/>
          <p:nvPr/>
        </p:nvSpPr>
        <p:spPr>
          <a:xfrm>
            <a:off x="5303520" y="4224528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Reducing cruising time cuts fuel consumption &amp; emissions</a:t>
            </a:r>
            <a:endParaRPr lang="en-US" sz="900" dirty="0"/>
          </a:p>
        </p:txBody>
      </p:sp>
      <p:sp>
        <p:nvSpPr>
          <p:cNvPr id="33" name="Shape 29"/>
          <p:cNvSpPr/>
          <p:nvPr/>
        </p:nvSpPr>
        <p:spPr>
          <a:xfrm>
            <a:off x="4846320" y="4526280"/>
            <a:ext cx="320040" cy="3200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1184" y="4572000"/>
            <a:ext cx="219456" cy="219456"/>
          </a:xfrm>
          <a:prstGeom prst="rect">
            <a:avLst/>
          </a:prstGeom>
        </p:spPr>
      </p:pic>
      <p:sp>
        <p:nvSpPr>
          <p:cNvPr id="35" name="Text 30"/>
          <p:cNvSpPr/>
          <p:nvPr/>
        </p:nvSpPr>
        <p:spPr>
          <a:xfrm>
            <a:off x="5303520" y="448056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City &amp; IoT Adoption</a:t>
            </a:r>
            <a:endParaRPr lang="en-US" sz="1000" dirty="0"/>
          </a:p>
        </p:txBody>
      </p:sp>
      <p:sp>
        <p:nvSpPr>
          <p:cNvPr id="36" name="Text 31"/>
          <p:cNvSpPr/>
          <p:nvPr/>
        </p:nvSpPr>
        <p:spPr>
          <a:xfrm>
            <a:off x="5303520" y="4681728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5G, IoT sensors, and cloud make real-time data affordable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C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3B82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731520" y="2103120"/>
            <a:ext cx="5486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Our Solution:</a:t>
            </a:r>
            <a:endParaRPr lang="en-US" sz="4200" dirty="0"/>
          </a:p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AutoPark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731520" y="3474720"/>
            <a:ext cx="182880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3749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full-stack autonomous self-parking platform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AutoPark?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100584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smart self-parking system that enables vehicles to autonomously locate, navigate to, and park in available spots — without any driver input.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3840480" cy="1280160"/>
          </a:xfrm>
          <a:prstGeom prst="rect">
            <a:avLst/>
          </a:prstGeom>
          <a:solidFill>
            <a:srgbClr val="F2F4F8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645920"/>
            <a:ext cx="54864" cy="128016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6" name="Shape 4"/>
          <p:cNvSpPr/>
          <p:nvPr/>
        </p:nvSpPr>
        <p:spPr>
          <a:xfrm>
            <a:off x="960120" y="182880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272" y="1901952"/>
            <a:ext cx="320040" cy="320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54480" y="17830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554480" y="210312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browses and selects parking spots. Displays real-time recommendations and handles payment.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846320" y="1645920"/>
            <a:ext cx="3840480" cy="1280160"/>
          </a:xfrm>
          <a:prstGeom prst="rect">
            <a:avLst/>
          </a:prstGeom>
          <a:solidFill>
            <a:srgbClr val="F2F4F8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846320" y="1645920"/>
            <a:ext cx="54864" cy="128016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2" name="Shape 9"/>
          <p:cNvSpPr/>
          <p:nvPr/>
        </p:nvSpPr>
        <p:spPr>
          <a:xfrm>
            <a:off x="5074920" y="182880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8072" y="1901952"/>
            <a:ext cx="320040" cy="32004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669280" y="17830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Service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5669280" y="210312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Manages user/vehicle data, delivers smart parking recommendations via LGMRanker ML model.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731520" y="3200400"/>
            <a:ext cx="3840480" cy="1280160"/>
          </a:xfrm>
          <a:prstGeom prst="rect">
            <a:avLst/>
          </a:prstGeom>
          <a:solidFill>
            <a:srgbClr val="F2F4F8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731520" y="3200400"/>
            <a:ext cx="54864" cy="128016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8" name="Shape 14"/>
          <p:cNvSpPr/>
          <p:nvPr/>
        </p:nvSpPr>
        <p:spPr>
          <a:xfrm>
            <a:off x="960120" y="338328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272" y="3456432"/>
            <a:ext cx="320040" cy="32004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554480" y="33375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OBU (On-Board Unit)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1554480" y="365760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Installed in the vehicle. UHF RFID tag + writer authenticates the car at parking gates.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4846320" y="3200400"/>
            <a:ext cx="3840480" cy="1280160"/>
          </a:xfrm>
          <a:prstGeom prst="rect">
            <a:avLst/>
          </a:prstGeom>
          <a:solidFill>
            <a:srgbClr val="F2F4F8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4846320" y="3200400"/>
            <a:ext cx="54864" cy="128016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4" name="Shape 19"/>
          <p:cNvSpPr/>
          <p:nvPr/>
        </p:nvSpPr>
        <p:spPr>
          <a:xfrm>
            <a:off x="5074920" y="338328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8072" y="3456432"/>
            <a:ext cx="320040" cy="32004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5669280" y="33375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RSU (Road-Side Unit)</a:t>
            </a:r>
            <a:endParaRPr lang="en-US" sz="1500" dirty="0"/>
          </a:p>
        </p:txBody>
      </p:sp>
      <p:sp>
        <p:nvSpPr>
          <p:cNvPr id="27" name="Text 21"/>
          <p:cNvSpPr/>
          <p:nvPr/>
        </p:nvSpPr>
        <p:spPr>
          <a:xfrm>
            <a:off x="5669280" y="365760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at parking lots. UHF reader + processor communicates with OBU and opens gates.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AutoPark Works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seamless phases from the driver’s perspective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097280" y="137160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13716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691640" y="1627632"/>
            <a:ext cx="1005840" cy="2743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2103120"/>
            <a:ext cx="1920240" cy="2377440"/>
          </a:xfrm>
          <a:prstGeom prst="rect">
            <a:avLst/>
          </a:prstGeom>
          <a:solidFill>
            <a:srgbClr val="F2F4F8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224028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94360" y="2926080"/>
            <a:ext cx="1645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wants to park. App fetches recommendations from cloud every 100m while driving.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91840" y="137160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3291840" y="13716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3886200" y="1627632"/>
            <a:ext cx="1005840" cy="2743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3" name="Shape 11"/>
          <p:cNvSpPr/>
          <p:nvPr/>
        </p:nvSpPr>
        <p:spPr>
          <a:xfrm>
            <a:off x="2651760" y="2103120"/>
            <a:ext cx="1920240" cy="2377440"/>
          </a:xfrm>
          <a:prstGeom prst="rect">
            <a:avLst/>
          </a:prstGeom>
          <a:solidFill>
            <a:srgbClr val="F2F4F8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788920" y="224028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Payment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788920" y="2926080"/>
            <a:ext cx="1645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selects a lot, pays via app. Parking ID is written to OBU’s UHF RFID tag.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0" y="137160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0" y="13716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6080760" y="1627632"/>
            <a:ext cx="1005840" cy="2743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9" name="Shape 17"/>
          <p:cNvSpPr/>
          <p:nvPr/>
        </p:nvSpPr>
        <p:spPr>
          <a:xfrm>
            <a:off x="4846320" y="2103120"/>
            <a:ext cx="1920240" cy="2377440"/>
          </a:xfrm>
          <a:prstGeom prst="rect">
            <a:avLst/>
          </a:prstGeom>
          <a:solidFill>
            <a:srgbClr val="F2F4F8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983480" y="224028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983480" y="2926080"/>
            <a:ext cx="1645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 approaches lot. RSU reads UHF tag, verifies payment, and opens the gate.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680960" y="137160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3" name="Text 21"/>
          <p:cNvSpPr/>
          <p:nvPr/>
        </p:nvSpPr>
        <p:spPr>
          <a:xfrm>
            <a:off x="7680960" y="13716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7040880" y="2103120"/>
            <a:ext cx="1920240" cy="2377440"/>
          </a:xfrm>
          <a:prstGeom prst="rect">
            <a:avLst/>
          </a:prstGeom>
          <a:solidFill>
            <a:srgbClr val="F2F4F8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178040" y="224028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Park &amp;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178040" y="2926080"/>
            <a:ext cx="1645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 autonomously finds a spot and parks. Backend updates records. User is notified.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41C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3B82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731520" y="2103120"/>
            <a:ext cx="5486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</a:t>
            </a:r>
            <a:endParaRPr lang="en-US" sz="4200" dirty="0"/>
          </a:p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Integration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731520" y="3474720"/>
            <a:ext cx="182880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3749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architecture and vehicle integration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On-Board Unit (OBU)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Installed in the vehicle, connected to the CAN bus, placed below the dashboard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31520" y="1463040"/>
            <a:ext cx="5029200" cy="3657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48132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286000" y="148132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Specification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480560" y="1481328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Cost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31520" y="1828800"/>
            <a:ext cx="5029200" cy="365760"/>
          </a:xfrm>
          <a:prstGeom prst="rect">
            <a:avLst/>
          </a:prstGeom>
          <a:solidFill>
            <a:srgbClr val="F2F4F8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18288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UHF RFID Tag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286000" y="18288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NXP UCODE DNA RAIN RFID inlay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480560" y="182880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$1–$3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31520" y="2194560"/>
            <a:ext cx="502920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21945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UHF Reader/Writer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286000" y="21945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SparkFun M6E Nano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480560" y="219456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$50–$70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31520" y="2560320"/>
            <a:ext cx="5029200" cy="365760"/>
          </a:xfrm>
          <a:prstGeom prst="rect">
            <a:avLst/>
          </a:prstGeom>
          <a:solidFill>
            <a:srgbClr val="F2F4F8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25603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Bus Bridge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286000" y="25603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STM32G431 Microcontroller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480560" y="256032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$3–$5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2926080"/>
            <a:ext cx="5029200" cy="3657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29260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OBU Unit Cost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480560" y="29260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~$55–$78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035040" y="14630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Firmware Integration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035040" y="18288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Packaged as Adaptive AUTOSAR application for seamless OEM integration.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035040" y="23774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1: </a:t>
            </a:r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Poll GPS via CAN, fetch parking recs every 100m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035040" y="28803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2: </a:t>
            </a:r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 SSE, write parking ID to UHF tag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035040" y="33832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3: </a:t>
            </a:r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Geofence detection, passive tag read at gate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035040" y="38862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4: </a:t>
            </a:r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Finalize session, wipe tag on park complete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035040" y="4480560"/>
            <a:ext cx="2743200" cy="320040"/>
          </a:xfrm>
          <a:prstGeom prst="rect">
            <a:avLst/>
          </a:prstGeom>
          <a:solidFill>
            <a:srgbClr val="F2F4F8"/>
          </a:solidFill>
          <a:ln/>
        </p:spPr>
      </p:sp>
      <p:sp>
        <p:nvSpPr>
          <p:cNvPr id="30" name="Text 28"/>
          <p:cNvSpPr/>
          <p:nvPr/>
        </p:nvSpPr>
        <p:spPr>
          <a:xfrm>
            <a:off x="6126480" y="44805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UHF Band: 860–960 MHz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Road-Side Unit (RSU)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at parking lot gates — interfaces with existing gate controllers via dry contact input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31520" y="1463040"/>
            <a:ext cx="7680960" cy="3657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48132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743200" y="148132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120640" y="148132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223760" y="1481328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Cost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31520" y="1828800"/>
            <a:ext cx="7680960" cy="365760"/>
          </a:xfrm>
          <a:prstGeom prst="rect">
            <a:avLst/>
          </a:prstGeom>
          <a:solidFill>
            <a:srgbClr val="F2F4F8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18288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Processor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743200" y="18288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NXP I.MX8M Mini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120640" y="18288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DigiKey / Mouser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223760" y="182880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$20–$35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" y="2194560"/>
            <a:ext cx="768096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21945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 Module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743200" y="21945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Quectel AG55xQ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120640" y="21945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Quectel / DigiKey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223760" y="219456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$40–$60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31520" y="2560320"/>
            <a:ext cx="7680960" cy="365760"/>
          </a:xfrm>
          <a:prstGeom prst="rect">
            <a:avLst/>
          </a:prstGeom>
          <a:solidFill>
            <a:srgbClr val="F2F4F8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25603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Relay Module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743200" y="25603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 Microsystems I/O HAT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120640" y="25603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 Microsystems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223760" y="256032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$50–$70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31520" y="2926080"/>
            <a:ext cx="768096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822960" y="29260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UHF RFID Reader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743200" y="29260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STid SPECTRE UHF Reader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120640" y="29260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STid / Resellers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223760" y="29260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$300–$500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31520" y="3291840"/>
            <a:ext cx="7680960" cy="3657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0" name="Text 28"/>
          <p:cNvSpPr/>
          <p:nvPr/>
        </p:nvSpPr>
        <p:spPr>
          <a:xfrm>
            <a:off x="822960" y="329184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RSU Unit Cost (Prototype)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223760" y="329184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~$410–$665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31520" y="3931920"/>
            <a:ext cx="7680960" cy="822960"/>
          </a:xfrm>
          <a:prstGeom prst="rect">
            <a:avLst/>
          </a:prstGeom>
          <a:solidFill>
            <a:srgbClr val="F2F4F8"/>
          </a:solidFill>
          <a:ln/>
        </p:spPr>
      </p:sp>
      <p:sp>
        <p:nvSpPr>
          <p:cNvPr id="33" name="Text 31"/>
          <p:cNvSpPr/>
          <p:nvPr/>
        </p:nvSpPr>
        <p:spPr>
          <a:xfrm>
            <a:off x="914400" y="397764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Universal Gate Compatibility: </a:t>
            </a:r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commercial parking gate (FAAC, CAME, SKIDATA, etc.) has a dry contact input — two terminals on the gate’s control board designed for external trigger systems. Our RSU connects directly to these terminals, requiring no gate modification.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Cloud Backend &amp; ML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Architecture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31520" y="1554480"/>
            <a:ext cx="3840480" cy="4114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55448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ECS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103120" y="15544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Hosts application containers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31520" y="2057400"/>
            <a:ext cx="3840480" cy="411480"/>
          </a:xfrm>
          <a:prstGeom prst="rect">
            <a:avLst/>
          </a:prstGeom>
          <a:solidFill>
            <a:srgbClr val="F2F4F8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205740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RDS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103120" y="20574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database (users, parking, payments)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31520" y="2560320"/>
            <a:ext cx="3840480" cy="411480"/>
          </a:xfrm>
          <a:prstGeom prst="rect">
            <a:avLst/>
          </a:prstGeom>
          <a:solidFill>
            <a:srgbClr val="F2F4F8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256032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SageMaker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103120" y="25603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Hosts recommendation model inference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31520" y="3063240"/>
            <a:ext cx="3840480" cy="411480"/>
          </a:xfrm>
          <a:prstGeom prst="rect">
            <a:avLst/>
          </a:prstGeom>
          <a:solidFill>
            <a:srgbClr val="F2F4F8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306324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Cache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103120" y="30632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Low-latency parking recommendations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029200" y="10972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Engine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029200" y="155448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LGMRanker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ranking model, not a recommendation model. We solve “sort these 50 nearby spots by utility” — not “which of 10M items does this user want?”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LGMRanker over Two-Tower, DLRM, HSTU, DCN-V2?</a:t>
            </a:r>
            <a:endParaRPr lang="en-US" sz="1300" dirty="0"/>
          </a:p>
        </p:txBody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2880360"/>
            <a:ext cx="182880" cy="182880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5303520" y="28346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latency for real-time decisions</a:t>
            </a:r>
            <a:endParaRPr lang="en-US" sz="1000" dirty="0"/>
          </a:p>
        </p:txBody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182880" cy="18288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5303520" y="31546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 CPU (no GPU needed)</a:t>
            </a:r>
            <a:endParaRPr lang="en-US" sz="1000" dirty="0"/>
          </a:p>
        </p:txBody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3520440"/>
            <a:ext cx="182880" cy="18288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5303520" y="34747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needs ml.c5.xlarge SageMaker instance</a:t>
            </a:r>
            <a:endParaRPr lang="en-US" sz="1000" dirty="0"/>
          </a:p>
        </p:txBody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3840480"/>
            <a:ext cx="182880" cy="18288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5303520" y="37947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Suited for small candidate sets with objective constraints</a:t>
            </a:r>
            <a:endParaRPr lang="en-US" sz="1000" dirty="0"/>
          </a:p>
        </p:txBody>
      </p:sp>
      <p:sp>
        <p:nvSpPr>
          <p:cNvPr id="26" name="Shape 20"/>
          <p:cNvSpPr/>
          <p:nvPr/>
        </p:nvSpPr>
        <p:spPr>
          <a:xfrm>
            <a:off x="731520" y="4023360"/>
            <a:ext cx="7680960" cy="731520"/>
          </a:xfrm>
          <a:prstGeom prst="rect">
            <a:avLst/>
          </a:prstGeom>
          <a:solidFill>
            <a:srgbClr val="F2F4F8"/>
          </a:solidFill>
          <a:ln/>
        </p:spPr>
      </p:sp>
      <p:sp>
        <p:nvSpPr>
          <p:cNvPr id="27" name="Text 21"/>
          <p:cNvSpPr/>
          <p:nvPr/>
        </p:nvSpPr>
        <p:spPr>
          <a:xfrm>
            <a:off x="914400" y="40690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Tables: </a:t>
            </a:r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(id, car_id, name, email, phone, password_hash)  •  payment_history (id, user_id, date, amount, currency)  •  parking_waiting (id, car_id, payment_hash)  •  real_time_parking (id, name, address, live_count, capacity)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41C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3B82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731520" y="2103120"/>
            <a:ext cx="5486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Business</a:t>
            </a:r>
            <a:endParaRPr lang="en-US" sz="4200" dirty="0"/>
          </a:p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Plan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731520" y="3474720"/>
            <a:ext cx="182880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3749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Revenue, costs, and financial projections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Go-to-Market: Two-Phase Strategy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3840480" cy="2926080"/>
          </a:xfrm>
          <a:prstGeom prst="rect">
            <a:avLst/>
          </a:prstGeom>
          <a:solidFill>
            <a:srgbClr val="F2F4F8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31520" y="1188720"/>
            <a:ext cx="384048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3716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1: 2026–2028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14400" y="169164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 Revenue via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Parking App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2331720"/>
            <a:ext cx="3474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as a SpotHero-style parking aggregator. Users pay through our app; we collect a 15–30% dynamic commission per transaction. This generates real revenue from day one while we build the brand, sign parking lot partnerships, and validate OBU/RSU hardware.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846320" y="1188720"/>
            <a:ext cx="3840480" cy="292608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29200" y="13716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2: 2028+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0" y="169164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Autonomous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Parking Platform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029200" y="2331720"/>
            <a:ext cx="3474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AV adoption grows, we transition to a full L4/L5 integration play. RSUs enable true hands-free autonomous parking. Revenue expands to include OEM SDK licensing, per-vehicle subscriptions, and premium lot access tiers.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1520" y="4297680"/>
            <a:ext cx="7955280" cy="548640"/>
          </a:xfrm>
          <a:prstGeom prst="rect">
            <a:avLst/>
          </a:prstGeom>
          <a:solidFill>
            <a:srgbClr val="141C3D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315968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Moat: </a:t>
            </a:r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RSU hardware creates physical installation barriers — once a lot is equipped, switching costs are high. Combined with OEM integrations, this locks in both supply (lots) and demand (vehicles).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Revenue Model &amp; Unit Economics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097280"/>
            <a:ext cx="1828800" cy="1188720"/>
          </a:xfrm>
          <a:prstGeom prst="rect">
            <a:avLst/>
          </a:prstGeom>
          <a:solidFill>
            <a:srgbClr val="F2F4F8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68680" y="118872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~$401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68680" y="16916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RSU Cost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Gate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834640" y="1097280"/>
            <a:ext cx="1828800" cy="1188720"/>
          </a:xfrm>
          <a:prstGeom prst="rect">
            <a:avLst/>
          </a:prstGeom>
          <a:solidFill>
            <a:srgbClr val="F2F4F8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971800" y="118872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B82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~6 days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2971800" y="16916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Payback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937760" y="1097280"/>
            <a:ext cx="1828800" cy="1188720"/>
          </a:xfrm>
          <a:prstGeom prst="rect">
            <a:avLst/>
          </a:prstGeom>
          <a:solidFill>
            <a:srgbClr val="F2F4F8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074920" y="118872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40:1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5074920" y="16916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LTV:CAC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040880" y="1097280"/>
            <a:ext cx="1828800" cy="1188720"/>
          </a:xfrm>
          <a:prstGeom prst="rect">
            <a:avLst/>
          </a:prstGeom>
          <a:solidFill>
            <a:srgbClr val="F2F4F8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178040" y="118872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$81.6K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7178040" y="16916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5-Year LTV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Gate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31520" y="25603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Per Transaction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68680" y="292608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ticket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291840" y="292608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$15.00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68680" y="3273552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commission (35%)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291840" y="3273552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$5.25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68680" y="3621024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 fees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291840" y="3621024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–$0.78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31520" y="3968496"/>
            <a:ext cx="3840480" cy="3474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3" name="Text 21"/>
          <p:cNvSpPr/>
          <p:nvPr/>
        </p:nvSpPr>
        <p:spPr>
          <a:xfrm>
            <a:off x="868680" y="3968496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revenue / txn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291840" y="3968496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$4.47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029200" y="25603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Streams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029200" y="29260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15–30% commission</a:t>
            </a:r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on every parking transaction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029200" y="33375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$50/gate/month</a:t>
            </a:r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SaaS fee for lot operators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029200" y="3749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OEM licensing fees</a:t>
            </a:r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for SDK access to AutoPark platform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029200" y="41605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access tiers</a:t>
            </a:r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priority parking for subscribers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Financial Projections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0058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Scenarios (Net Revenue per Gate per Day)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31520" y="1463040"/>
            <a:ext cx="2560320" cy="1280160"/>
          </a:xfrm>
          <a:prstGeom prst="rect">
            <a:avLst/>
          </a:prstGeom>
          <a:solidFill>
            <a:srgbClr val="FEF2F2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463040"/>
            <a:ext cx="2560320" cy="54864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55448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Bear Case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178308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txns/day/gate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914400" y="205740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F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~$26</a:t>
            </a:r>
            <a:pPr indent="0" marL="0">
              <a:buNone/>
            </a:pPr>
            <a:r>
              <a:rPr lang="en-US" sz="13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net/day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3566160" y="1463040"/>
            <a:ext cx="2560320" cy="1280160"/>
          </a:xfrm>
          <a:prstGeom prst="rect">
            <a:avLst/>
          </a:prstGeom>
          <a:solidFill>
            <a:srgbClr val="EFF6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566160" y="1463040"/>
            <a:ext cx="256032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1" name="Text 9"/>
          <p:cNvSpPr/>
          <p:nvPr/>
        </p:nvSpPr>
        <p:spPr>
          <a:xfrm>
            <a:off x="3749040" y="155448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Case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749040" y="178308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txns/day/gate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749040" y="205740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B82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~$67</a:t>
            </a:r>
            <a:pPr indent="0" marL="0">
              <a:buNone/>
            </a:pPr>
            <a:r>
              <a:rPr lang="en-US" sz="13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net/day</a:t>
            </a:r>
            <a:endParaRPr lang="en-US" sz="3000" dirty="0"/>
          </a:p>
        </p:txBody>
      </p:sp>
      <p:sp>
        <p:nvSpPr>
          <p:cNvPr id="14" name="Shape 12"/>
          <p:cNvSpPr/>
          <p:nvPr/>
        </p:nvSpPr>
        <p:spPr>
          <a:xfrm>
            <a:off x="6400800" y="1463040"/>
            <a:ext cx="2560320" cy="1280160"/>
          </a:xfrm>
          <a:prstGeom prst="rect">
            <a:avLst/>
          </a:prstGeom>
          <a:solidFill>
            <a:srgbClr val="ECFDF5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00800" y="1463040"/>
            <a:ext cx="256032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6" name="Text 14"/>
          <p:cNvSpPr/>
          <p:nvPr/>
        </p:nvSpPr>
        <p:spPr>
          <a:xfrm>
            <a:off x="6583680" y="155448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Bull Case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583680" y="178308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txns/day/gate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583680" y="205740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~$112</a:t>
            </a:r>
            <a:pPr indent="0" marL="0">
              <a:buNone/>
            </a:pPr>
            <a:r>
              <a:rPr lang="en-US" sz="13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net/day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731520" y="30175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Infrastructure Costs Scale Sub-Linearly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31520" y="3383280"/>
            <a:ext cx="7680960" cy="3657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340156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468880" y="340156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1–10 gates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840480" y="340156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10–50 gates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212080" y="340156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50–200 gates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858000" y="340156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200+ gates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731520" y="3749040"/>
            <a:ext cx="7680960" cy="347472"/>
          </a:xfrm>
          <a:prstGeom prst="rect">
            <a:avLst/>
          </a:prstGeom>
          <a:solidFill>
            <a:srgbClr val="F2F4F8"/>
          </a:solidFill>
          <a:ln/>
        </p:spPr>
      </p:sp>
      <p:sp>
        <p:nvSpPr>
          <p:cNvPr id="27" name="Text 25"/>
          <p:cNvSpPr/>
          <p:nvPr/>
        </p:nvSpPr>
        <p:spPr>
          <a:xfrm>
            <a:off x="822960" y="374904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ECS + RDS + SageMaker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2468880" y="374904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$140–$230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840480" y="374904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$280–$530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212080" y="374904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$750–$1,500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858000" y="374904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$1,900–$4,700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731520" y="4096512"/>
            <a:ext cx="768096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3" name="Text 31"/>
          <p:cNvSpPr/>
          <p:nvPr/>
        </p:nvSpPr>
        <p:spPr>
          <a:xfrm>
            <a:off x="822960" y="4096512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Transfer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2468880" y="4096512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$5–$10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3840480" y="4096512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$15–$30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212080" y="4096512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$40–$100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858000" y="4096512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$150–$400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731520" y="4443984"/>
            <a:ext cx="7680960" cy="347472"/>
          </a:xfrm>
          <a:prstGeom prst="rect">
            <a:avLst/>
          </a:prstGeom>
          <a:solidFill>
            <a:srgbClr val="141C3D"/>
          </a:solidFill>
          <a:ln/>
        </p:spPr>
      </p:sp>
      <p:sp>
        <p:nvSpPr>
          <p:cNvPr id="39" name="Text 37"/>
          <p:cNvSpPr/>
          <p:nvPr/>
        </p:nvSpPr>
        <p:spPr>
          <a:xfrm>
            <a:off x="822960" y="4443984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Total/month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2468880" y="4443984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$145–$240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3840480" y="4443984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$295–$560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5212080" y="4443984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$790–$1,600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6858000" y="4443984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$2,050–$5,100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731520" y="4572000"/>
            <a:ext cx="7680960" cy="3657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5" name="Text 43"/>
          <p:cNvSpPr/>
          <p:nvPr/>
        </p:nvSpPr>
        <p:spPr>
          <a:xfrm>
            <a:off x="914400" y="45720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Milestone: 500 gates × 15 txns/day × $4.47 net × 365 days = ~$1.2M ARR by Year 3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Hardware Sourcing Strategy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3840480" cy="2560320"/>
          </a:xfrm>
          <a:prstGeom prst="rect">
            <a:avLst/>
          </a:prstGeom>
          <a:solidFill>
            <a:srgbClr val="F2F4F8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31520" y="1188720"/>
            <a:ext cx="384048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3716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TERM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14400" y="16916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Outsource Both OBU &amp; RSU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2103120"/>
            <a:ext cx="3474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the business model before investing in hardware engineering. Getting to market fast matters more than unit economics at this stage.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846320" y="1188720"/>
            <a:ext cx="3840480" cy="2560320"/>
          </a:xfrm>
          <a:prstGeom prst="rect">
            <a:avLst/>
          </a:prstGeom>
          <a:solidFill>
            <a:srgbClr val="F2F4F8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46320" y="1188720"/>
            <a:ext cx="384048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0" y="13716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TERM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0" y="16916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 OBU In-House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029200" y="2103120"/>
            <a:ext cx="3474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OBU scales with every vehicle sold, so owning the design has the biggest cost impact. Keep RSU outsourced longer since it’s a one-time install per parking lot.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31520" y="4023360"/>
            <a:ext cx="7955280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4069080"/>
            <a:ext cx="7589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Funding Ask: </a:t>
            </a:r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for 50 pilot RSU gates (~$20K hardware), cloud infrastructure, and 12 months of runway to reach first commercial lot partnership and OEM pilot agreement.</a:t>
            </a:r>
            <a:endParaRPr lang="en-US" sz="1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Exit Strategy: OEM Acquisition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 OEMs need a differentiated self-parking feature to win the feature war. AutoPark becomes an embedded module licensed — or acquired — by a major OEM.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31520" y="1554480"/>
            <a:ext cx="2560320" cy="2468880"/>
          </a:xfrm>
          <a:prstGeom prst="rect">
            <a:avLst/>
          </a:prstGeom>
          <a:solidFill>
            <a:srgbClr val="F2F4F8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554480"/>
            <a:ext cx="256032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7373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Multiple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14400" y="205740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B82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~$18M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914400" y="260604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$1.2M ARR (Year 3) × 15x SaaS multiple (comparable to smart mobility peers)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566160" y="1554480"/>
            <a:ext cx="2560320" cy="2468880"/>
          </a:xfrm>
          <a:prstGeom prst="rect">
            <a:avLst/>
          </a:prstGeom>
          <a:solidFill>
            <a:srgbClr val="F2F4F8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566160" y="1554480"/>
            <a:ext cx="2560320" cy="54864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3749040" y="17373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DCF / NPV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749040" y="205740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Positive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3749040" y="260604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5-year discounted cash flow at 25% WACC with terminal value supports the revenue multiple approach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400800" y="1554480"/>
            <a:ext cx="2560320" cy="2468880"/>
          </a:xfrm>
          <a:prstGeom prst="rect">
            <a:avLst/>
          </a:prstGeom>
          <a:solidFill>
            <a:srgbClr val="F2F4F8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00800" y="1554480"/>
            <a:ext cx="256032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6" name="Text 14"/>
          <p:cNvSpPr/>
          <p:nvPr/>
        </p:nvSpPr>
        <p:spPr>
          <a:xfrm>
            <a:off x="6583680" y="17373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Precedent Txns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583680" y="205740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$50–200M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6583680" y="260604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GM/Cruise (~$1B), Ford/Argo, Bosch parking tech imply 5–15x revenue acquisition premium at scale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31520" y="4114800"/>
            <a:ext cx="7680960" cy="7315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0" name="Text 18"/>
          <p:cNvSpPr/>
          <p:nvPr/>
        </p:nvSpPr>
        <p:spPr>
          <a:xfrm>
            <a:off x="914400" y="41605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GM? </a:t>
            </a:r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GM’s Cruise AV division is actively building the full AV software stack. AutoPark fills a gap in their curbside-to-curbside experience, and our RSU network creates a defensible data and infrastructure moat that complements Cruise’s on-vehicle autonomy.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41C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5720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AutoPark is the Missing Link in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Autonomous Vehicle Experience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1737360"/>
            <a:ext cx="1828800" cy="10972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78308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A5E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$401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868680" y="22860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RSU payback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6 days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834640" y="1737360"/>
            <a:ext cx="1828800" cy="10972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2971800" y="178308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A5E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40:1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2971800" y="22860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LTV:CAC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937760" y="1737360"/>
            <a:ext cx="1828800" cy="10972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5074920" y="178308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A5E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$1.2M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5074920" y="22860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 target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Year 3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040880" y="1737360"/>
            <a:ext cx="1828800" cy="10972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7178040" y="178308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A5E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$10B+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7178040" y="22860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at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17% CAGR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31520" y="3108960"/>
            <a:ext cx="7680960" cy="27432"/>
          </a:xfrm>
          <a:prstGeom prst="rect">
            <a:avLst/>
          </a:prstGeom>
          <a:solidFill>
            <a:srgbClr val="2A3566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329184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 us deploy our first 50 pilot RSU gates, sign our first commercial lot, and begin the OEM pilot that puts AutoPark on every autonomous vehicle on the road.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31520" y="402336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i="1" dirty="0">
                <a:solidFill>
                  <a:srgbClr val="0EA5E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future of parking is autonomous. Help us build it.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731520" y="457200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aUToronto AutoPark  |  Prithvi · Amanda · Forest · Ailing · Nevan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AutoPark — Autonomous Self-Parking Business Proposal</dc:title>
  <dc:subject>PptxGenJS Presentation</dc:subject>
  <dc:creator>aUToronto AutoPark</dc:creator>
  <cp:lastModifiedBy>aUToronto AutoPark</cp:lastModifiedBy>
  <cp:revision>1</cp:revision>
  <dcterms:created xsi:type="dcterms:W3CDTF">2026-04-03T20:43:13Z</dcterms:created>
  <dcterms:modified xsi:type="dcterms:W3CDTF">2026-04-03T20:43:13Z</dcterms:modified>
</cp:coreProperties>
</file>