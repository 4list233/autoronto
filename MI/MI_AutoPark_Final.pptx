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jpeg" ContentType="image/jpeg"/>
  <Override PartName="/ppt/media/image2.jpeg" ContentType="image/jpeg"/>
  <Override PartName="/ppt/notesSlides/notesSlide3.xml" ContentType="application/vnd.openxmlformats-officedocument.presentationml.notesSlide+xml"/>
  <Override PartName="/ppt/media/image3.jpe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320" r:id="rId71"/>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21" r:id="rId72"/>
    <p:sldId id="322" r:id="rId73"/>
    <p:sldId id="323" r:id="rId74"/>
    <p:sldId id="324" r:id="rId75"/>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1pPr>
    <a:lvl2pPr marL="0" marR="0" indent="4572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2pPr>
    <a:lvl3pPr marL="0" marR="0" indent="9144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3pPr>
    <a:lvl4pPr marL="0" marR="0" indent="13716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4pPr>
    <a:lvl5pPr marL="0" marR="0" indent="18288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5pPr>
    <a:lvl6pPr marL="0" marR="0" indent="22860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6pPr>
    <a:lvl7pPr marL="0" marR="0" indent="27432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7pPr>
    <a:lvl8pPr marL="0" marR="0" indent="32004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8pPr>
    <a:lvl9pPr marL="0" marR="0" indent="365760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n"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99" name="Shape 399"/>
          <p:cNvSpPr/>
          <p:nvPr>
            <p:ph type="sldImg"/>
          </p:nvPr>
        </p:nvSpPr>
        <p:spPr>
          <a:xfrm>
            <a:off x="1143000" y="685800"/>
            <a:ext cx="4572000" cy="3429000"/>
          </a:xfrm>
          <a:prstGeom prst="rect">
            <a:avLst/>
          </a:prstGeom>
        </p:spPr>
        <p:txBody>
          <a:bodyPr/>
          <a:lstStyle/>
          <a:p>
            <a:pPr/>
          </a:p>
        </p:txBody>
      </p:sp>
      <p:sp>
        <p:nvSpPr>
          <p:cNvPr id="400" name="Shape 40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PT Sans"/>
      </a:defRPr>
    </a:lvl1pPr>
    <a:lvl2pPr indent="228600" defTabSz="457200" latinLnBrk="0">
      <a:lnSpc>
        <a:spcPct val="117999"/>
      </a:lnSpc>
      <a:defRPr sz="2200">
        <a:latin typeface="+mn-lt"/>
        <a:ea typeface="+mn-ea"/>
        <a:cs typeface="+mn-cs"/>
        <a:sym typeface="PT Sans"/>
      </a:defRPr>
    </a:lvl2pPr>
    <a:lvl3pPr indent="457200" defTabSz="457200" latinLnBrk="0">
      <a:lnSpc>
        <a:spcPct val="117999"/>
      </a:lnSpc>
      <a:defRPr sz="2200">
        <a:latin typeface="+mn-lt"/>
        <a:ea typeface="+mn-ea"/>
        <a:cs typeface="+mn-cs"/>
        <a:sym typeface="PT Sans"/>
      </a:defRPr>
    </a:lvl3pPr>
    <a:lvl4pPr indent="685800" defTabSz="457200" latinLnBrk="0">
      <a:lnSpc>
        <a:spcPct val="117999"/>
      </a:lnSpc>
      <a:defRPr sz="2200">
        <a:latin typeface="+mn-lt"/>
        <a:ea typeface="+mn-ea"/>
        <a:cs typeface="+mn-cs"/>
        <a:sym typeface="PT Sans"/>
      </a:defRPr>
    </a:lvl4pPr>
    <a:lvl5pPr indent="914400" defTabSz="457200" latinLnBrk="0">
      <a:lnSpc>
        <a:spcPct val="117999"/>
      </a:lnSpc>
      <a:defRPr sz="2200">
        <a:latin typeface="+mn-lt"/>
        <a:ea typeface="+mn-ea"/>
        <a:cs typeface="+mn-cs"/>
        <a:sym typeface="PT Sans"/>
      </a:defRPr>
    </a:lvl5pPr>
    <a:lvl6pPr indent="1143000" defTabSz="457200" latinLnBrk="0">
      <a:lnSpc>
        <a:spcPct val="117999"/>
      </a:lnSpc>
      <a:defRPr sz="2200">
        <a:latin typeface="+mn-lt"/>
        <a:ea typeface="+mn-ea"/>
        <a:cs typeface="+mn-cs"/>
        <a:sym typeface="PT Sans"/>
      </a:defRPr>
    </a:lvl6pPr>
    <a:lvl7pPr indent="1371600" defTabSz="457200" latinLnBrk="0">
      <a:lnSpc>
        <a:spcPct val="117999"/>
      </a:lnSpc>
      <a:defRPr sz="2200">
        <a:latin typeface="+mn-lt"/>
        <a:ea typeface="+mn-ea"/>
        <a:cs typeface="+mn-cs"/>
        <a:sym typeface="PT Sans"/>
      </a:defRPr>
    </a:lvl7pPr>
    <a:lvl8pPr indent="1600200" defTabSz="457200" latinLnBrk="0">
      <a:lnSpc>
        <a:spcPct val="117999"/>
      </a:lnSpc>
      <a:defRPr sz="2200">
        <a:latin typeface="+mn-lt"/>
        <a:ea typeface="+mn-ea"/>
        <a:cs typeface="+mn-cs"/>
        <a:sym typeface="PT Sans"/>
      </a:defRPr>
    </a:lvl8pPr>
    <a:lvl9pPr indent="1828800" defTabSz="457200" latinLnBrk="0">
      <a:lnSpc>
        <a:spcPct val="117999"/>
      </a:lnSpc>
      <a:defRPr sz="2200">
        <a:latin typeface="+mn-lt"/>
        <a:ea typeface="+mn-ea"/>
        <a:cs typeface="+mn-cs"/>
        <a:sym typeface="PT Sans"/>
      </a:defRPr>
    </a:lvl9pPr>
  </p:notesStyle>
</p:notesMaster>
</file>

<file path=ppt/notesSlides/_rels/notesSlide1.xml.rels><?xml version="1.0" encoding="UTF-8"?><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 Id="rId3" Type="http://schemas.openxmlformats.org/officeDocument/2006/relationships/hyperlink" Target="https://docs.google.com/document/d/12NJtYnlEtjYRFlIpw6SslYtBeWyIxcDOogzXbM6-SCs/edit?tab=t.0" TargetMode="External"/></Relationships>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5" name="Shape 405"/>
          <p:cNvSpPr/>
          <p:nvPr>
            <p:ph type="sldImg"/>
          </p:nvPr>
        </p:nvSpPr>
        <p:spPr>
          <a:prstGeom prst="rect">
            <a:avLst/>
          </a:prstGeom>
        </p:spPr>
        <p:txBody>
          <a:bodyPr/>
          <a:lstStyle/>
          <a:p>
            <a:pPr/>
          </a:p>
        </p:txBody>
      </p:sp>
      <p:sp>
        <p:nvSpPr>
          <p:cNvPr id="406" name="Shape 406"/>
          <p:cNvSpPr/>
          <p:nvPr>
            <p:ph type="body" sz="quarter" idx="1"/>
          </p:nvPr>
        </p:nvSpPr>
        <p:spPr>
          <a:prstGeom prst="rect">
            <a:avLst/>
          </a:prstGeom>
        </p:spPr>
        <p:txBody>
          <a:bodyPr/>
          <a:lstStyle/>
          <a:p>
            <a:pPr defTabSz="914400">
              <a:lnSpc>
                <a:spcPct val="100000"/>
              </a:lnSpc>
              <a:defRPr sz="1100" u="sng">
                <a:solidFill>
                  <a:srgbClr val="2200CC"/>
                </a:solidFill>
                <a:latin typeface="Arial"/>
                <a:ea typeface="Arial"/>
                <a:cs typeface="Arial"/>
                <a:sym typeface="Arial"/>
              </a:defRPr>
            </a:pPr>
            <a:r>
              <a:rPr>
                <a:solidFill>
                  <a:srgbClr val="0097A7"/>
                </a:solidFill>
                <a:uFill>
                  <a:solidFill>
                    <a:srgbClr val="0097A7"/>
                  </a:solidFill>
                </a:uFill>
                <a:hlinkClick r:id="rId3" invalidUrl="" action="" tgtFrame="" tooltip="" history="1" highlightClick="0" endSnd="0"/>
              </a:rPr>
              <a:t>https://docs.google.com/document/d/12NJtYnlEtjYRFlIpw6SslYtBeWyIxcDOogzXbM6-SCs/edit?tab=t.0</a:t>
            </a:r>
            <a:r>
              <a:rPr u="none">
                <a:solidFill>
                  <a:srgbClr val="000000"/>
                </a:solidFill>
              </a:rPr>
              <a:t xml:space="preserv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Shape 431"/>
          <p:cNvSpPr/>
          <p:nvPr>
            <p:ph type="sldImg"/>
          </p:nvPr>
        </p:nvSpPr>
        <p:spPr>
          <a:prstGeom prst="rect">
            <a:avLst/>
          </a:prstGeom>
        </p:spPr>
        <p:txBody>
          <a:bodyPr/>
          <a:lstStyle/>
          <a:p>
            <a:pPr/>
          </a:p>
        </p:txBody>
      </p:sp>
      <p:sp>
        <p:nvSpPr>
          <p:cNvPr id="432" name="Shape 432"/>
          <p:cNvSpPr/>
          <p:nvPr>
            <p:ph type="body" sz="quarter" idx="1"/>
          </p:nvPr>
        </p:nvSpPr>
        <p:spPr>
          <a:prstGeom prst="rect">
            <a:avLst/>
          </a:prstGeom>
        </p:spPr>
        <p:txBody>
          <a:bodyPr/>
          <a:lstStyle/>
          <a:p>
            <a:pPr defTabSz="914400">
              <a:lnSpc>
                <a:spcPct val="100000"/>
              </a:lnSpc>
              <a:defRPr sz="1100">
                <a:latin typeface="Arial"/>
                <a:ea typeface="Arial"/>
                <a:cs typeface="Arial"/>
                <a:sym typeface="Arial"/>
              </a:defRPr>
            </a:pPr>
            <a:r>
              <a:t>Introduce Artemis</a:t>
            </a:r>
            <a:endParaRPr sz="2800"/>
          </a:p>
          <a:p>
            <a:pPr defTabSz="914400">
              <a:lnSpc>
                <a:spcPct val="100000"/>
              </a:lnSpc>
              <a:defRPr sz="1100">
                <a:latin typeface="Arial"/>
                <a:ea typeface="Arial"/>
                <a:cs typeface="Arial"/>
                <a:sym typeface="Arial"/>
              </a:defRPr>
            </a:pPr>
            <a:r>
              <a:t>Team structure</a:t>
            </a:r>
            <a:endParaRPr sz="2800"/>
          </a:p>
          <a:p>
            <a:pPr defTabSz="914400">
              <a:lnSpc>
                <a:spcPct val="100000"/>
              </a:lnSpc>
              <a:defRPr sz="1100">
                <a:latin typeface="Arial"/>
                <a:ea typeface="Arial"/>
                <a:cs typeface="Arial"/>
                <a:sym typeface="Arial"/>
              </a:defRPr>
            </a:pPr>
            <a:r>
              <a:t>Or introduce when it’s mentioned</a:t>
            </a:r>
            <a:endParaRPr sz="2800"/>
          </a:p>
          <a:p>
            <a:pPr defTabSz="914400">
              <a:lnSpc>
                <a:spcPct val="100000"/>
              </a:lnSpc>
              <a:defRPr sz="1100">
                <a:latin typeface="Arial"/>
                <a:ea typeface="Arial"/>
                <a:cs typeface="Arial"/>
                <a:sym typeface="Arial"/>
              </a:defRPr>
            </a:pPr>
            <a:r>
              <a:t xml:space="preserve">Different because of the sensor rack </a:t>
            </a:r>
            <a:endParaRPr sz="2800"/>
          </a:p>
          <a:p>
            <a:pPr defTabSz="914400">
              <a:lnSpc>
                <a:spcPct val="100000"/>
              </a:lnSpc>
              <a:defRPr sz="1100">
                <a:latin typeface="Arial"/>
                <a:ea typeface="Arial"/>
                <a:cs typeface="Arial"/>
                <a:sym typeface="Arial"/>
              </a:defRPr>
            </a:pPr>
            <a:r>
              <a:t xml:space="preserve">Take out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Shape 460"/>
          <p:cNvSpPr/>
          <p:nvPr>
            <p:ph type="sldImg"/>
          </p:nvPr>
        </p:nvSpPr>
        <p:spPr>
          <a:prstGeom prst="rect">
            <a:avLst/>
          </a:prstGeom>
        </p:spPr>
        <p:txBody>
          <a:bodyPr/>
          <a:lstStyle/>
          <a:p>
            <a:pPr/>
          </a:p>
        </p:txBody>
      </p:sp>
      <p:sp>
        <p:nvSpPr>
          <p:cNvPr id="461" name="Shape 461"/>
          <p:cNvSpPr/>
          <p:nvPr>
            <p:ph type="body" sz="quarter" idx="1"/>
          </p:nvPr>
        </p:nvSpPr>
        <p:spPr>
          <a:prstGeom prst="rect">
            <a:avLst/>
          </a:prstGeom>
        </p:spPr>
        <p:txBody>
          <a:bodyPr/>
          <a:lstStyle/>
          <a:p>
            <a:pPr defTabSz="914400">
              <a:lnSpc>
                <a:spcPct val="100000"/>
              </a:lnSpc>
              <a:defRPr sz="1100">
                <a:latin typeface="Arial"/>
                <a:ea typeface="Arial"/>
                <a:cs typeface="Arial"/>
                <a:sym typeface="Arial"/>
              </a:defRPr>
            </a:pPr>
            <a:r>
              <a:t>Introduce Artemis</a:t>
            </a:r>
            <a:endParaRPr sz="2800"/>
          </a:p>
          <a:p>
            <a:pPr defTabSz="914400">
              <a:lnSpc>
                <a:spcPct val="100000"/>
              </a:lnSpc>
              <a:defRPr sz="1100">
                <a:latin typeface="Arial"/>
                <a:ea typeface="Arial"/>
                <a:cs typeface="Arial"/>
                <a:sym typeface="Arial"/>
              </a:defRPr>
            </a:pPr>
            <a:r>
              <a:t>Team structure</a:t>
            </a:r>
            <a:endParaRPr sz="2800"/>
          </a:p>
          <a:p>
            <a:pPr defTabSz="914400">
              <a:lnSpc>
                <a:spcPct val="100000"/>
              </a:lnSpc>
              <a:defRPr sz="1100">
                <a:latin typeface="Arial"/>
                <a:ea typeface="Arial"/>
                <a:cs typeface="Arial"/>
                <a:sym typeface="Arial"/>
              </a:defRPr>
            </a:pPr>
            <a:r>
              <a:t>Or introduce when it’s mentioned</a:t>
            </a:r>
            <a:endParaRPr sz="2800"/>
          </a:p>
          <a:p>
            <a:pPr defTabSz="914400">
              <a:lnSpc>
                <a:spcPct val="100000"/>
              </a:lnSpc>
              <a:defRPr sz="1100">
                <a:latin typeface="Arial"/>
                <a:ea typeface="Arial"/>
                <a:cs typeface="Arial"/>
                <a:sym typeface="Arial"/>
              </a:defRPr>
            </a:pPr>
            <a:r>
              <a:t xml:space="preserve">Different because of the sensor rack </a:t>
            </a:r>
            <a:endParaRPr sz="2800"/>
          </a:p>
          <a:p>
            <a:pPr defTabSz="914400">
              <a:lnSpc>
                <a:spcPct val="100000"/>
              </a:lnSpc>
              <a:defRPr sz="1100">
                <a:latin typeface="Arial"/>
                <a:ea typeface="Arial"/>
                <a:cs typeface="Arial"/>
                <a:sym typeface="Arial"/>
              </a:defRPr>
            </a:pPr>
            <a:r>
              <a:t xml:space="preserve">Take out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9" name="Shape 779"/>
          <p:cNvSpPr/>
          <p:nvPr>
            <p:ph type="sldImg"/>
          </p:nvPr>
        </p:nvSpPr>
        <p:spPr>
          <a:prstGeom prst="rect">
            <a:avLst/>
          </a:prstGeom>
        </p:spPr>
        <p:txBody>
          <a:bodyPr/>
          <a:lstStyle/>
          <a:p>
            <a:pPr/>
          </a:p>
        </p:txBody>
      </p:sp>
      <p:sp>
        <p:nvSpPr>
          <p:cNvPr id="780" name="Shape 780"/>
          <p:cNvSpPr/>
          <p:nvPr>
            <p:ph type="body" sz="quarter" idx="1"/>
          </p:nvPr>
        </p:nvSpPr>
        <p:spPr>
          <a:prstGeom prst="rect">
            <a:avLst/>
          </a:prstGeom>
        </p:spPr>
        <p:txBody>
          <a:bodyPr/>
          <a:lstStyle/>
          <a:p>
            <a:pPr defTabSz="914400">
              <a:lnSpc>
                <a:spcPct val="100000"/>
              </a:lnSpc>
              <a:defRPr sz="1100">
                <a:latin typeface="Arial"/>
                <a:ea typeface="Arial"/>
                <a:cs typeface="Arial"/>
                <a:sym typeface="Arial"/>
              </a:defRPr>
            </a:pPr>
            <a:r>
              <a:t>Add inputs and outputs - block diagram</a:t>
            </a:r>
            <a:endParaRPr sz="2800"/>
          </a:p>
          <a:p>
            <a:pPr defTabSz="914400">
              <a:lnSpc>
                <a:spcPct val="100000"/>
              </a:lnSpc>
              <a:defRPr sz="1100">
                <a:latin typeface="Arial"/>
                <a:ea typeface="Arial"/>
                <a:cs typeface="Arial"/>
                <a:sym typeface="Arial"/>
              </a:defRPr>
            </a:pPr>
            <a:r>
              <a:t>Too much noise</a:t>
            </a:r>
            <a:endParaRPr sz="2800"/>
          </a:p>
          <a:p>
            <a:pPr defTabSz="914400">
              <a:lnSpc>
                <a:spcPct val="100000"/>
              </a:lnSpc>
              <a:defRPr sz="1100">
                <a:latin typeface="Arial"/>
                <a:ea typeface="Arial"/>
                <a:cs typeface="Arial"/>
                <a:sym typeface="Arial"/>
              </a:defRPr>
            </a:pPr>
            <a:r>
              <a:t>Simplify stuff</a:t>
            </a:r>
            <a:endParaRPr sz="2800"/>
          </a:p>
          <a:p>
            <a:pPr defTabSz="914400">
              <a:lnSpc>
                <a:spcPct val="100000"/>
              </a:lnSpc>
              <a:defRPr sz="1100">
                <a:latin typeface="Arial"/>
                <a:ea typeface="Arial"/>
                <a:cs typeface="Arial"/>
                <a:sym typeface="Arial"/>
              </a:defRPr>
            </a:pPr>
            <a:r>
              <a:t>Block diagram and show one by one</a:t>
            </a:r>
            <a:endParaRPr sz="2800"/>
          </a:p>
          <a:p>
            <a:pPr defTabSz="914400">
              <a:lnSpc>
                <a:spcPct val="100000"/>
              </a:lnSpc>
              <a:defRPr sz="1100">
                <a:latin typeface="Arial"/>
                <a:ea typeface="Arial"/>
                <a:cs typeface="Arial"/>
                <a:sym typeface="Arial"/>
              </a:defRPr>
            </a:pPr>
            <a:r>
              <a:t>I/O</a:t>
            </a:r>
            <a:endParaRPr sz="2800"/>
          </a:p>
          <a:p>
            <a:pPr defTabSz="914400">
              <a:lnSpc>
                <a:spcPct val="100000"/>
              </a:lnSpc>
              <a:defRPr sz="1100">
                <a:latin typeface="Arial"/>
                <a:ea typeface="Arial"/>
                <a:cs typeface="Arial"/>
                <a:sym typeface="Arial"/>
              </a:defRPr>
            </a:pPr>
            <a:r>
              <a:t xml:space="preserve">RR interface </a:t>
            </a:r>
            <a:endParaRPr sz="2800"/>
          </a:p>
          <a:p>
            <a:pPr defTabSz="914400">
              <a:lnSpc>
                <a:spcPct val="100000"/>
              </a:lnSpc>
              <a:defRPr sz="1100">
                <a:latin typeface="Arial"/>
                <a:ea typeface="Arial"/>
                <a:cs typeface="Arial"/>
                <a:sym typeface="Arial"/>
              </a:defRPr>
            </a:pPr>
            <a:r>
              <a:t>Show data flow</a:t>
            </a:r>
            <a:endParaRPr sz="28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4" name="Shape 934"/>
          <p:cNvSpPr/>
          <p:nvPr>
            <p:ph type="sldImg"/>
          </p:nvPr>
        </p:nvSpPr>
        <p:spPr>
          <a:prstGeom prst="rect">
            <a:avLst/>
          </a:prstGeom>
        </p:spPr>
        <p:txBody>
          <a:bodyPr/>
          <a:lstStyle/>
          <a:p>
            <a:pPr/>
          </a:p>
        </p:txBody>
      </p:sp>
      <p:sp>
        <p:nvSpPr>
          <p:cNvPr id="935" name="Shape 935"/>
          <p:cNvSpPr/>
          <p:nvPr>
            <p:ph type="body" sz="quarter" idx="1"/>
          </p:nvPr>
        </p:nvSpPr>
        <p:spPr>
          <a:prstGeom prst="rect">
            <a:avLst/>
          </a:prstGeom>
        </p:spPr>
        <p:txBody>
          <a:bodyPr/>
          <a:lstStyle>
            <a:lvl1pPr defTabSz="914400">
              <a:lnSpc>
                <a:spcPct val="100000"/>
              </a:lnSpc>
              <a:defRPr sz="1100">
                <a:latin typeface="Arial"/>
                <a:ea typeface="Arial"/>
                <a:cs typeface="Arial"/>
                <a:sym typeface="Arial"/>
              </a:defRPr>
            </a:lvl1pPr>
          </a:lstStyle>
          <a:p>
            <a:pPr/>
            <a:r>
              <a:t>s</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tif"/></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GrayTitle">
    <p:spTree>
      <p:nvGrpSpPr>
        <p:cNvPr id="1" name=""/>
        <p:cNvGrpSpPr/>
        <p:nvPr/>
      </p:nvGrpSpPr>
      <p:grpSpPr>
        <a:xfrm>
          <a:off x="0" y="0"/>
          <a:ext cx="0" cy="0"/>
          <a:chOff x="0" y="0"/>
          <a:chExt cx="0" cy="0"/>
        </a:xfrm>
      </p:grpSpPr>
      <p:sp>
        <p:nvSpPr>
          <p:cNvPr id="14" name="Author and Date"/>
          <p:cNvSpPr txBox="1"/>
          <p:nvPr>
            <p:ph type="body" sz="quarter" idx="21"/>
          </p:nvPr>
        </p:nvSpPr>
        <p:spPr>
          <a:xfrm>
            <a:off x="1219199" y="9839227"/>
            <a:ext cx="21945602" cy="605791"/>
          </a:xfrm>
          <a:prstGeom prst="rect">
            <a:avLst/>
          </a:prstGeom>
        </p:spPr>
        <p:txBody>
          <a:bodyPr/>
          <a:lstStyle>
            <a:lvl1pPr marL="0" indent="0" algn="ctr" defTabSz="726440">
              <a:lnSpc>
                <a:spcPct val="100000"/>
              </a:lnSpc>
              <a:spcBef>
                <a:spcPts val="0"/>
              </a:spcBef>
              <a:buSzTx/>
              <a:buNone/>
              <a:defRPr spc="102" sz="3432"/>
            </a:lvl1pPr>
          </a:lstStyle>
          <a:p>
            <a:pPr/>
            <a:r>
              <a:t>Author and Date</a:t>
            </a:r>
          </a:p>
        </p:txBody>
      </p:sp>
      <p:sp>
        <p:nvSpPr>
          <p:cNvPr id="15" name="Presentation Title"/>
          <p:cNvSpPr txBox="1"/>
          <p:nvPr>
            <p:ph type="body" sz="half" idx="22"/>
          </p:nvPr>
        </p:nvSpPr>
        <p:spPr>
          <a:xfrm>
            <a:off x="1219200" y="2701470"/>
            <a:ext cx="21945600" cy="4267201"/>
          </a:xfrm>
          <a:prstGeom prst="rect">
            <a:avLst/>
          </a:prstGeom>
        </p:spPr>
        <p:txBody>
          <a:bodyPr anchor="b"/>
          <a:lstStyle>
            <a:lvl1pPr marL="0" indent="0" algn="ctr" defTabSz="2438400">
              <a:lnSpc>
                <a:spcPct val="80000"/>
              </a:lnSpc>
              <a:spcBef>
                <a:spcPts val="0"/>
              </a:spcBef>
              <a:buSzTx/>
              <a:buNone/>
              <a:defRPr b="0" spc="-135" sz="13500"/>
            </a:lvl1pPr>
          </a:lstStyle>
          <a:p>
            <a:pPr/>
            <a:r>
              <a:t>Presentation Title</a:t>
            </a:r>
          </a:p>
        </p:txBody>
      </p:sp>
      <p:pic>
        <p:nvPicPr>
          <p:cNvPr id="16" name="favpng_university-of-toronto-logo-organization-brand-font.png" descr="favpng_university-of-toronto-logo-organization-brand-font.png"/>
          <p:cNvPicPr>
            <a:picLocks noChangeAspect="1"/>
          </p:cNvPicPr>
          <p:nvPr/>
        </p:nvPicPr>
        <p:blipFill>
          <a:blip r:embed="rId2">
            <a:extLst/>
          </a:blip>
          <a:stretch>
            <a:fillRect/>
          </a:stretch>
        </p:blipFill>
        <p:spPr>
          <a:prstGeom prst="rect">
            <a:avLst/>
          </a:prstGeom>
          <a:ln w="12700">
            <a:miter lim="400000"/>
          </a:ln>
        </p:spPr>
      </p:pic>
      <p:sp>
        <p:nvSpPr>
          <p:cNvPr id="17" name="Rectangle"/>
          <p:cNvSpPr/>
          <p:nvPr/>
        </p:nvSpPr>
        <p:spPr>
          <a:xfrm>
            <a:off x="6918445" y="7539860"/>
            <a:ext cx="10547110" cy="451586"/>
          </a:xfrm>
          <a:prstGeom prst="rect">
            <a:avLst/>
          </a:prstGeom>
          <a:solidFill>
            <a:srgbClr val="2A3967"/>
          </a:solidFill>
          <a:ln w="12700">
            <a:miter lim="400000"/>
          </a:ln>
        </p:spPr>
        <p:txBody>
          <a:bodyPr lIns="50800" tIns="50800" rIns="50800" bIns="50800" anchor="ctr"/>
          <a:lstStyle/>
          <a:p>
            <a:pPr defTabSz="1130300">
              <a:defRPr b="0" spc="0" sz="3200"/>
            </a:pPr>
          </a:p>
        </p:txBody>
      </p:sp>
      <p:sp>
        <p:nvSpPr>
          <p:cNvPr id="18"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9" name="pasted-image.tiff" descr="pasted-image.tiff"/>
          <p:cNvPicPr>
            <a:picLocks noChangeAspect="1"/>
          </p:cNvPicPr>
          <p:nvPr/>
        </p:nvPicPr>
        <p:blipFill>
          <a:blip r:embed="rId3">
            <a:extLst/>
          </a:blip>
          <a:stretch>
            <a:fillRect/>
          </a:stretch>
        </p:blipFill>
        <p:spPr>
          <a:xfrm>
            <a:off x="-421217" y="11997097"/>
            <a:ext cx="6691329" cy="1837437"/>
          </a:xfrm>
          <a:prstGeom prst="rect">
            <a:avLst/>
          </a:prstGeom>
          <a:ln w="12700">
            <a:miter lim="400000"/>
          </a:ln>
        </p:spPr>
      </p:pic>
      <p:sp>
        <p:nvSpPr>
          <p:cNvPr id="20" name="Text"/>
          <p:cNvSpPr txBox="1"/>
          <p:nvPr/>
        </p:nvSpPr>
        <p:spPr>
          <a:xfrm>
            <a:off x="8897229" y="6552185"/>
            <a:ext cx="1065772" cy="690359"/>
          </a:xfrm>
          <a:prstGeom prst="rect">
            <a:avLst/>
          </a:prstGeom>
          <a:ln w="12700">
            <a:miter lim="400000"/>
          </a:ln>
        </p:spPr>
        <p:txBody>
          <a:bodyPr wrap="none" lIns="50800" tIns="50800" rIns="50800" bIns="50800">
            <a:normAutofit fontScale="100000" lnSpcReduction="0"/>
          </a:bodyPr>
          <a:lstStyle/>
          <a:p>
            <a:pPr/>
          </a:p>
        </p:txBody>
      </p:sp>
      <p:sp>
        <p:nvSpPr>
          <p:cNvPr id="21" name="01"/>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AndPhoto">
    <p:spTree>
      <p:nvGrpSpPr>
        <p:cNvPr id="1" name=""/>
        <p:cNvGrpSpPr/>
        <p:nvPr/>
      </p:nvGrpSpPr>
      <p:grpSpPr>
        <a:xfrm>
          <a:off x="0" y="0"/>
          <a:ext cx="0" cy="0"/>
          <a:chOff x="0" y="0"/>
          <a:chExt cx="0" cy="0"/>
        </a:xfrm>
      </p:grpSpPr>
      <p:sp>
        <p:nvSpPr>
          <p:cNvPr id="28" name="915009552_2264x1509.jpg"/>
          <p:cNvSpPr/>
          <p:nvPr>
            <p:ph type="pic" idx="21"/>
          </p:nvPr>
        </p:nvSpPr>
        <p:spPr>
          <a:xfrm>
            <a:off x="8704968" y="1683379"/>
            <a:ext cx="16751301" cy="11176001"/>
          </a:xfrm>
          <a:prstGeom prst="rect">
            <a:avLst/>
          </a:prstGeom>
        </p:spPr>
        <p:txBody>
          <a:bodyPr lIns="91439" tIns="45719" rIns="91439" bIns="45719">
            <a:noAutofit/>
          </a:bodyPr>
          <a:lstStyle/>
          <a:p>
            <a:pPr/>
          </a:p>
        </p:txBody>
      </p:sp>
      <p:sp>
        <p:nvSpPr>
          <p:cNvPr id="29" name="Presentation Title"/>
          <p:cNvSpPr txBox="1"/>
          <p:nvPr>
            <p:ph type="title" hasCustomPrompt="1"/>
          </p:nvPr>
        </p:nvSpPr>
        <p:spPr>
          <a:xfrm>
            <a:off x="2612728" y="3935440"/>
            <a:ext cx="6394815" cy="2937594"/>
          </a:xfrm>
          <a:prstGeom prst="rect">
            <a:avLst/>
          </a:prstGeom>
        </p:spPr>
        <p:txBody>
          <a:bodyPr anchor="b"/>
          <a:lstStyle>
            <a:lvl1pPr algn="ctr">
              <a:defRPr spc="-70" sz="7000"/>
            </a:lvl1pPr>
          </a:lstStyle>
          <a:p>
            <a:pPr/>
            <a:r>
              <a:t>Presentation Title</a:t>
            </a:r>
          </a:p>
        </p:txBody>
      </p:sp>
      <p:sp>
        <p:nvSpPr>
          <p:cNvPr id="30"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
        <p:nvSpPr>
          <p:cNvPr id="31" name="Subtitle"/>
          <p:cNvSpPr txBox="1"/>
          <p:nvPr>
            <p:ph type="body" sz="quarter" idx="22"/>
          </p:nvPr>
        </p:nvSpPr>
        <p:spPr>
          <a:xfrm>
            <a:off x="4491354" y="7733106"/>
            <a:ext cx="2637562" cy="866655"/>
          </a:xfrm>
          <a:prstGeom prst="rect">
            <a:avLst/>
          </a:prstGeom>
        </p:spPr>
        <p:txBody>
          <a:bodyPr anchor="b"/>
          <a:lstStyle>
            <a:lvl1pPr marL="0" indent="0" algn="ctr" defTabSz="709930">
              <a:lnSpc>
                <a:spcPct val="100000"/>
              </a:lnSpc>
              <a:spcBef>
                <a:spcPts val="0"/>
              </a:spcBef>
              <a:buSzTx/>
              <a:buNone/>
              <a:defRPr spc="-51" sz="5160">
                <a:solidFill>
                  <a:srgbClr val="5E5E5E"/>
                </a:solidFill>
              </a:defRPr>
            </a:lvl1pPr>
          </a:lstStyle>
          <a:p>
            <a:pPr/>
            <a:r>
              <a:t>Subtitle</a:t>
            </a:r>
          </a:p>
        </p:txBody>
      </p:sp>
      <p:sp>
        <p:nvSpPr>
          <p:cNvPr id="32" name="Name"/>
          <p:cNvSpPr txBox="1"/>
          <p:nvPr>
            <p:ph type="body" sz="quarter" idx="23"/>
          </p:nvPr>
        </p:nvSpPr>
        <p:spPr>
          <a:xfrm>
            <a:off x="5001118" y="8771728"/>
            <a:ext cx="1618034" cy="866656"/>
          </a:xfrm>
          <a:prstGeom prst="rect">
            <a:avLst/>
          </a:prstGeom>
        </p:spPr>
        <p:txBody>
          <a:bodyPr anchor="b"/>
          <a:lstStyle>
            <a:lvl1pPr marL="0" indent="0" algn="ctr" defTabSz="825500">
              <a:lnSpc>
                <a:spcPct val="100000"/>
              </a:lnSpc>
              <a:spcBef>
                <a:spcPts val="0"/>
              </a:spcBef>
              <a:buSzTx/>
              <a:buNone/>
              <a:defRPr spc="-33" sz="3300">
                <a:solidFill>
                  <a:srgbClr val="929292"/>
                </a:solidFill>
              </a:defRPr>
            </a:lvl1pPr>
          </a:lstStyle>
          <a:p>
            <a:pPr/>
            <a:r>
              <a:t>Name</a:t>
            </a:r>
          </a:p>
        </p:txBody>
      </p:sp>
      <p:sp>
        <p:nvSpPr>
          <p:cNvPr id="33" name="Rectangle"/>
          <p:cNvSpPr/>
          <p:nvPr/>
        </p:nvSpPr>
        <p:spPr>
          <a:xfrm>
            <a:off x="349135" y="6883269"/>
            <a:ext cx="10922001" cy="839603"/>
          </a:xfrm>
          <a:prstGeom prst="rect">
            <a:avLst/>
          </a:prstGeom>
          <a:solidFill>
            <a:srgbClr val="2A3967"/>
          </a:solidFill>
          <a:ln w="12700">
            <a:miter lim="400000"/>
          </a:ln>
        </p:spPr>
        <p:txBody>
          <a:bodyPr lIns="50800" tIns="50800" rIns="50800" bIns="50800" anchor="ctr"/>
          <a:lstStyle/>
          <a:p>
            <a:pPr defTabSz="1130300">
              <a:defRPr b="0" spc="0" sz="3200"/>
            </a:pPr>
          </a:p>
        </p:txBody>
      </p:sp>
      <p:pic>
        <p:nvPicPr>
          <p:cNvPr id="34" name="favpng_university-of-toronto-logo-organization-brand-font.png" descr="favpng_university-of-toronto-logo-organization-brand-font.png"/>
          <p:cNvPicPr>
            <a:picLocks noChangeAspect="1"/>
          </p:cNvPicPr>
          <p:nvPr/>
        </p:nvPicPr>
        <p:blipFill>
          <a:blip r:embed="rId2">
            <a:extLst/>
          </a:blip>
          <a:srcRect l="0" t="8529" r="0" b="42281"/>
          <a:stretch>
            <a:fillRect/>
          </a:stretch>
        </p:blipFill>
        <p:spPr>
          <a:xfrm>
            <a:off x="385277" y="11924279"/>
            <a:ext cx="4456847" cy="1644180"/>
          </a:xfrm>
          <a:prstGeom prst="rect">
            <a:avLst/>
          </a:prstGeom>
          <a:ln w="12700">
            <a:miter lim="400000"/>
          </a:ln>
        </p:spPr>
      </p:pic>
      <p:sp>
        <p:nvSpPr>
          <p:cNvPr id="35" name="Chad Paik"/>
          <p:cNvSpPr txBox="1"/>
          <p:nvPr/>
        </p:nvSpPr>
        <p:spPr>
          <a:xfrm>
            <a:off x="22915498" y="132918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BulletGray">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4" name="Slide Subtitle"/>
          <p:cNvSpPr txBox="1"/>
          <p:nvPr>
            <p:ph type="body" sz="quarter" idx="21" hasCustomPrompt="1"/>
          </p:nvPr>
        </p:nvSpPr>
        <p:spPr>
          <a:xfrm>
            <a:off x="1219199" y="2398235"/>
            <a:ext cx="21945602" cy="832613"/>
          </a:xfrm>
          <a:prstGeom prst="rect">
            <a:avLst/>
          </a:prstGeom>
        </p:spPr>
        <p:txBody>
          <a:bodyPr/>
          <a:lstStyle>
            <a:lvl1pPr marL="0" indent="0" defTabSz="825500">
              <a:lnSpc>
                <a:spcPct val="100000"/>
              </a:lnSpc>
              <a:spcBef>
                <a:spcPts val="0"/>
              </a:spcBef>
              <a:buSzTx/>
              <a:buNone/>
              <a:defRPr b="0" spc="-44"/>
            </a:lvl1pPr>
          </a:lstStyle>
          <a:p>
            <a:pPr/>
            <a:r>
              <a:t>Slide Subtitle</a:t>
            </a:r>
          </a:p>
        </p:txBody>
      </p:sp>
      <p:sp>
        <p:nvSpPr>
          <p:cNvPr id="4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BulletPhotoGray">
    <p:spTree>
      <p:nvGrpSpPr>
        <p:cNvPr id="1" name=""/>
        <p:cNvGrpSpPr/>
        <p:nvPr/>
      </p:nvGrpSpPr>
      <p:grpSpPr>
        <a:xfrm>
          <a:off x="0" y="0"/>
          <a:ext cx="0" cy="0"/>
          <a:chOff x="0" y="0"/>
          <a:chExt cx="0" cy="0"/>
        </a:xfrm>
      </p:grpSpPr>
      <p:sp>
        <p:nvSpPr>
          <p:cNvPr id="52"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53" name="Slide Subtitle"/>
          <p:cNvSpPr txBox="1"/>
          <p:nvPr>
            <p:ph type="body" sz="quarter" idx="21" hasCustomPrompt="1"/>
          </p:nvPr>
        </p:nvSpPr>
        <p:spPr>
          <a:xfrm>
            <a:off x="1219200" y="2387600"/>
            <a:ext cx="9757569" cy="832612"/>
          </a:xfrm>
          <a:prstGeom prst="rect">
            <a:avLst/>
          </a:prstGeom>
        </p:spPr>
        <p:txBody>
          <a:bodyPr/>
          <a:lstStyle>
            <a:lvl1pPr marL="0" indent="0" defTabSz="825500">
              <a:lnSpc>
                <a:spcPct val="100000"/>
              </a:lnSpc>
              <a:spcBef>
                <a:spcPts val="0"/>
              </a:spcBef>
              <a:buSzTx/>
              <a:buNone/>
              <a:defRPr b="0" spc="-44"/>
            </a:lvl1pPr>
          </a:lstStyle>
          <a:p>
            <a:pPr/>
            <a:r>
              <a:t>Slide Subtitle</a:t>
            </a:r>
          </a:p>
        </p:txBody>
      </p:sp>
      <p:sp>
        <p:nvSpPr>
          <p:cNvPr id="54"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55" name="Rectangle"/>
          <p:cNvSpPr/>
          <p:nvPr/>
        </p:nvSpPr>
        <p:spPr>
          <a:xfrm>
            <a:off x="1193141" y="2252090"/>
            <a:ext cx="22345921" cy="249811"/>
          </a:xfrm>
          <a:prstGeom prst="rect">
            <a:avLst/>
          </a:prstGeom>
          <a:solidFill>
            <a:srgbClr val="2A3967"/>
          </a:solidFill>
          <a:ln w="12700">
            <a:miter lim="400000"/>
          </a:ln>
        </p:spPr>
        <p:txBody>
          <a:bodyPr lIns="50800" tIns="50800" rIns="50800" bIns="50800" anchor="ctr"/>
          <a:lstStyle/>
          <a:p>
            <a:pPr defTabSz="1130300">
              <a:defRPr b="0" spc="0" sz="3200"/>
            </a:pPr>
          </a:p>
        </p:txBody>
      </p:sp>
      <p:sp>
        <p:nvSpPr>
          <p:cNvPr id="56" name="941297804_1296x1457.jpg"/>
          <p:cNvSpPr/>
          <p:nvPr>
            <p:ph type="pic" sz="half" idx="22"/>
          </p:nvPr>
        </p:nvSpPr>
        <p:spPr>
          <a:xfrm>
            <a:off x="12752184" y="2329258"/>
            <a:ext cx="9852551" cy="11070851"/>
          </a:xfrm>
          <a:prstGeom prst="rect">
            <a:avLst/>
          </a:prstGeom>
        </p:spPr>
        <p:txBody>
          <a:bodyPr lIns="91439" tIns="45719" rIns="91439" bIns="45719">
            <a:noAutofit/>
          </a:bodyPr>
          <a:lstStyle/>
          <a:p>
            <a:pPr/>
          </a:p>
        </p:txBody>
      </p:sp>
      <p:sp>
        <p:nvSpPr>
          <p:cNvPr id="57"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58"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59" name="01"/>
          <p:cNvSpPr txBox="1"/>
          <p:nvPr>
            <p:ph type="sldNum" sz="quarter" idx="2"/>
          </p:nvPr>
        </p:nvSpPr>
        <p:spPr>
          <a:xfrm>
            <a:off x="1200276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ulletsGray">
    <p:spTree>
      <p:nvGrpSpPr>
        <p:cNvPr id="1" name=""/>
        <p:cNvGrpSpPr/>
        <p:nvPr/>
      </p:nvGrpSpPr>
      <p:grpSpPr>
        <a:xfrm>
          <a:off x="0" y="0"/>
          <a:ext cx="0" cy="0"/>
          <a:chOff x="0" y="0"/>
          <a:chExt cx="0" cy="0"/>
        </a:xfrm>
      </p:grpSpPr>
      <p:sp>
        <p:nvSpPr>
          <p:cNvPr id="66" name="Body Level One…"/>
          <p:cNvSpPr txBox="1"/>
          <p:nvPr>
            <p:ph type="body" idx="1" hasCustomPrompt="1"/>
          </p:nvPr>
        </p:nvSpPr>
        <p:spPr>
          <a:xfrm>
            <a:off x="1219200" y="4013200"/>
            <a:ext cx="21945600" cy="8487148"/>
          </a:xfrm>
          <a:prstGeom prst="rect">
            <a:avLst/>
          </a:prstGeom>
        </p:spPr>
        <p:txBody>
          <a:bodyPr numCol="2" spcCol="2558384"/>
          <a:lstStyle/>
          <a:p>
            <a:pPr/>
            <a:r>
              <a:t>Slide bullet text</a:t>
            </a:r>
          </a:p>
          <a:p>
            <a:pPr lvl="1"/>
            <a:r>
              <a:t/>
            </a:r>
          </a:p>
          <a:p>
            <a:pPr lvl="2"/>
            <a:r>
              <a:t/>
            </a:r>
          </a:p>
          <a:p>
            <a:pPr lvl="3"/>
            <a:r>
              <a:t/>
            </a:r>
          </a:p>
          <a:p>
            <a:pPr lvl="4"/>
            <a:r>
              <a:t/>
            </a:r>
          </a:p>
        </p:txBody>
      </p:sp>
      <p:sp>
        <p:nvSpPr>
          <p:cNvPr id="67" name="Rectangle"/>
          <p:cNvSpPr/>
          <p:nvPr/>
        </p:nvSpPr>
        <p:spPr>
          <a:xfrm>
            <a:off x="1193141" y="2252090"/>
            <a:ext cx="22345921" cy="249811"/>
          </a:xfrm>
          <a:prstGeom prst="rect">
            <a:avLst/>
          </a:prstGeom>
          <a:solidFill>
            <a:srgbClr val="2A3967"/>
          </a:solidFill>
          <a:ln w="12700">
            <a:miter lim="400000"/>
          </a:ln>
        </p:spPr>
        <p:txBody>
          <a:bodyPr lIns="50800" tIns="50800" rIns="50800" bIns="50800" anchor="ctr"/>
          <a:lstStyle/>
          <a:p>
            <a:pPr defTabSz="1130300">
              <a:defRPr b="0" spc="0" sz="3200"/>
            </a:pPr>
          </a:p>
        </p:txBody>
      </p:sp>
      <p:sp>
        <p:nvSpPr>
          <p:cNvPr id="68"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69"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70"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Gray">
    <p:spTree>
      <p:nvGrpSpPr>
        <p:cNvPr id="1" name=""/>
        <p:cNvGrpSpPr/>
        <p:nvPr/>
      </p:nvGrpSpPr>
      <p:grpSpPr>
        <a:xfrm>
          <a:off x="0" y="0"/>
          <a:ext cx="0" cy="0"/>
          <a:chOff x="0" y="0"/>
          <a:chExt cx="0" cy="0"/>
        </a:xfrm>
      </p:grpSpPr>
      <p:sp>
        <p:nvSpPr>
          <p:cNvPr id="77" name="Section Title"/>
          <p:cNvSpPr txBox="1"/>
          <p:nvPr>
            <p:ph type="title" hasCustomPrompt="1"/>
          </p:nvPr>
        </p:nvSpPr>
        <p:spPr>
          <a:xfrm>
            <a:off x="1219200" y="3242270"/>
            <a:ext cx="21945600" cy="6604001"/>
          </a:xfrm>
          <a:prstGeom prst="rect">
            <a:avLst/>
          </a:prstGeom>
        </p:spPr>
        <p:txBody>
          <a:bodyPr anchor="ctr"/>
          <a:lstStyle>
            <a:lvl1pPr algn="ctr">
              <a:defRPr spc="0" sz="12800"/>
            </a:lvl1pPr>
          </a:lstStyle>
          <a:p>
            <a:pPr/>
            <a:r>
              <a:t>Section Title</a:t>
            </a:r>
          </a:p>
        </p:txBody>
      </p:sp>
      <p:sp>
        <p:nvSpPr>
          <p:cNvPr id="78" name="Rectangle"/>
          <p:cNvSpPr/>
          <p:nvPr/>
        </p:nvSpPr>
        <p:spPr>
          <a:xfrm>
            <a:off x="5239620" y="7959782"/>
            <a:ext cx="13904760" cy="239036"/>
          </a:xfrm>
          <a:prstGeom prst="rect">
            <a:avLst/>
          </a:prstGeom>
          <a:solidFill>
            <a:srgbClr val="2A3967"/>
          </a:solidFill>
          <a:ln w="12700">
            <a:miter lim="400000"/>
          </a:ln>
        </p:spPr>
        <p:txBody>
          <a:bodyPr lIns="50800" tIns="50800" rIns="50800" bIns="50800" anchor="ctr"/>
          <a:lstStyle/>
          <a:p>
            <a:pPr defTabSz="1130300">
              <a:defRPr b="0" spc="0" sz="3200"/>
            </a:pPr>
          </a:p>
        </p:txBody>
      </p:sp>
      <p:pic>
        <p:nvPicPr>
          <p:cNvPr id="79"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80"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sp>
        <p:nvSpPr>
          <p:cNvPr id="81"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ubsectionGray">
    <p:spTree>
      <p:nvGrpSpPr>
        <p:cNvPr id="1" name=""/>
        <p:cNvGrpSpPr/>
        <p:nvPr/>
      </p:nvGrpSpPr>
      <p:grpSpPr>
        <a:xfrm>
          <a:off x="0" y="0"/>
          <a:ext cx="0" cy="0"/>
          <a:chOff x="0" y="0"/>
          <a:chExt cx="0" cy="0"/>
        </a:xfrm>
      </p:grpSpPr>
      <p:sp>
        <p:nvSpPr>
          <p:cNvPr id="88" name="Section Title"/>
          <p:cNvSpPr txBox="1"/>
          <p:nvPr>
            <p:ph type="title" hasCustomPrompt="1"/>
          </p:nvPr>
        </p:nvSpPr>
        <p:spPr>
          <a:xfrm>
            <a:off x="1219200" y="3242270"/>
            <a:ext cx="21945600" cy="6604001"/>
          </a:xfrm>
          <a:prstGeom prst="rect">
            <a:avLst/>
          </a:prstGeom>
        </p:spPr>
        <p:txBody>
          <a:bodyPr anchor="ctr"/>
          <a:lstStyle>
            <a:lvl1pPr algn="ctr">
              <a:defRPr b="1" spc="0" sz="10000"/>
            </a:lvl1pPr>
          </a:lstStyle>
          <a:p>
            <a:pPr/>
            <a:r>
              <a:t>Section Title</a:t>
            </a:r>
          </a:p>
        </p:txBody>
      </p:sp>
      <p:sp>
        <p:nvSpPr>
          <p:cNvPr id="89" name="Rectangle"/>
          <p:cNvSpPr/>
          <p:nvPr/>
        </p:nvSpPr>
        <p:spPr>
          <a:xfrm>
            <a:off x="5239620" y="7959782"/>
            <a:ext cx="13904760" cy="239036"/>
          </a:xfrm>
          <a:prstGeom prst="rect">
            <a:avLst/>
          </a:prstGeom>
          <a:solidFill>
            <a:srgbClr val="ADB5C4"/>
          </a:solidFill>
          <a:ln w="12700">
            <a:miter lim="400000"/>
          </a:ln>
        </p:spPr>
        <p:txBody>
          <a:bodyPr lIns="50800" tIns="50800" rIns="50800" bIns="50800" anchor="ctr"/>
          <a:lstStyle/>
          <a:p>
            <a:pPr defTabSz="1130300">
              <a:defRPr b="0" spc="0" sz="3200"/>
            </a:pPr>
          </a:p>
        </p:txBody>
      </p:sp>
      <p:pic>
        <p:nvPicPr>
          <p:cNvPr id="90"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91"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sp>
        <p:nvSpPr>
          <p:cNvPr id="92"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OnlyGra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1219200" y="2384648"/>
            <a:ext cx="21945602" cy="832613"/>
          </a:xfrm>
          <a:prstGeom prst="rect">
            <a:avLst/>
          </a:prstGeom>
        </p:spPr>
        <p:txBody>
          <a:bodyPr/>
          <a:lstStyle>
            <a:lvl1pPr marL="0" indent="0" defTabSz="825500">
              <a:lnSpc>
                <a:spcPct val="100000"/>
              </a:lnSpc>
              <a:spcBef>
                <a:spcPts val="0"/>
              </a:spcBef>
              <a:buSzTx/>
              <a:buNone/>
              <a:defRPr b="0" spc="-44"/>
            </a:lvl1pPr>
          </a:lstStyle>
          <a:p>
            <a:pPr/>
            <a:r>
              <a:t>Slide Subtitle</a:t>
            </a:r>
          </a:p>
        </p:txBody>
      </p:sp>
      <p:sp>
        <p:nvSpPr>
          <p:cNvPr id="101" name="Rectangle"/>
          <p:cNvSpPr/>
          <p:nvPr/>
        </p:nvSpPr>
        <p:spPr>
          <a:xfrm>
            <a:off x="1193141" y="2252090"/>
            <a:ext cx="22345921" cy="249811"/>
          </a:xfrm>
          <a:prstGeom prst="rect">
            <a:avLst/>
          </a:prstGeom>
          <a:solidFill>
            <a:srgbClr val="0F2F61"/>
          </a:solidFill>
          <a:ln w="12700">
            <a:miter lim="400000"/>
          </a:ln>
        </p:spPr>
        <p:txBody>
          <a:bodyPr lIns="50800" tIns="50800" rIns="50800" bIns="50800" anchor="ctr"/>
          <a:lstStyle/>
          <a:p>
            <a:pPr defTabSz="1130300">
              <a:defRPr b="0" spc="0" sz="3200"/>
            </a:pPr>
          </a:p>
        </p:txBody>
      </p:sp>
      <p:sp>
        <p:nvSpPr>
          <p:cNvPr id="102"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03"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04"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Gray">
    <p:spTree>
      <p:nvGrpSpPr>
        <p:cNvPr id="1" name=""/>
        <p:cNvGrpSpPr/>
        <p:nvPr/>
      </p:nvGrpSpPr>
      <p:grpSpPr>
        <a:xfrm>
          <a:off x="0" y="0"/>
          <a:ext cx="0" cy="0"/>
          <a:chOff x="0" y="0"/>
          <a:chExt cx="0" cy="0"/>
        </a:xfrm>
      </p:grpSpPr>
      <p:sp>
        <p:nvSpPr>
          <p:cNvPr id="111" name="Agenda Title"/>
          <p:cNvSpPr txBox="1"/>
          <p:nvPr>
            <p:ph type="title" hasCustomPrompt="1"/>
          </p:nvPr>
        </p:nvSpPr>
        <p:spPr>
          <a:prstGeom prst="rect">
            <a:avLst/>
          </a:prstGeom>
        </p:spPr>
        <p:txBody>
          <a:bodyPr/>
          <a:lstStyle/>
          <a:p>
            <a:pPr/>
            <a:r>
              <a:t>Agenda Title</a:t>
            </a:r>
          </a:p>
        </p:txBody>
      </p:sp>
      <p:sp>
        <p:nvSpPr>
          <p:cNvPr id="112" name="Body Level One…"/>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vl1pPr>
            <a:lvl2pPr marL="0" indent="457200" defTabSz="825500">
              <a:lnSpc>
                <a:spcPct val="100000"/>
              </a:lnSpc>
              <a:buSzTx/>
              <a:buNone/>
              <a:defRPr spc="-136" sz="6800"/>
            </a:lvl2pPr>
            <a:lvl3pPr marL="0" indent="914400" defTabSz="825500">
              <a:lnSpc>
                <a:spcPct val="100000"/>
              </a:lnSpc>
              <a:buSzTx/>
              <a:buNone/>
              <a:defRPr spc="-136" sz="6800"/>
            </a:lvl3pPr>
            <a:lvl4pPr marL="0" indent="1371600" defTabSz="825500">
              <a:lnSpc>
                <a:spcPct val="100000"/>
              </a:lnSpc>
              <a:buSzTx/>
              <a:buNone/>
              <a:defRPr spc="-136" sz="6800"/>
            </a:lvl4pPr>
            <a:lvl5pPr marL="0" indent="1828800" defTabSz="825500">
              <a:lnSpc>
                <a:spcPct val="100000"/>
              </a:lnSpc>
              <a:buSzTx/>
              <a:buNone/>
              <a:defRPr spc="-136" sz="6800"/>
            </a:lvl5pPr>
          </a:lstStyle>
          <a:p>
            <a:pPr/>
            <a:r>
              <a:t>Agenda Topics</a:t>
            </a:r>
          </a:p>
          <a:p>
            <a:pPr lvl="1"/>
            <a:r>
              <a:t/>
            </a:r>
          </a:p>
          <a:p>
            <a:pPr lvl="2"/>
            <a:r>
              <a:t/>
            </a:r>
          </a:p>
          <a:p>
            <a:pPr lvl="3"/>
            <a:r>
              <a:t/>
            </a:r>
          </a:p>
          <a:p>
            <a:pPr lvl="4"/>
            <a:r>
              <a:t/>
            </a:r>
          </a:p>
        </p:txBody>
      </p:sp>
      <p:sp>
        <p:nvSpPr>
          <p:cNvPr id="113" name="Agenda Subtitle"/>
          <p:cNvSpPr txBox="1"/>
          <p:nvPr>
            <p:ph type="body" sz="quarter" idx="21" hasCustomPrompt="1"/>
          </p:nvPr>
        </p:nvSpPr>
        <p:spPr>
          <a:xfrm>
            <a:off x="1219200" y="2387115"/>
            <a:ext cx="21945602" cy="832613"/>
          </a:xfrm>
          <a:prstGeom prst="rect">
            <a:avLst/>
          </a:prstGeom>
        </p:spPr>
        <p:txBody>
          <a:bodyPr/>
          <a:lstStyle>
            <a:lvl1pPr marL="0" indent="0" defTabSz="825500">
              <a:lnSpc>
                <a:spcPct val="100000"/>
              </a:lnSpc>
              <a:spcBef>
                <a:spcPts val="0"/>
              </a:spcBef>
              <a:buSzTx/>
              <a:buNone/>
              <a:defRPr b="0" spc="-44"/>
            </a:lvl1pPr>
          </a:lstStyle>
          <a:p>
            <a:pPr/>
            <a:r>
              <a:t>Agenda Subtitle</a:t>
            </a:r>
          </a:p>
        </p:txBody>
      </p:sp>
      <p:sp>
        <p:nvSpPr>
          <p:cNvPr id="114" name="Rectangle"/>
          <p:cNvSpPr/>
          <p:nvPr/>
        </p:nvSpPr>
        <p:spPr>
          <a:xfrm>
            <a:off x="1193141" y="2252090"/>
            <a:ext cx="22345921" cy="249811"/>
          </a:xfrm>
          <a:prstGeom prst="rect">
            <a:avLst/>
          </a:prstGeom>
          <a:solidFill>
            <a:srgbClr val="0F2F61"/>
          </a:solidFill>
          <a:ln w="12700">
            <a:miter lim="400000"/>
          </a:ln>
        </p:spPr>
        <p:txBody>
          <a:bodyPr lIns="50800" tIns="50800" rIns="50800" bIns="50800" anchor="ctr"/>
          <a:lstStyle/>
          <a:p>
            <a:pPr defTabSz="1130300">
              <a:defRPr b="0" spc="0" sz="3200"/>
            </a:pPr>
          </a:p>
        </p:txBody>
      </p:sp>
      <p:sp>
        <p:nvSpPr>
          <p:cNvPr id="115"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16"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17"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tatementGray">
    <p:spTree>
      <p:nvGrpSpPr>
        <p:cNvPr id="1" name=""/>
        <p:cNvGrpSpPr/>
        <p:nvPr/>
      </p:nvGrpSpPr>
      <p:grpSpPr>
        <a:xfrm>
          <a:off x="0" y="0"/>
          <a:ext cx="0" cy="0"/>
          <a:chOff x="0" y="0"/>
          <a:chExt cx="0" cy="0"/>
        </a:xfrm>
      </p:grpSpPr>
      <p:sp>
        <p:nvSpPr>
          <p:cNvPr id="124" name="Body Level One…"/>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b="0" sz="12800"/>
            </a:lvl1pPr>
            <a:lvl2pPr marL="0" indent="457200" algn="ctr" defTabSz="2438400">
              <a:lnSpc>
                <a:spcPct val="80000"/>
              </a:lnSpc>
              <a:spcBef>
                <a:spcPts val="0"/>
              </a:spcBef>
              <a:buSzTx/>
              <a:buNone/>
              <a:defRPr b="0" sz="12800"/>
            </a:lvl2pPr>
            <a:lvl3pPr marL="0" indent="914400" algn="ctr" defTabSz="2438400">
              <a:lnSpc>
                <a:spcPct val="80000"/>
              </a:lnSpc>
              <a:spcBef>
                <a:spcPts val="0"/>
              </a:spcBef>
              <a:buSzTx/>
              <a:buNone/>
              <a:defRPr b="0" sz="12800"/>
            </a:lvl3pPr>
            <a:lvl4pPr marL="0" indent="1371600" algn="ctr" defTabSz="2438400">
              <a:lnSpc>
                <a:spcPct val="80000"/>
              </a:lnSpc>
              <a:spcBef>
                <a:spcPts val="0"/>
              </a:spcBef>
              <a:buSzTx/>
              <a:buNone/>
              <a:defRPr b="0" sz="12800"/>
            </a:lvl4pPr>
            <a:lvl5pPr marL="0" indent="1828800" algn="ctr" defTabSz="2438400">
              <a:lnSpc>
                <a:spcPct val="80000"/>
              </a:lnSpc>
              <a:spcBef>
                <a:spcPts val="0"/>
              </a:spcBef>
              <a:buSzTx/>
              <a:buNone/>
              <a:defRPr b="0" sz="12800"/>
            </a:lvl5pPr>
          </a:lstStyle>
          <a:p>
            <a:pPr/>
            <a:r>
              <a:t>Statement</a:t>
            </a:r>
          </a:p>
          <a:p>
            <a:pPr lvl="1"/>
            <a:r>
              <a:t/>
            </a:r>
          </a:p>
          <a:p>
            <a:pPr lvl="2"/>
            <a:r>
              <a:t/>
            </a:r>
          </a:p>
          <a:p>
            <a:pPr lvl="3"/>
            <a:r>
              <a:t/>
            </a:r>
          </a:p>
          <a:p>
            <a:pPr lvl="4"/>
            <a:r>
              <a:t/>
            </a:r>
          </a:p>
        </p:txBody>
      </p:sp>
      <p:sp>
        <p:nvSpPr>
          <p:cNvPr id="125"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26"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2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FactGray">
    <p:spTree>
      <p:nvGrpSpPr>
        <p:cNvPr id="1" name=""/>
        <p:cNvGrpSpPr/>
        <p:nvPr/>
      </p:nvGrpSpPr>
      <p:grpSpPr>
        <a:xfrm>
          <a:off x="0" y="0"/>
          <a:ext cx="0" cy="0"/>
          <a:chOff x="0" y="0"/>
          <a:chExt cx="0" cy="0"/>
        </a:xfrm>
      </p:grpSpPr>
      <p:sp>
        <p:nvSpPr>
          <p:cNvPr id="134" name="Fact information"/>
          <p:cNvSpPr txBox="1"/>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a:lvl1pPr>
          </a:lstStyle>
          <a:p>
            <a:pPr/>
            <a:r>
              <a:t>Fact information</a:t>
            </a:r>
          </a:p>
        </p:txBody>
      </p:sp>
      <p:sp>
        <p:nvSpPr>
          <p:cNvPr id="135" name="Body Level One…"/>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vl1pPr>
            <a:lvl2pPr marL="0" indent="457200" algn="ctr" defTabSz="2438400">
              <a:lnSpc>
                <a:spcPct val="80000"/>
              </a:lnSpc>
              <a:spcBef>
                <a:spcPts val="0"/>
              </a:spcBef>
              <a:buSzTx/>
              <a:buNone/>
              <a:defRPr sz="22400"/>
            </a:lvl2pPr>
            <a:lvl3pPr marL="0" indent="914400" algn="ctr" defTabSz="2438400">
              <a:lnSpc>
                <a:spcPct val="80000"/>
              </a:lnSpc>
              <a:spcBef>
                <a:spcPts val="0"/>
              </a:spcBef>
              <a:buSzTx/>
              <a:buNone/>
              <a:defRPr sz="22400"/>
            </a:lvl3pPr>
            <a:lvl4pPr marL="0" indent="1371600" algn="ctr" defTabSz="2438400">
              <a:lnSpc>
                <a:spcPct val="80000"/>
              </a:lnSpc>
              <a:spcBef>
                <a:spcPts val="0"/>
              </a:spcBef>
              <a:buSzTx/>
              <a:buNone/>
              <a:defRPr sz="22400"/>
            </a:lvl4pPr>
            <a:lvl5pPr marL="0" indent="1828800" algn="ctr" defTabSz="2438400">
              <a:lnSpc>
                <a:spcPct val="80000"/>
              </a:lnSpc>
              <a:spcBef>
                <a:spcPts val="0"/>
              </a:spcBef>
              <a:buSzTx/>
              <a:buNone/>
              <a:defRPr sz="22400"/>
            </a:lvl5pPr>
          </a:lstStyle>
          <a:p>
            <a:pPr/>
            <a:r>
              <a:t>100%</a:t>
            </a:r>
          </a:p>
          <a:p>
            <a:pPr lvl="1"/>
            <a:r>
              <a:t/>
            </a:r>
          </a:p>
          <a:p>
            <a:pPr lvl="2"/>
            <a:r>
              <a:t/>
            </a:r>
          </a:p>
          <a:p>
            <a:pPr lvl="3"/>
            <a:r>
              <a:t/>
            </a:r>
          </a:p>
          <a:p>
            <a:pPr lvl="4"/>
            <a:r>
              <a:t/>
            </a:r>
          </a:p>
        </p:txBody>
      </p:sp>
      <p:sp>
        <p:nvSpPr>
          <p:cNvPr id="136"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37"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38"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Gray">
    <p:spTree>
      <p:nvGrpSpPr>
        <p:cNvPr id="1" name=""/>
        <p:cNvGrpSpPr/>
        <p:nvPr/>
      </p:nvGrpSpPr>
      <p:grpSpPr>
        <a:xfrm>
          <a:off x="0" y="0"/>
          <a:ext cx="0" cy="0"/>
          <a:chOff x="0" y="0"/>
          <a:chExt cx="0" cy="0"/>
        </a:xfrm>
      </p:grpSpPr>
      <p:sp>
        <p:nvSpPr>
          <p:cNvPr id="145" name="Attribution"/>
          <p:cNvSpPr txBox="1"/>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spc="-44"/>
            </a:lvl1pPr>
          </a:lstStyle>
          <a:p>
            <a:pPr/>
            <a:r>
              <a:t>Attribution</a:t>
            </a:r>
          </a:p>
        </p:txBody>
      </p:sp>
      <p:sp>
        <p:nvSpPr>
          <p:cNvPr id="146" name="Body Level One…"/>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vl1pPr>
            <a:lvl2pPr marL="0" indent="457200" algn="ctr" defTabSz="2438400">
              <a:lnSpc>
                <a:spcPct val="80000"/>
              </a:lnSpc>
              <a:spcBef>
                <a:spcPts val="0"/>
              </a:spcBef>
              <a:buSzTx/>
              <a:buNone/>
              <a:defRPr sz="8400"/>
            </a:lvl2pPr>
            <a:lvl3pPr marL="0" indent="914400" algn="ctr" defTabSz="2438400">
              <a:lnSpc>
                <a:spcPct val="80000"/>
              </a:lnSpc>
              <a:spcBef>
                <a:spcPts val="0"/>
              </a:spcBef>
              <a:buSzTx/>
              <a:buNone/>
              <a:defRPr sz="8400"/>
            </a:lvl3pPr>
            <a:lvl4pPr marL="0" indent="1371600" algn="ctr" defTabSz="2438400">
              <a:lnSpc>
                <a:spcPct val="80000"/>
              </a:lnSpc>
              <a:spcBef>
                <a:spcPts val="0"/>
              </a:spcBef>
              <a:buSzTx/>
              <a:buNone/>
              <a:defRPr sz="8400"/>
            </a:lvl4pPr>
            <a:lvl5pPr marL="0" indent="1828800" algn="ctr" defTabSz="2438400">
              <a:lnSpc>
                <a:spcPct val="80000"/>
              </a:lnSpc>
              <a:spcBef>
                <a:spcPts val="0"/>
              </a:spcBef>
              <a:buSzTx/>
              <a:buNone/>
              <a:defRPr sz="8400"/>
            </a:lvl5pPr>
          </a:lstStyle>
          <a:p>
            <a:pPr/>
            <a:r>
              <a:t>“Notable Quote”</a:t>
            </a:r>
          </a:p>
          <a:p>
            <a:pPr lvl="1"/>
            <a:r>
              <a:t/>
            </a:r>
          </a:p>
          <a:p>
            <a:pPr lvl="2"/>
            <a:r>
              <a:t/>
            </a:r>
          </a:p>
          <a:p>
            <a:pPr lvl="3"/>
            <a:r>
              <a:t/>
            </a:r>
          </a:p>
          <a:p>
            <a:pPr lvl="4"/>
            <a:r>
              <a:t/>
            </a:r>
          </a:p>
        </p:txBody>
      </p:sp>
      <p:sp>
        <p:nvSpPr>
          <p:cNvPr id="147"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48"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49"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3 UpGray">
    <p:spTree>
      <p:nvGrpSpPr>
        <p:cNvPr id="1" name=""/>
        <p:cNvGrpSpPr/>
        <p:nvPr/>
      </p:nvGrpSpPr>
      <p:grpSpPr>
        <a:xfrm>
          <a:off x="0" y="0"/>
          <a:ext cx="0" cy="0"/>
          <a:chOff x="0" y="0"/>
          <a:chExt cx="0" cy="0"/>
        </a:xfrm>
      </p:grpSpPr>
      <p:sp>
        <p:nvSpPr>
          <p:cNvPr id="156" name="941297804_1296x1457.jpg"/>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57" name="915009552_2264x1509.jpg"/>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58" name="740519873_3318x2212.jpg"/>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59"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60"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61"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Gray">
    <p:spTree>
      <p:nvGrpSpPr>
        <p:cNvPr id="1" name=""/>
        <p:cNvGrpSpPr/>
        <p:nvPr/>
      </p:nvGrpSpPr>
      <p:grpSpPr>
        <a:xfrm>
          <a:off x="0" y="0"/>
          <a:ext cx="0" cy="0"/>
          <a:chOff x="0" y="0"/>
          <a:chExt cx="0" cy="0"/>
        </a:xfrm>
      </p:grpSpPr>
      <p:sp>
        <p:nvSpPr>
          <p:cNvPr id="168" name="740519873_3318x2212.jpg"/>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69"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70"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71"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Gray">
    <p:spTree>
      <p:nvGrpSpPr>
        <p:cNvPr id="1" name=""/>
        <p:cNvGrpSpPr/>
        <p:nvPr/>
      </p:nvGrpSpPr>
      <p:grpSpPr>
        <a:xfrm>
          <a:off x="0" y="0"/>
          <a:ext cx="0" cy="0"/>
          <a:chOff x="0" y="0"/>
          <a:chExt cx="0" cy="0"/>
        </a:xfrm>
      </p:grpSpPr>
      <p:pic>
        <p:nvPicPr>
          <p:cNvPr id="178"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79"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sp>
        <p:nvSpPr>
          <p:cNvPr id="180" name="01"/>
          <p:cNvSpPr txBox="1"/>
          <p:nvPr>
            <p:ph type="sldNum" sz="quarter" idx="2"/>
          </p:nvPr>
        </p:nvSpPr>
        <p:spPr>
          <a:xfrm>
            <a:off x="12000229" y="12727687"/>
            <a:ext cx="391161" cy="40157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BulletGray">
    <p:spTree>
      <p:nvGrpSpPr>
        <p:cNvPr id="1" name=""/>
        <p:cNvGrpSpPr/>
        <p:nvPr/>
      </p:nvGrpSpPr>
      <p:grpSpPr>
        <a:xfrm>
          <a:off x="0" y="0"/>
          <a:ext cx="0" cy="0"/>
          <a:chOff x="0" y="0"/>
          <a:chExt cx="0" cy="0"/>
        </a:xfrm>
      </p:grpSpPr>
      <p:sp>
        <p:nvSpPr>
          <p:cNvPr id="187" name="Slide Title"/>
          <p:cNvSpPr txBox="1"/>
          <p:nvPr>
            <p:ph type="title" hasCustomPrompt="1"/>
          </p:nvPr>
        </p:nvSpPr>
        <p:spPr>
          <a:prstGeom prst="rect">
            <a:avLst/>
          </a:prstGeom>
        </p:spPr>
        <p:txBody>
          <a:bodyPr/>
          <a:lstStyle/>
          <a:p>
            <a:pPr/>
            <a:r>
              <a:t>Slide Title</a:t>
            </a:r>
          </a:p>
        </p:txBody>
      </p:sp>
      <p:sp>
        <p:nvSpPr>
          <p:cNvPr id="188" name="Body Level One…"/>
          <p:cNvSpPr txBox="1"/>
          <p:nvPr>
            <p:ph type="body" idx="1" hasCustomPrompt="1"/>
          </p:nvPr>
        </p:nvSpPr>
        <p:spPr>
          <a:prstGeom prst="rect">
            <a:avLst/>
          </a:prstGeom>
        </p:spPr>
        <p:txBody>
          <a:bodyPr/>
          <a:lstStyle>
            <a:lvl1pPr>
              <a:defRPr b="0"/>
            </a:lvl1pPr>
            <a:lvl2pPr>
              <a:defRPr b="0"/>
            </a:lvl2pPr>
            <a:lvl3pPr>
              <a:defRPr b="0"/>
            </a:lvl3pPr>
            <a:lvl4pPr>
              <a:defRPr b="0"/>
            </a:lvl4pPr>
            <a:lvl5pPr>
              <a:defRPr b="0"/>
            </a:lvl5pPr>
          </a:lstStyle>
          <a:p>
            <a:pPr/>
            <a:r>
              <a:t>Slide bullet text</a:t>
            </a:r>
          </a:p>
          <a:p>
            <a:pPr lvl="1"/>
            <a:r>
              <a:t/>
            </a:r>
          </a:p>
          <a:p>
            <a:pPr lvl="2"/>
            <a:r>
              <a:t/>
            </a:r>
          </a:p>
          <a:p>
            <a:pPr lvl="3"/>
            <a:r>
              <a:t/>
            </a:r>
          </a:p>
          <a:p>
            <a:pPr lvl="4"/>
            <a:r>
              <a:t/>
            </a:r>
          </a:p>
        </p:txBody>
      </p:sp>
      <p:sp>
        <p:nvSpPr>
          <p:cNvPr id="189" name="Slide Subtitle"/>
          <p:cNvSpPr txBox="1"/>
          <p:nvPr>
            <p:ph type="body" sz="quarter" idx="21" hasCustomPrompt="1"/>
          </p:nvPr>
        </p:nvSpPr>
        <p:spPr>
          <a:xfrm>
            <a:off x="1219199" y="2398235"/>
            <a:ext cx="21945602" cy="832613"/>
          </a:xfrm>
          <a:prstGeom prst="rect">
            <a:avLst/>
          </a:prstGeom>
        </p:spPr>
        <p:txBody>
          <a:bodyPr/>
          <a:lstStyle>
            <a:lvl1pPr marL="0" indent="0" defTabSz="825500">
              <a:lnSpc>
                <a:spcPct val="100000"/>
              </a:lnSpc>
              <a:spcBef>
                <a:spcPts val="0"/>
              </a:spcBef>
              <a:buSzTx/>
              <a:buNone/>
              <a:defRPr b="0" spc="-44"/>
            </a:lvl1pPr>
          </a:lstStyle>
          <a:p>
            <a:pPr/>
            <a:r>
              <a:t>Slide Subtitle</a:t>
            </a:r>
          </a:p>
        </p:txBody>
      </p:sp>
      <p:sp>
        <p:nvSpPr>
          <p:cNvPr id="190" name="Rectangle"/>
          <p:cNvSpPr/>
          <p:nvPr/>
        </p:nvSpPr>
        <p:spPr>
          <a:xfrm>
            <a:off x="1193141" y="2252090"/>
            <a:ext cx="22345921" cy="249811"/>
          </a:xfrm>
          <a:prstGeom prst="rect">
            <a:avLst/>
          </a:prstGeom>
          <a:solidFill>
            <a:srgbClr val="0F2F61"/>
          </a:solidFill>
          <a:ln w="12700">
            <a:miter lim="400000"/>
          </a:ln>
        </p:spPr>
        <p:txBody>
          <a:bodyPr lIns="50800" tIns="50800" rIns="50800" bIns="50800" anchor="ctr"/>
          <a:lstStyle/>
          <a:p>
            <a:pPr defTabSz="1130300">
              <a:defRPr b="0" spc="0" sz="3200"/>
            </a:pPr>
          </a:p>
        </p:txBody>
      </p:sp>
      <p:sp>
        <p:nvSpPr>
          <p:cNvPr id="191"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192"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193"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bg>
      <p:bgPr>
        <a:solidFill>
          <a:srgbClr val="1E3264"/>
        </a:solidFill>
      </p:bgPr>
    </p:bg>
    <p:spTree>
      <p:nvGrpSpPr>
        <p:cNvPr id="1" name=""/>
        <p:cNvGrpSpPr/>
        <p:nvPr/>
      </p:nvGrpSpPr>
      <p:grpSpPr>
        <a:xfrm>
          <a:off x="0" y="0"/>
          <a:ext cx="0" cy="0"/>
          <a:chOff x="0" y="0"/>
          <a:chExt cx="0" cy="0"/>
        </a:xfrm>
      </p:grpSpPr>
      <p:sp>
        <p:nvSpPr>
          <p:cNvPr id="200" name="Title Text"/>
          <p:cNvSpPr txBox="1"/>
          <p:nvPr>
            <p:ph type="title"/>
          </p:nvPr>
        </p:nvSpPr>
        <p:spPr>
          <a:xfrm>
            <a:off x="831199" y="4902533"/>
            <a:ext cx="22721602" cy="2244801"/>
          </a:xfrm>
          <a:prstGeom prst="rect">
            <a:avLst/>
          </a:prstGeom>
        </p:spPr>
        <p:txBody>
          <a:bodyPr lIns="243799" tIns="243799" rIns="243799" bIns="243799" anchor="ctr"/>
          <a:lstStyle>
            <a:lvl1pPr algn="ctr">
              <a:lnSpc>
                <a:spcPct val="100000"/>
              </a:lnSpc>
              <a:defRPr b="1" spc="0" sz="9600">
                <a:solidFill>
                  <a:srgbClr val="FFFFFF"/>
                </a:solidFill>
              </a:defRPr>
            </a:lvl1pPr>
          </a:lstStyle>
          <a:p>
            <a:pPr/>
            <a:r>
              <a:t>Title Text</a:t>
            </a:r>
          </a:p>
        </p:txBody>
      </p:sp>
      <p:grpSp>
        <p:nvGrpSpPr>
          <p:cNvPr id="203" name="Google Shape;61;p15"/>
          <p:cNvGrpSpPr/>
          <p:nvPr/>
        </p:nvGrpSpPr>
        <p:grpSpPr>
          <a:xfrm>
            <a:off x="20558334" y="12320333"/>
            <a:ext cx="3600801" cy="1122624"/>
            <a:chOff x="0" y="0"/>
            <a:chExt cx="3600800" cy="1122623"/>
          </a:xfrm>
        </p:grpSpPr>
        <p:sp>
          <p:nvSpPr>
            <p:cNvPr id="201" name="Google Shape;62;p15"/>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FFFFFF"/>
                  </a:solidFill>
                </a:defRPr>
              </a:lvl1pPr>
            </a:lstStyle>
            <a:p>
              <a:pPr/>
              <a:r>
                <a:t>aUToronto</a:t>
              </a:r>
            </a:p>
          </p:txBody>
        </p:sp>
        <p:sp>
          <p:nvSpPr>
            <p:cNvPr id="202" name="Google Shape;63;p15"/>
            <p:cNvSpPr/>
            <p:nvPr/>
          </p:nvSpPr>
          <p:spPr>
            <a:xfrm flipH="1" flipV="1">
              <a:off x="129200" y="992986"/>
              <a:ext cx="3342401" cy="1"/>
            </a:xfrm>
            <a:prstGeom prst="line">
              <a:avLst/>
            </a:prstGeom>
            <a:noFill/>
            <a:ln w="101600" cap="flat">
              <a:solidFill>
                <a:srgbClr val="FFFFFF"/>
              </a:solidFill>
              <a:prstDash val="solid"/>
              <a:round/>
            </a:ln>
            <a:effectLst/>
          </p:spPr>
          <p:txBody>
            <a:bodyPr wrap="square" lIns="0" tIns="0" rIns="0" bIns="0" numCol="1" anchor="t">
              <a:noAutofit/>
            </a:bodyPr>
            <a:lstStyle/>
            <a:p>
              <a:pPr algn="l" defTabSz="2438400">
                <a:defRPr b="0" spc="0" sz="3600">
                  <a:latin typeface="Arial"/>
                  <a:ea typeface="Arial"/>
                  <a:cs typeface="Arial"/>
                  <a:sym typeface="Arial"/>
                </a:defRPr>
              </a:pPr>
            </a:p>
          </p:txBody>
        </p:sp>
      </p:grpSp>
      <p:sp>
        <p:nvSpPr>
          <p:cNvPr id="204" name="Body Level One…"/>
          <p:cNvSpPr txBox="1"/>
          <p:nvPr>
            <p:ph type="body" sz="quarter" idx="1"/>
          </p:nvPr>
        </p:nvSpPr>
        <p:spPr>
          <a:xfrm>
            <a:off x="4277999" y="6692800"/>
            <a:ext cx="15828003" cy="1238400"/>
          </a:xfrm>
          <a:prstGeom prst="rect">
            <a:avLst/>
          </a:prstGeom>
        </p:spPr>
        <p:txBody>
          <a:bodyPr lIns="243799" tIns="243799" rIns="243799" bIns="243799"/>
          <a:lstStyle>
            <a:lvl1pPr marL="914400" indent="-800100" algn="ctr" defTabSz="2438400">
              <a:lnSpc>
                <a:spcPct val="115000"/>
              </a:lnSpc>
              <a:spcBef>
                <a:spcPts val="0"/>
              </a:spcBef>
              <a:buSzTx/>
              <a:buNone/>
              <a:defRPr sz="4800">
                <a:solidFill>
                  <a:srgbClr val="FFFFFF"/>
                </a:solidFill>
              </a:defRPr>
            </a:lvl1pPr>
            <a:lvl2pPr marL="914400" indent="-317500" algn="ctr" defTabSz="2438400">
              <a:lnSpc>
                <a:spcPct val="115000"/>
              </a:lnSpc>
              <a:spcBef>
                <a:spcPts val="0"/>
              </a:spcBef>
              <a:buSzTx/>
              <a:buNone/>
              <a:defRPr sz="4800">
                <a:solidFill>
                  <a:srgbClr val="FFFFFF"/>
                </a:solidFill>
              </a:defRPr>
            </a:lvl2pPr>
            <a:lvl3pPr marL="914400" indent="139700" algn="ctr" defTabSz="2438400">
              <a:lnSpc>
                <a:spcPct val="115000"/>
              </a:lnSpc>
              <a:spcBef>
                <a:spcPts val="0"/>
              </a:spcBef>
              <a:buSzTx/>
              <a:buNone/>
              <a:defRPr sz="4800">
                <a:solidFill>
                  <a:srgbClr val="FFFFFF"/>
                </a:solidFill>
              </a:defRPr>
            </a:lvl3pPr>
            <a:lvl4pPr marL="914400" indent="596900" algn="ctr" defTabSz="2438400">
              <a:lnSpc>
                <a:spcPct val="115000"/>
              </a:lnSpc>
              <a:spcBef>
                <a:spcPts val="0"/>
              </a:spcBef>
              <a:buSzTx/>
              <a:buNone/>
              <a:defRPr sz="4800">
                <a:solidFill>
                  <a:srgbClr val="FFFFFF"/>
                </a:solidFill>
              </a:defRPr>
            </a:lvl4pPr>
            <a:lvl5pPr marL="914400" indent="1054100" algn="ctr" defTabSz="2438400">
              <a:lnSpc>
                <a:spcPct val="115000"/>
              </a:lnSpc>
              <a:spcBef>
                <a:spcPts val="0"/>
              </a:spcBef>
              <a:buSzTx/>
              <a:buNone/>
              <a:defRPr sz="4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205" name="01"/>
          <p:cNvSpPr txBox="1"/>
          <p:nvPr>
            <p:ph type="sldNum" sz="quarter" idx="2"/>
          </p:nvPr>
        </p:nvSpPr>
        <p:spPr>
          <a:xfrm>
            <a:off x="23310328" y="12666270"/>
            <a:ext cx="970963" cy="995015"/>
          </a:xfrm>
          <a:prstGeom prst="rect">
            <a:avLst/>
          </a:prstGeom>
        </p:spPr>
        <p:txBody>
          <a:bodyPr lIns="243799" tIns="243799" rIns="243799" bIns="243799" anchor="t"/>
          <a:lstStyle>
            <a:lvl1pPr algn="r" defTabSz="2438400">
              <a:defRPr sz="3400">
                <a:solidFill>
                  <a:srgbClr val="59595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212" name="Google Shape;67;p16"/>
          <p:cNvSpPr/>
          <p:nvPr/>
        </p:nvSpPr>
        <p:spPr>
          <a:xfrm>
            <a:off x="-117668" y="-112267"/>
            <a:ext cx="24678402" cy="2400801"/>
          </a:xfrm>
          <a:prstGeom prst="rect">
            <a:avLst/>
          </a:prstGeom>
          <a:solidFill>
            <a:srgbClr val="1E3264"/>
          </a:solidFill>
          <a:ln w="25400">
            <a:solidFill>
              <a:srgbClr val="1E3264"/>
            </a:solidFill>
          </a:ln>
        </p:spPr>
        <p:txBody>
          <a:bodyPr lIns="0" tIns="0" rIns="0" bIns="0" anchor="ctr"/>
          <a:lstStyle/>
          <a:p>
            <a:pPr algn="l" defTabSz="2438400">
              <a:defRPr b="0" spc="0" sz="3600">
                <a:latin typeface="Arial"/>
                <a:ea typeface="Arial"/>
                <a:cs typeface="Arial"/>
                <a:sym typeface="Arial"/>
              </a:defRPr>
            </a:pPr>
          </a:p>
        </p:txBody>
      </p:sp>
      <p:sp>
        <p:nvSpPr>
          <p:cNvPr id="213" name="Body Level One…"/>
          <p:cNvSpPr txBox="1"/>
          <p:nvPr>
            <p:ph type="body" idx="1"/>
          </p:nvPr>
        </p:nvSpPr>
        <p:spPr>
          <a:xfrm>
            <a:off x="831199" y="2564866"/>
            <a:ext cx="22721602" cy="9110402"/>
          </a:xfrm>
          <a:prstGeom prst="rect">
            <a:avLst/>
          </a:prstGeom>
        </p:spPr>
        <p:txBody>
          <a:bodyPr lIns="243799" tIns="243799" rIns="243799" bIns="243799"/>
          <a:lstStyle>
            <a:lvl1pPr marL="1028700" indent="-914400" defTabSz="2438400">
              <a:lnSpc>
                <a:spcPct val="115000"/>
              </a:lnSpc>
              <a:spcBef>
                <a:spcPts val="0"/>
              </a:spcBef>
              <a:buClr>
                <a:srgbClr val="595959"/>
              </a:buClr>
              <a:buSzPts val="4800"/>
              <a:buFont typeface="PT Sans"/>
              <a:buChar char="➔"/>
              <a:defRPr b="0" spc="144" sz="4800">
                <a:solidFill>
                  <a:srgbClr val="595959"/>
                </a:solidFill>
              </a:defRPr>
            </a:lvl1pPr>
            <a:lvl2pPr marL="1685471" indent="-1088571" defTabSz="2438400">
              <a:lnSpc>
                <a:spcPct val="115000"/>
              </a:lnSpc>
              <a:spcBef>
                <a:spcPts val="0"/>
              </a:spcBef>
              <a:buClr>
                <a:srgbClr val="595959"/>
              </a:buClr>
              <a:buSzPts val="4800"/>
              <a:buFont typeface="PT Sans"/>
              <a:buChar char="◆"/>
              <a:defRPr b="0" spc="144" sz="4800">
                <a:solidFill>
                  <a:srgbClr val="595959"/>
                </a:solidFill>
              </a:defRPr>
            </a:lvl2pPr>
            <a:lvl3pPr marL="2142671" indent="-1088571" defTabSz="2438400">
              <a:lnSpc>
                <a:spcPct val="115000"/>
              </a:lnSpc>
              <a:spcBef>
                <a:spcPts val="0"/>
              </a:spcBef>
              <a:buClr>
                <a:srgbClr val="595959"/>
              </a:buClr>
              <a:buSzPts val="4800"/>
              <a:buFont typeface="PT Sans"/>
              <a:buChar char="●"/>
              <a:defRPr b="0" spc="144" sz="4800">
                <a:solidFill>
                  <a:srgbClr val="595959"/>
                </a:solidFill>
              </a:defRPr>
            </a:lvl3pPr>
            <a:lvl4pPr marL="2599871" indent="-1088571" defTabSz="2438400">
              <a:lnSpc>
                <a:spcPct val="115000"/>
              </a:lnSpc>
              <a:spcBef>
                <a:spcPts val="0"/>
              </a:spcBef>
              <a:buClr>
                <a:srgbClr val="595959"/>
              </a:buClr>
              <a:buSzPts val="4800"/>
              <a:buFont typeface="PT Sans"/>
              <a:buChar char="○"/>
              <a:defRPr b="0" spc="144" sz="4800">
                <a:solidFill>
                  <a:srgbClr val="595959"/>
                </a:solidFill>
              </a:defRPr>
            </a:lvl4pPr>
            <a:lvl5pPr marL="3057071" indent="-1088571" defTabSz="2438400">
              <a:lnSpc>
                <a:spcPct val="115000"/>
              </a:lnSpc>
              <a:spcBef>
                <a:spcPts val="0"/>
              </a:spcBef>
              <a:buClr>
                <a:srgbClr val="595959"/>
              </a:buClr>
              <a:buSzPts val="4800"/>
              <a:buFont typeface="PT Sans"/>
              <a:buChar char="◆"/>
              <a:defRPr b="0" spc="144" sz="4800">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01"/>
          <p:cNvSpPr txBox="1"/>
          <p:nvPr>
            <p:ph type="sldNum" sz="quarter" idx="2"/>
          </p:nvPr>
        </p:nvSpPr>
        <p:spPr>
          <a:xfrm>
            <a:off x="853304" y="12524796"/>
            <a:ext cx="867584" cy="870499"/>
          </a:xfrm>
          <a:prstGeom prst="rect">
            <a:avLst/>
          </a:prstGeom>
        </p:spPr>
        <p:txBody>
          <a:bodyPr lIns="243799" tIns="243799" rIns="243799" bIns="243799" anchor="ctr"/>
          <a:lstStyle>
            <a:lvl1pPr algn="r" defTabSz="2438400">
              <a:defRPr sz="2600">
                <a:solidFill>
                  <a:srgbClr val="595959"/>
                </a:solidFill>
                <a:latin typeface="Arial"/>
                <a:ea typeface="Arial"/>
                <a:cs typeface="Arial"/>
                <a:sym typeface="Arial"/>
              </a:defRPr>
            </a:lvl1pPr>
          </a:lstStyle>
          <a:p>
            <a:pPr/>
            <a:fld id="{86CB4B4D-7CA3-9044-876B-883B54F8677D}" type="slidenum"/>
          </a:p>
        </p:txBody>
      </p:sp>
      <p:sp>
        <p:nvSpPr>
          <p:cNvPr id="215" name="Title Text"/>
          <p:cNvSpPr txBox="1"/>
          <p:nvPr>
            <p:ph type="title"/>
          </p:nvPr>
        </p:nvSpPr>
        <p:spPr>
          <a:xfrm>
            <a:off x="831199" y="277666"/>
            <a:ext cx="22721602" cy="1527201"/>
          </a:xfrm>
          <a:prstGeom prst="rect">
            <a:avLst/>
          </a:prstGeom>
        </p:spPr>
        <p:txBody>
          <a:bodyPr lIns="243799" tIns="243799" rIns="243799" bIns="243799"/>
          <a:lstStyle>
            <a:lvl1pPr>
              <a:lnSpc>
                <a:spcPct val="100000"/>
              </a:lnSpc>
              <a:defRPr b="1" spc="239" sz="8000">
                <a:solidFill>
                  <a:srgbClr val="FFFFFF"/>
                </a:solidFill>
              </a:defRPr>
            </a:lvl1pPr>
          </a:lstStyle>
          <a:p>
            <a:pPr/>
            <a:r>
              <a:t>Title Text</a:t>
            </a:r>
          </a:p>
        </p:txBody>
      </p:sp>
      <p:grpSp>
        <p:nvGrpSpPr>
          <p:cNvPr id="218" name="Google Shape;71;p16"/>
          <p:cNvGrpSpPr/>
          <p:nvPr/>
        </p:nvGrpSpPr>
        <p:grpSpPr>
          <a:xfrm>
            <a:off x="20558334" y="12320333"/>
            <a:ext cx="3600801" cy="1122624"/>
            <a:chOff x="0" y="0"/>
            <a:chExt cx="3600800" cy="1122623"/>
          </a:xfrm>
        </p:grpSpPr>
        <p:sp>
          <p:nvSpPr>
            <p:cNvPr id="216"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217"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latin typeface="Arial"/>
                  <a:ea typeface="Arial"/>
                  <a:cs typeface="Arial"/>
                  <a:sym typeface="Arial"/>
                </a:defRPr>
              </a:pPr>
            </a:p>
          </p:txBody>
        </p:sp>
      </p:gr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sp>
        <p:nvSpPr>
          <p:cNvPr id="225" name="Title Text"/>
          <p:cNvSpPr txBox="1"/>
          <p:nvPr>
            <p:ph type="title"/>
          </p:nvPr>
        </p:nvSpPr>
        <p:spPr>
          <a:xfrm>
            <a:off x="831199" y="6522466"/>
            <a:ext cx="22721602" cy="2295201"/>
          </a:xfrm>
          <a:prstGeom prst="rect">
            <a:avLst/>
          </a:prstGeom>
        </p:spPr>
        <p:txBody>
          <a:bodyPr lIns="243799" tIns="243799" rIns="243799" bIns="243799" anchor="b"/>
          <a:lstStyle>
            <a:lvl1pPr algn="ctr">
              <a:lnSpc>
                <a:spcPct val="100000"/>
              </a:lnSpc>
              <a:defRPr b="1" spc="0" sz="13800">
                <a:solidFill>
                  <a:srgbClr val="1E3264"/>
                </a:solidFill>
              </a:defRPr>
            </a:lvl1pPr>
          </a:lstStyle>
          <a:p>
            <a:pPr/>
            <a:r>
              <a:t>Title Text</a:t>
            </a:r>
          </a:p>
        </p:txBody>
      </p:sp>
      <p:sp>
        <p:nvSpPr>
          <p:cNvPr id="226" name="Body Level One…"/>
          <p:cNvSpPr txBox="1"/>
          <p:nvPr>
            <p:ph type="body" sz="quarter" idx="1"/>
          </p:nvPr>
        </p:nvSpPr>
        <p:spPr>
          <a:xfrm>
            <a:off x="831199" y="8817666"/>
            <a:ext cx="22721602" cy="2113601"/>
          </a:xfrm>
          <a:prstGeom prst="rect">
            <a:avLst/>
          </a:prstGeom>
        </p:spPr>
        <p:txBody>
          <a:bodyPr lIns="243799" tIns="243799" rIns="243799" bIns="243799"/>
          <a:lstStyle>
            <a:lvl1pPr marL="914400" indent="-800100" algn="ctr" defTabSz="2438400">
              <a:lnSpc>
                <a:spcPct val="100000"/>
              </a:lnSpc>
              <a:spcBef>
                <a:spcPts val="0"/>
              </a:spcBef>
              <a:buSzTx/>
              <a:buNone/>
              <a:defRPr sz="7400">
                <a:solidFill>
                  <a:srgbClr val="1E3264"/>
                </a:solidFill>
              </a:defRPr>
            </a:lvl1pPr>
            <a:lvl2pPr marL="914400" indent="-317500" algn="ctr" defTabSz="2438400">
              <a:lnSpc>
                <a:spcPct val="100000"/>
              </a:lnSpc>
              <a:spcBef>
                <a:spcPts val="0"/>
              </a:spcBef>
              <a:buSzTx/>
              <a:buNone/>
              <a:defRPr sz="7400">
                <a:solidFill>
                  <a:srgbClr val="1E3264"/>
                </a:solidFill>
              </a:defRPr>
            </a:lvl2pPr>
            <a:lvl3pPr marL="914400" indent="139700" algn="ctr" defTabSz="2438400">
              <a:lnSpc>
                <a:spcPct val="100000"/>
              </a:lnSpc>
              <a:spcBef>
                <a:spcPts val="0"/>
              </a:spcBef>
              <a:buSzTx/>
              <a:buNone/>
              <a:defRPr sz="7400">
                <a:solidFill>
                  <a:srgbClr val="1E3264"/>
                </a:solidFill>
              </a:defRPr>
            </a:lvl3pPr>
            <a:lvl4pPr marL="914400" indent="596900" algn="ctr" defTabSz="2438400">
              <a:lnSpc>
                <a:spcPct val="100000"/>
              </a:lnSpc>
              <a:spcBef>
                <a:spcPts val="0"/>
              </a:spcBef>
              <a:buSzTx/>
              <a:buNone/>
              <a:defRPr sz="7400">
                <a:solidFill>
                  <a:srgbClr val="1E3264"/>
                </a:solidFill>
              </a:defRPr>
            </a:lvl4pPr>
            <a:lvl5pPr marL="914400" indent="1054100" algn="ctr" defTabSz="2438400">
              <a:lnSpc>
                <a:spcPct val="100000"/>
              </a:lnSpc>
              <a:spcBef>
                <a:spcPts val="0"/>
              </a:spcBef>
              <a:buSzTx/>
              <a:buNone/>
              <a:defRPr sz="7400">
                <a:solidFill>
                  <a:srgbClr val="1E3264"/>
                </a:solidFill>
              </a:defRPr>
            </a:lvl5pPr>
          </a:lstStyle>
          <a:p>
            <a:pPr/>
            <a:r>
              <a:t>Body Level One</a:t>
            </a:r>
          </a:p>
          <a:p>
            <a:pPr lvl="1"/>
            <a:r>
              <a:t>Body Level Two</a:t>
            </a:r>
          </a:p>
          <a:p>
            <a:pPr lvl="2"/>
            <a:r>
              <a:t>Body Level Three</a:t>
            </a:r>
          </a:p>
          <a:p>
            <a:pPr lvl="3"/>
            <a:r>
              <a:t>Body Level Four</a:t>
            </a:r>
          </a:p>
          <a:p>
            <a:pPr lvl="4"/>
            <a:r>
              <a:t>Body Level Five</a:t>
            </a:r>
          </a:p>
        </p:txBody>
      </p:sp>
      <p:sp>
        <p:nvSpPr>
          <p:cNvPr id="227" name="01"/>
          <p:cNvSpPr txBox="1"/>
          <p:nvPr>
            <p:ph type="sldNum" sz="quarter" idx="2"/>
          </p:nvPr>
        </p:nvSpPr>
        <p:spPr>
          <a:xfrm>
            <a:off x="853304" y="12524796"/>
            <a:ext cx="867584" cy="870499"/>
          </a:xfrm>
          <a:prstGeom prst="rect">
            <a:avLst/>
          </a:prstGeom>
        </p:spPr>
        <p:txBody>
          <a:bodyPr lIns="243799" tIns="243799" rIns="243799" bIns="243799" anchor="ctr"/>
          <a:lstStyle>
            <a:lvl1pPr algn="r" defTabSz="2438400">
              <a:defRPr sz="2600">
                <a:solidFill>
                  <a:srgbClr val="595959"/>
                </a:solidFill>
                <a:latin typeface="Arial"/>
                <a:ea typeface="Arial"/>
                <a:cs typeface="Arial"/>
                <a:sym typeface="Arial"/>
              </a:defRPr>
            </a:lvl1pPr>
          </a:lstStyle>
          <a:p>
            <a:pPr/>
            <a:fld id="{86CB4B4D-7CA3-9044-876B-883B54F8677D}" type="slidenum"/>
          </a:p>
        </p:txBody>
      </p:sp>
      <p:pic>
        <p:nvPicPr>
          <p:cNvPr id="228" name="Google Shape;58;p14" descr="Google Shape;58;p14"/>
          <p:cNvPicPr>
            <a:picLocks noChangeAspect="1"/>
          </p:cNvPicPr>
          <p:nvPr/>
        </p:nvPicPr>
        <p:blipFill>
          <a:blip r:embed="rId2">
            <a:extLst/>
          </a:blip>
          <a:stretch>
            <a:fillRect/>
          </a:stretch>
        </p:blipFill>
        <p:spPr>
          <a:xfrm>
            <a:off x="8067333" y="1078399"/>
            <a:ext cx="8249279" cy="5444071"/>
          </a:xfrm>
          <a:prstGeom prst="rect">
            <a:avLst/>
          </a:prstGeom>
          <a:ln w="12700">
            <a:miter lim="400000"/>
          </a:ln>
        </p:spPr>
      </p:pic>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235" name="01"/>
          <p:cNvSpPr txBox="1"/>
          <p:nvPr>
            <p:ph type="sldNum" sz="quarter" idx="2"/>
          </p:nvPr>
        </p:nvSpPr>
        <p:spPr>
          <a:xfrm>
            <a:off x="853304" y="12524796"/>
            <a:ext cx="867584" cy="870499"/>
          </a:xfrm>
          <a:prstGeom prst="rect">
            <a:avLst/>
          </a:prstGeom>
        </p:spPr>
        <p:txBody>
          <a:bodyPr lIns="243799" tIns="243799" rIns="243799" bIns="243799" anchor="ctr"/>
          <a:lstStyle>
            <a:lvl1pPr algn="r" defTabSz="2438400">
              <a:defRPr sz="2600">
                <a:solidFill>
                  <a:srgbClr val="595959"/>
                </a:solidFill>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242" name="Google Shape;67;p16"/>
          <p:cNvSpPr/>
          <p:nvPr/>
        </p:nvSpPr>
        <p:spPr>
          <a:xfrm>
            <a:off x="-117668" y="-112267"/>
            <a:ext cx="24678402" cy="2400801"/>
          </a:xfrm>
          <a:prstGeom prst="rect">
            <a:avLst/>
          </a:prstGeom>
          <a:solidFill>
            <a:srgbClr val="1E3264"/>
          </a:solidFill>
          <a:ln w="25400">
            <a:solidFill>
              <a:srgbClr val="1E3264"/>
            </a:solidFill>
          </a:ln>
        </p:spPr>
        <p:txBody>
          <a:bodyPr lIns="0" tIns="0" rIns="0" bIns="0" anchor="ctr"/>
          <a:lstStyle/>
          <a:p>
            <a:pPr algn="l" defTabSz="2438400">
              <a:defRPr b="0" spc="0" sz="3600">
                <a:latin typeface="Arial"/>
                <a:ea typeface="Arial"/>
                <a:cs typeface="Arial"/>
                <a:sym typeface="Arial"/>
              </a:defRPr>
            </a:pPr>
          </a:p>
        </p:txBody>
      </p:sp>
      <p:sp>
        <p:nvSpPr>
          <p:cNvPr id="243" name="Body Level One…"/>
          <p:cNvSpPr txBox="1"/>
          <p:nvPr>
            <p:ph type="body" idx="1"/>
          </p:nvPr>
        </p:nvSpPr>
        <p:spPr>
          <a:xfrm>
            <a:off x="831199" y="2564866"/>
            <a:ext cx="22721602" cy="9110402"/>
          </a:xfrm>
          <a:prstGeom prst="rect">
            <a:avLst/>
          </a:prstGeom>
        </p:spPr>
        <p:txBody>
          <a:bodyPr lIns="243799" tIns="243799" rIns="243799" bIns="243799"/>
          <a:lstStyle>
            <a:lvl1pPr marL="1028700" indent="-914400" defTabSz="2438400">
              <a:lnSpc>
                <a:spcPct val="115000"/>
              </a:lnSpc>
              <a:spcBef>
                <a:spcPts val="0"/>
              </a:spcBef>
              <a:buClr>
                <a:srgbClr val="595959"/>
              </a:buClr>
              <a:buSzPts val="4800"/>
              <a:buFont typeface="Helvetica"/>
              <a:buChar char="➔"/>
              <a:defRPr b="0" spc="144" sz="4800">
                <a:solidFill>
                  <a:srgbClr val="595959"/>
                </a:solidFill>
                <a:latin typeface="Montserrat"/>
                <a:ea typeface="Montserrat"/>
                <a:cs typeface="Montserrat"/>
                <a:sym typeface="Montserrat"/>
              </a:defRPr>
            </a:lvl1pPr>
            <a:lvl2pPr marL="1685471" indent="-1088571" defTabSz="2438400">
              <a:lnSpc>
                <a:spcPct val="115000"/>
              </a:lnSpc>
              <a:spcBef>
                <a:spcPts val="0"/>
              </a:spcBef>
              <a:buClr>
                <a:srgbClr val="595959"/>
              </a:buClr>
              <a:buSzPts val="4800"/>
              <a:buFont typeface="Helvetica"/>
              <a:buChar char="◆"/>
              <a:defRPr b="0" spc="144" sz="4800">
                <a:solidFill>
                  <a:srgbClr val="595959"/>
                </a:solidFill>
                <a:latin typeface="Montserrat"/>
                <a:ea typeface="Montserrat"/>
                <a:cs typeface="Montserrat"/>
                <a:sym typeface="Montserrat"/>
              </a:defRPr>
            </a:lvl2pPr>
            <a:lvl3pPr marL="2142671" indent="-1088571" defTabSz="2438400">
              <a:lnSpc>
                <a:spcPct val="115000"/>
              </a:lnSpc>
              <a:spcBef>
                <a:spcPts val="0"/>
              </a:spcBef>
              <a:buClr>
                <a:srgbClr val="595959"/>
              </a:buClr>
              <a:buSzPts val="4800"/>
              <a:buFont typeface="Helvetica"/>
              <a:buChar char="●"/>
              <a:defRPr b="0" spc="144" sz="4800">
                <a:solidFill>
                  <a:srgbClr val="595959"/>
                </a:solidFill>
                <a:latin typeface="Montserrat"/>
                <a:ea typeface="Montserrat"/>
                <a:cs typeface="Montserrat"/>
                <a:sym typeface="Montserrat"/>
              </a:defRPr>
            </a:lvl3pPr>
            <a:lvl4pPr marL="2599871" indent="-1088571" defTabSz="2438400">
              <a:lnSpc>
                <a:spcPct val="115000"/>
              </a:lnSpc>
              <a:spcBef>
                <a:spcPts val="0"/>
              </a:spcBef>
              <a:buClr>
                <a:srgbClr val="595959"/>
              </a:buClr>
              <a:buSzPts val="4800"/>
              <a:buFont typeface="Helvetica"/>
              <a:buChar char="○"/>
              <a:defRPr b="0" spc="144" sz="4800">
                <a:solidFill>
                  <a:srgbClr val="595959"/>
                </a:solidFill>
                <a:latin typeface="Montserrat"/>
                <a:ea typeface="Montserrat"/>
                <a:cs typeface="Montserrat"/>
                <a:sym typeface="Montserrat"/>
              </a:defRPr>
            </a:lvl4pPr>
            <a:lvl5pPr marL="3057071" indent="-1088571" defTabSz="2438400">
              <a:lnSpc>
                <a:spcPct val="115000"/>
              </a:lnSpc>
              <a:spcBef>
                <a:spcPts val="0"/>
              </a:spcBef>
              <a:buClr>
                <a:srgbClr val="595959"/>
              </a:buClr>
              <a:buSzPts val="4800"/>
              <a:buFont typeface="Helvetica"/>
              <a:buChar char="◆"/>
              <a:defRPr b="0" spc="144" sz="4800">
                <a:solidFill>
                  <a:srgbClr val="595959"/>
                </a:solidFill>
                <a:latin typeface="Montserrat"/>
                <a:ea typeface="Montserrat"/>
                <a:cs typeface="Montserrat"/>
                <a:sym typeface="Montserrat"/>
              </a:defRPr>
            </a:lvl5pPr>
          </a:lstStyle>
          <a:p>
            <a:pPr/>
            <a:r>
              <a:t>Body Level One</a:t>
            </a:r>
          </a:p>
          <a:p>
            <a:pPr lvl="1"/>
            <a:r>
              <a:t>Body Level Two</a:t>
            </a:r>
          </a:p>
          <a:p>
            <a:pPr lvl="2"/>
            <a:r>
              <a:t>Body Level Three</a:t>
            </a:r>
          </a:p>
          <a:p>
            <a:pPr lvl="3"/>
            <a:r>
              <a:t>Body Level Four</a:t>
            </a:r>
          </a:p>
          <a:p>
            <a:pPr lvl="4"/>
            <a:r>
              <a:t>Body Level Five</a:t>
            </a:r>
          </a:p>
        </p:txBody>
      </p:sp>
      <p:sp>
        <p:nvSpPr>
          <p:cNvPr id="244" name="01"/>
          <p:cNvSpPr txBox="1"/>
          <p:nvPr>
            <p:ph type="sldNum" sz="quarter" idx="2"/>
          </p:nvPr>
        </p:nvSpPr>
        <p:spPr>
          <a:xfrm>
            <a:off x="853304" y="12524796"/>
            <a:ext cx="867584" cy="870499"/>
          </a:xfrm>
          <a:prstGeom prst="rect">
            <a:avLst/>
          </a:prstGeom>
        </p:spPr>
        <p:txBody>
          <a:bodyPr lIns="243799" tIns="243799" rIns="243799" bIns="243799" anchor="ctr"/>
          <a:lstStyle>
            <a:lvl1pPr algn="r" defTabSz="2438400">
              <a:defRPr sz="2600">
                <a:solidFill>
                  <a:srgbClr val="595959"/>
                </a:solidFill>
                <a:latin typeface="Arial"/>
                <a:ea typeface="Arial"/>
                <a:cs typeface="Arial"/>
                <a:sym typeface="Arial"/>
              </a:defRPr>
            </a:lvl1pPr>
          </a:lstStyle>
          <a:p>
            <a:pPr/>
            <a:fld id="{86CB4B4D-7CA3-9044-876B-883B54F8677D}" type="slidenum"/>
          </a:p>
        </p:txBody>
      </p:sp>
      <p:sp>
        <p:nvSpPr>
          <p:cNvPr id="245" name="Title Text"/>
          <p:cNvSpPr txBox="1"/>
          <p:nvPr>
            <p:ph type="title"/>
          </p:nvPr>
        </p:nvSpPr>
        <p:spPr>
          <a:xfrm>
            <a:off x="831199" y="277666"/>
            <a:ext cx="22721602" cy="1527201"/>
          </a:xfrm>
          <a:prstGeom prst="rect">
            <a:avLst/>
          </a:prstGeom>
        </p:spPr>
        <p:txBody>
          <a:bodyPr lIns="243799" tIns="243799" rIns="243799" bIns="243799"/>
          <a:lstStyle>
            <a:lvl1pPr>
              <a:lnSpc>
                <a:spcPct val="100000"/>
              </a:lnSpc>
              <a:defRPr b="1" spc="0" sz="8000">
                <a:solidFill>
                  <a:srgbClr val="FFFFFF"/>
                </a:solidFill>
                <a:latin typeface="Montserrat"/>
                <a:ea typeface="Montserrat"/>
                <a:cs typeface="Montserrat"/>
                <a:sym typeface="Montserrat"/>
              </a:defRPr>
            </a:lvl1pPr>
          </a:lstStyle>
          <a:p>
            <a:pPr/>
            <a:r>
              <a:t>Title Text</a:t>
            </a:r>
          </a:p>
        </p:txBody>
      </p:sp>
      <p:grpSp>
        <p:nvGrpSpPr>
          <p:cNvPr id="248" name="Google Shape;71;p16"/>
          <p:cNvGrpSpPr/>
          <p:nvPr/>
        </p:nvGrpSpPr>
        <p:grpSpPr>
          <a:xfrm>
            <a:off x="20558334" y="12320333"/>
            <a:ext cx="3600801" cy="1122601"/>
            <a:chOff x="0" y="0"/>
            <a:chExt cx="3600800" cy="1122599"/>
          </a:xfrm>
        </p:grpSpPr>
        <p:sp>
          <p:nvSpPr>
            <p:cNvPr id="246" name="Google Shape;72;p16"/>
            <p:cNvSpPr txBox="1"/>
            <p:nvPr/>
          </p:nvSpPr>
          <p:spPr>
            <a:xfrm>
              <a:off x="0" y="0"/>
              <a:ext cx="3600801" cy="11226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latin typeface="Montserrat"/>
                  <a:ea typeface="Montserrat"/>
                  <a:cs typeface="Montserrat"/>
                  <a:sym typeface="Montserrat"/>
                </a:defRPr>
              </a:lvl1pPr>
            </a:lstStyle>
            <a:p>
              <a:pPr/>
              <a:r>
                <a:t>aUToronto</a:t>
              </a:r>
            </a:p>
          </p:txBody>
        </p:sp>
        <p:sp>
          <p:nvSpPr>
            <p:cNvPr id="247"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latin typeface="Arial"/>
                  <a:ea typeface="Arial"/>
                  <a:cs typeface="Arial"/>
                  <a:sym typeface="Arial"/>
                </a:defRPr>
              </a:pPr>
            </a:p>
          </p:txBody>
        </p:sp>
      </p:gr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255" name="Body Level One…"/>
          <p:cNvSpPr txBox="1"/>
          <p:nvPr>
            <p:ph type="body" idx="1"/>
          </p:nvPr>
        </p:nvSpPr>
        <p:spPr>
          <a:xfrm>
            <a:off x="783933" y="2291999"/>
            <a:ext cx="22816002" cy="9900002"/>
          </a:xfrm>
          <a:prstGeom prst="rect">
            <a:avLst/>
          </a:prstGeom>
        </p:spPr>
        <p:txBody>
          <a:bodyPr lIns="243799" tIns="243799" rIns="243799" bIns="243799"/>
          <a:lstStyle>
            <a:lvl1pPr marL="9937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1pPr>
            <a:lvl2pPr marL="14509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2pPr>
            <a:lvl3pPr marL="19081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3pPr>
            <a:lvl4pPr marL="23653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4pPr>
            <a:lvl5pPr marL="28225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56" name="Title Text"/>
          <p:cNvSpPr txBox="1"/>
          <p:nvPr>
            <p:ph type="title"/>
          </p:nvPr>
        </p:nvSpPr>
        <p:spPr>
          <a:xfrm>
            <a:off x="783933" y="-1"/>
            <a:ext cx="22816002" cy="2292001"/>
          </a:xfrm>
          <a:prstGeom prst="rect">
            <a:avLst/>
          </a:prstGeom>
        </p:spPr>
        <p:txBody>
          <a:bodyPr lIns="243799" tIns="243799" rIns="243799" bIns="243799" anchor="ctr"/>
          <a:lstStyle>
            <a:lvl1pPr>
              <a:lnSpc>
                <a:spcPct val="100000"/>
              </a:lnSpc>
              <a:defRPr b="1" spc="0" sz="7400">
                <a:solidFill>
                  <a:srgbClr val="1E3264"/>
                </a:solidFill>
                <a:latin typeface="Helvetica Neue"/>
                <a:ea typeface="Helvetica Neue"/>
                <a:cs typeface="Helvetica Neue"/>
                <a:sym typeface="Helvetica Neue"/>
              </a:defRPr>
            </a:lvl1pPr>
          </a:lstStyle>
          <a:p>
            <a:pPr/>
            <a:r>
              <a:t>Title Text</a:t>
            </a:r>
          </a:p>
        </p:txBody>
      </p:sp>
      <p:sp>
        <p:nvSpPr>
          <p:cNvPr id="257" name="01"/>
          <p:cNvSpPr txBox="1"/>
          <p:nvPr>
            <p:ph type="sldNum" sz="quarter" idx="2"/>
          </p:nvPr>
        </p:nvSpPr>
        <p:spPr>
          <a:xfrm>
            <a:off x="783954" y="12435903"/>
            <a:ext cx="895728" cy="909086"/>
          </a:xfrm>
          <a:prstGeom prst="rect">
            <a:avLst/>
          </a:prstGeom>
        </p:spPr>
        <p:txBody>
          <a:bodyPr lIns="243799" tIns="243799" rIns="243799" bIns="243799" anchor="ctr"/>
          <a:lstStyle>
            <a:lvl1pPr algn="l" defTabSz="2438400">
              <a:defRPr b="1" sz="2800">
                <a:solidFill>
                  <a:srgbClr val="1E3264"/>
                </a:solidFill>
                <a:latin typeface="Helvetica Neue"/>
                <a:ea typeface="Helvetica Neue"/>
                <a:cs typeface="Helvetica Neue"/>
                <a:sym typeface="Helvetica Neue"/>
              </a:defRPr>
            </a:lvl1pPr>
          </a:lstStyle>
          <a:p>
            <a:pPr/>
            <a:fld id="{86CB4B4D-7CA3-9044-876B-883B54F8677D}" type="slidenum"/>
          </a:p>
        </p:txBody>
      </p:sp>
      <p:sp>
        <p:nvSpPr>
          <p:cNvPr id="258" name="Google Shape;512;p58"/>
          <p:cNvSpPr txBox="1"/>
          <p:nvPr/>
        </p:nvSpPr>
        <p:spPr>
          <a:xfrm>
            <a:off x="9923167" y="12689267"/>
            <a:ext cx="4537602" cy="84705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defTabSz="2438400">
              <a:defRPr spc="0" sz="2400">
                <a:solidFill>
                  <a:srgbClr val="1E3264"/>
                </a:solidFill>
                <a:latin typeface="Helvetica Neue"/>
                <a:ea typeface="Helvetica Neue"/>
                <a:cs typeface="Helvetica Neue"/>
                <a:sym typeface="Helvetica Neue"/>
              </a:defRPr>
            </a:lvl1pPr>
          </a:lstStyle>
          <a:p>
            <a:pPr/>
            <a:r>
              <a:t>STRICTLY CONFIDENTIAL</a:t>
            </a:r>
          </a:p>
        </p:txBody>
      </p:sp>
      <p:pic>
        <p:nvPicPr>
          <p:cNvPr id="259" name="Google Shape;513;p58" descr="Google Shape;513;p58"/>
          <p:cNvPicPr>
            <a:picLocks noChangeAspect="1"/>
          </p:cNvPicPr>
          <p:nvPr/>
        </p:nvPicPr>
        <p:blipFill>
          <a:blip r:embed="rId2">
            <a:extLst/>
          </a:blip>
          <a:stretch>
            <a:fillRect/>
          </a:stretch>
        </p:blipFill>
        <p:spPr>
          <a:xfrm>
            <a:off x="19263359" y="11484864"/>
            <a:ext cx="4922798" cy="4922798"/>
          </a:xfrm>
          <a:prstGeom prst="rect">
            <a:avLst/>
          </a:prstGeom>
          <a:ln w="12700">
            <a:miter lim="400000"/>
          </a:ln>
        </p:spPr>
      </p:pic>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_1">
    <p:spTree>
      <p:nvGrpSpPr>
        <p:cNvPr id="1" name=""/>
        <p:cNvGrpSpPr/>
        <p:nvPr/>
      </p:nvGrpSpPr>
      <p:grpSpPr>
        <a:xfrm>
          <a:off x="0" y="0"/>
          <a:ext cx="0" cy="0"/>
          <a:chOff x="0" y="0"/>
          <a:chExt cx="0" cy="0"/>
        </a:xfrm>
      </p:grpSpPr>
      <p:sp>
        <p:nvSpPr>
          <p:cNvPr id="266" name="Title Text"/>
          <p:cNvSpPr txBox="1"/>
          <p:nvPr>
            <p:ph type="title"/>
          </p:nvPr>
        </p:nvSpPr>
        <p:spPr>
          <a:xfrm>
            <a:off x="783933" y="474133"/>
            <a:ext cx="11360801" cy="3386401"/>
          </a:xfrm>
          <a:prstGeom prst="rect">
            <a:avLst/>
          </a:prstGeom>
        </p:spPr>
        <p:txBody>
          <a:bodyPr lIns="243799" tIns="243799" rIns="243799" bIns="243799"/>
          <a:lstStyle>
            <a:lvl1pPr>
              <a:lnSpc>
                <a:spcPct val="100000"/>
              </a:lnSpc>
              <a:defRPr b="1" spc="0" sz="9000">
                <a:solidFill>
                  <a:srgbClr val="1E3264"/>
                </a:solidFill>
                <a:latin typeface="Helvetica Neue"/>
                <a:ea typeface="Helvetica Neue"/>
                <a:cs typeface="Helvetica Neue"/>
                <a:sym typeface="Helvetica Neue"/>
              </a:defRPr>
            </a:lvl1pPr>
          </a:lstStyle>
          <a:p>
            <a:pPr/>
            <a:r>
              <a:t>Title Text</a:t>
            </a:r>
          </a:p>
        </p:txBody>
      </p:sp>
      <p:sp>
        <p:nvSpPr>
          <p:cNvPr id="267" name="01"/>
          <p:cNvSpPr txBox="1"/>
          <p:nvPr>
            <p:ph type="sldNum" sz="quarter" idx="2"/>
          </p:nvPr>
        </p:nvSpPr>
        <p:spPr>
          <a:xfrm>
            <a:off x="783954" y="12435903"/>
            <a:ext cx="895728" cy="909086"/>
          </a:xfrm>
          <a:prstGeom prst="rect">
            <a:avLst/>
          </a:prstGeom>
        </p:spPr>
        <p:txBody>
          <a:bodyPr lIns="243799" tIns="243799" rIns="243799" bIns="243799" anchor="ctr"/>
          <a:lstStyle>
            <a:lvl1pPr algn="l" defTabSz="2438400">
              <a:defRPr b="1" sz="2800">
                <a:solidFill>
                  <a:srgbClr val="1E3264"/>
                </a:solidFill>
                <a:latin typeface="Helvetica Neue"/>
                <a:ea typeface="Helvetica Neue"/>
                <a:cs typeface="Helvetica Neue"/>
                <a:sym typeface="Helvetica Neue"/>
              </a:defRPr>
            </a:lvl1pPr>
          </a:lstStyle>
          <a:p>
            <a:pPr/>
            <a:fld id="{86CB4B4D-7CA3-9044-876B-883B54F8677D}" type="slidenum"/>
          </a:p>
        </p:txBody>
      </p:sp>
      <p:sp>
        <p:nvSpPr>
          <p:cNvPr id="268" name="Google Shape;524;p60"/>
          <p:cNvSpPr txBox="1"/>
          <p:nvPr/>
        </p:nvSpPr>
        <p:spPr>
          <a:xfrm>
            <a:off x="9923167" y="12689267"/>
            <a:ext cx="4537602" cy="84705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defTabSz="2438400">
              <a:defRPr spc="0" sz="2400">
                <a:solidFill>
                  <a:srgbClr val="1E3264"/>
                </a:solidFill>
                <a:latin typeface="Helvetica Neue"/>
                <a:ea typeface="Helvetica Neue"/>
                <a:cs typeface="Helvetica Neue"/>
                <a:sym typeface="Helvetica Neue"/>
              </a:defRPr>
            </a:lvl1pPr>
          </a:lstStyle>
          <a:p>
            <a:pPr/>
            <a:r>
              <a:t>STRICTLY CONFIDENTIAL</a:t>
            </a:r>
          </a:p>
        </p:txBody>
      </p:sp>
      <p:pic>
        <p:nvPicPr>
          <p:cNvPr id="269" name="Google Shape;525;p60" descr="Google Shape;525;p60"/>
          <p:cNvPicPr>
            <a:picLocks noChangeAspect="1"/>
          </p:cNvPicPr>
          <p:nvPr/>
        </p:nvPicPr>
        <p:blipFill>
          <a:blip r:embed="rId2">
            <a:extLst/>
          </a:blip>
          <a:stretch>
            <a:fillRect/>
          </a:stretch>
        </p:blipFill>
        <p:spPr>
          <a:xfrm>
            <a:off x="19263359" y="11484864"/>
            <a:ext cx="4922798" cy="4922798"/>
          </a:xfrm>
          <a:prstGeom prst="rect">
            <a:avLst/>
          </a:prstGeom>
          <a:ln w="12700">
            <a:miter lim="400000"/>
          </a:ln>
        </p:spPr>
      </p:pic>
      <p:sp>
        <p:nvSpPr>
          <p:cNvPr id="270" name="Body Level One…"/>
          <p:cNvSpPr txBox="1"/>
          <p:nvPr>
            <p:ph type="body" sz="half" idx="1"/>
          </p:nvPr>
        </p:nvSpPr>
        <p:spPr>
          <a:xfrm>
            <a:off x="12490332" y="656199"/>
            <a:ext cx="11109602" cy="11536001"/>
          </a:xfrm>
          <a:prstGeom prst="rect">
            <a:avLst/>
          </a:prstGeom>
        </p:spPr>
        <p:txBody>
          <a:bodyPr lIns="243799" tIns="243799" rIns="243799" bIns="243799"/>
          <a:lstStyle>
            <a:lvl1pPr marL="9937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1pPr>
            <a:lvl2pPr marL="14509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2pPr>
            <a:lvl3pPr marL="19081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3pPr>
            <a:lvl4pPr marL="23653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4pPr>
            <a:lvl5pPr marL="2822575" indent="-866775" defTabSz="2438400">
              <a:lnSpc>
                <a:spcPct val="115000"/>
              </a:lnSpc>
              <a:spcBef>
                <a:spcPts val="0"/>
              </a:spcBef>
              <a:buClr>
                <a:srgbClr val="434343"/>
              </a:buClr>
              <a:buSzPts val="4200"/>
              <a:buFont typeface="Helvetica Neue"/>
              <a:buChar char="◆"/>
              <a:defRPr b="0" spc="126" sz="4200">
                <a:solidFill>
                  <a:srgbClr val="434343"/>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bg>
      <p:bgPr>
        <a:solidFill>
          <a:srgbClr val="1E3264"/>
        </a:solidFill>
      </p:bgPr>
    </p:bg>
    <p:spTree>
      <p:nvGrpSpPr>
        <p:cNvPr id="1" name=""/>
        <p:cNvGrpSpPr/>
        <p:nvPr/>
      </p:nvGrpSpPr>
      <p:grpSpPr>
        <a:xfrm>
          <a:off x="0" y="0"/>
          <a:ext cx="0" cy="0"/>
          <a:chOff x="0" y="0"/>
          <a:chExt cx="0" cy="0"/>
        </a:xfrm>
      </p:grpSpPr>
      <p:sp>
        <p:nvSpPr>
          <p:cNvPr id="277" name="01"/>
          <p:cNvSpPr txBox="1"/>
          <p:nvPr>
            <p:ph type="sldNum" sz="quarter" idx="2"/>
          </p:nvPr>
        </p:nvSpPr>
        <p:spPr>
          <a:xfrm>
            <a:off x="783954" y="12435903"/>
            <a:ext cx="895728" cy="909086"/>
          </a:xfrm>
          <a:prstGeom prst="rect">
            <a:avLst/>
          </a:prstGeom>
        </p:spPr>
        <p:txBody>
          <a:bodyPr lIns="243799" tIns="243799" rIns="243799" bIns="243799" anchor="ctr"/>
          <a:lstStyle>
            <a:lvl1pPr algn="l" defTabSz="2438400">
              <a:defRPr b="1" sz="2800">
                <a:solidFill>
                  <a:srgbClr val="FFFFFF"/>
                </a:solidFill>
                <a:latin typeface="Helvetica Neue"/>
                <a:ea typeface="Helvetica Neue"/>
                <a:cs typeface="Helvetica Neue"/>
                <a:sym typeface="Helvetica Neue"/>
              </a:defRPr>
            </a:lvl1pPr>
          </a:lstStyle>
          <a:p>
            <a:pPr/>
            <a:fld id="{86CB4B4D-7CA3-9044-876B-883B54F8677D}" type="slidenum"/>
          </a:p>
        </p:txBody>
      </p:sp>
      <p:pic>
        <p:nvPicPr>
          <p:cNvPr id="278" name="Google Shape;496;p56" descr="Google Shape;496;p56"/>
          <p:cNvPicPr>
            <a:picLocks noChangeAspect="1"/>
          </p:cNvPicPr>
          <p:nvPr/>
        </p:nvPicPr>
        <p:blipFill>
          <a:blip r:embed="rId2">
            <a:extLst/>
          </a:blip>
          <a:stretch>
            <a:fillRect/>
          </a:stretch>
        </p:blipFill>
        <p:spPr>
          <a:xfrm>
            <a:off x="19257999" y="11479866"/>
            <a:ext cx="4922798" cy="4922798"/>
          </a:xfrm>
          <a:prstGeom prst="rect">
            <a:avLst/>
          </a:prstGeom>
          <a:ln w="12700">
            <a:miter lim="400000"/>
          </a:ln>
        </p:spPr>
      </p:pic>
      <p:sp>
        <p:nvSpPr>
          <p:cNvPr id="279" name="Google Shape;497;p56"/>
          <p:cNvSpPr txBox="1"/>
          <p:nvPr/>
        </p:nvSpPr>
        <p:spPr>
          <a:xfrm>
            <a:off x="9923167" y="12689267"/>
            <a:ext cx="4537602" cy="84705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defTabSz="2438400">
              <a:defRPr spc="0" sz="2400">
                <a:solidFill>
                  <a:srgbClr val="FFFFFF"/>
                </a:solidFill>
                <a:latin typeface="Helvetica Neue"/>
                <a:ea typeface="Helvetica Neue"/>
                <a:cs typeface="Helvetica Neue"/>
                <a:sym typeface="Helvetica Neue"/>
              </a:defRPr>
            </a:lvl1pPr>
          </a:lstStyle>
          <a:p>
            <a:pPr/>
            <a:r>
              <a:t>STRICTLY CONFIDENTIAL</a:t>
            </a:r>
          </a:p>
        </p:txBody>
      </p:sp>
      <p:sp>
        <p:nvSpPr>
          <p:cNvPr id="280" name="Title Text"/>
          <p:cNvSpPr txBox="1"/>
          <p:nvPr>
            <p:ph type="title"/>
          </p:nvPr>
        </p:nvSpPr>
        <p:spPr>
          <a:xfrm>
            <a:off x="783933" y="2042466"/>
            <a:ext cx="18474402" cy="10149601"/>
          </a:xfrm>
          <a:prstGeom prst="rect">
            <a:avLst/>
          </a:prstGeom>
        </p:spPr>
        <p:txBody>
          <a:bodyPr lIns="243799" tIns="243799" rIns="243799" bIns="243799" anchor="b"/>
          <a:lstStyle>
            <a:lvl1pPr>
              <a:lnSpc>
                <a:spcPct val="100000"/>
              </a:lnSpc>
              <a:defRPr b="1" spc="0" sz="17000">
                <a:solidFill>
                  <a:srgbClr val="FFFFFF"/>
                </a:solidFill>
                <a:latin typeface="Helvetica Neue"/>
                <a:ea typeface="Helvetica Neue"/>
                <a:cs typeface="Helvetica Neue"/>
                <a:sym typeface="Helvetica Neue"/>
              </a:defRPr>
            </a:lvl1pPr>
          </a:lstStyle>
          <a:p>
            <a:pPr/>
            <a:r>
              <a:t>Title Text</a:t>
            </a:r>
          </a:p>
        </p:txBody>
      </p:sp>
      <p:sp>
        <p:nvSpPr>
          <p:cNvPr id="281" name="Body Level One…"/>
          <p:cNvSpPr txBox="1"/>
          <p:nvPr>
            <p:ph type="body" sz="quarter" idx="1"/>
          </p:nvPr>
        </p:nvSpPr>
        <p:spPr>
          <a:xfrm>
            <a:off x="783933" y="612066"/>
            <a:ext cx="18474402" cy="1256801"/>
          </a:xfrm>
          <a:prstGeom prst="rect">
            <a:avLst/>
          </a:prstGeom>
        </p:spPr>
        <p:txBody>
          <a:bodyPr lIns="243799" tIns="243799" rIns="243799" bIns="243799" anchor="b"/>
          <a:lstStyle>
            <a:lvl1pPr marL="914400" indent="-800100" defTabSz="2438400">
              <a:lnSpc>
                <a:spcPct val="115000"/>
              </a:lnSpc>
              <a:spcBef>
                <a:spcPts val="0"/>
              </a:spcBef>
              <a:buSzTx/>
              <a:buNone/>
              <a:defRPr sz="4800">
                <a:solidFill>
                  <a:srgbClr val="FFFFFF"/>
                </a:solidFill>
                <a:latin typeface="Helvetica Neue"/>
                <a:ea typeface="Helvetica Neue"/>
                <a:cs typeface="Helvetica Neue"/>
                <a:sym typeface="Helvetica Neue"/>
              </a:defRPr>
            </a:lvl1pPr>
            <a:lvl2pPr marL="914400" indent="-317500" defTabSz="2438400">
              <a:lnSpc>
                <a:spcPct val="115000"/>
              </a:lnSpc>
              <a:spcBef>
                <a:spcPts val="0"/>
              </a:spcBef>
              <a:buSzTx/>
              <a:buNone/>
              <a:defRPr sz="4800">
                <a:solidFill>
                  <a:srgbClr val="FFFFFF"/>
                </a:solidFill>
                <a:latin typeface="Helvetica Neue"/>
                <a:ea typeface="Helvetica Neue"/>
                <a:cs typeface="Helvetica Neue"/>
                <a:sym typeface="Helvetica Neue"/>
              </a:defRPr>
            </a:lvl2pPr>
            <a:lvl3pPr marL="914400" indent="139700" defTabSz="2438400">
              <a:lnSpc>
                <a:spcPct val="115000"/>
              </a:lnSpc>
              <a:spcBef>
                <a:spcPts val="0"/>
              </a:spcBef>
              <a:buSzTx/>
              <a:buNone/>
              <a:defRPr sz="4800">
                <a:solidFill>
                  <a:srgbClr val="FFFFFF"/>
                </a:solidFill>
                <a:latin typeface="Helvetica Neue"/>
                <a:ea typeface="Helvetica Neue"/>
                <a:cs typeface="Helvetica Neue"/>
                <a:sym typeface="Helvetica Neue"/>
              </a:defRPr>
            </a:lvl3pPr>
            <a:lvl4pPr marL="914400" indent="596900" defTabSz="2438400">
              <a:lnSpc>
                <a:spcPct val="115000"/>
              </a:lnSpc>
              <a:spcBef>
                <a:spcPts val="0"/>
              </a:spcBef>
              <a:buSzTx/>
              <a:buNone/>
              <a:defRPr sz="4800">
                <a:solidFill>
                  <a:srgbClr val="FFFFFF"/>
                </a:solidFill>
                <a:latin typeface="Helvetica Neue"/>
                <a:ea typeface="Helvetica Neue"/>
                <a:cs typeface="Helvetica Neue"/>
                <a:sym typeface="Helvetica Neue"/>
              </a:defRPr>
            </a:lvl4pPr>
            <a:lvl5pPr marL="914400" indent="1054100" defTabSz="2438400">
              <a:lnSpc>
                <a:spcPct val="115000"/>
              </a:lnSpc>
              <a:spcBef>
                <a:spcPts val="0"/>
              </a:spcBef>
              <a:buSzTx/>
              <a:buNone/>
              <a:defRPr sz="4800">
                <a:solidFill>
                  <a:srgbClr val="FFFFFF"/>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3">
    <p:spTree>
      <p:nvGrpSpPr>
        <p:cNvPr id="1" name=""/>
        <p:cNvGrpSpPr/>
        <p:nvPr/>
      </p:nvGrpSpPr>
      <p:grpSpPr>
        <a:xfrm>
          <a:off x="0" y="0"/>
          <a:ext cx="0" cy="0"/>
          <a:chOff x="0" y="0"/>
          <a:chExt cx="0" cy="0"/>
        </a:xfrm>
      </p:grpSpPr>
      <p:sp>
        <p:nvSpPr>
          <p:cNvPr id="288" name="Title Text"/>
          <p:cNvSpPr txBox="1"/>
          <p:nvPr>
            <p:ph type="title"/>
          </p:nvPr>
        </p:nvSpPr>
        <p:spPr>
          <a:xfrm>
            <a:off x="831199" y="6522466"/>
            <a:ext cx="22721602" cy="2295201"/>
          </a:xfrm>
          <a:prstGeom prst="rect">
            <a:avLst/>
          </a:prstGeom>
        </p:spPr>
        <p:txBody>
          <a:bodyPr lIns="243799" tIns="243799" rIns="243799" bIns="243799" anchor="b"/>
          <a:lstStyle>
            <a:lvl1pPr algn="ctr">
              <a:lnSpc>
                <a:spcPct val="100000"/>
              </a:lnSpc>
              <a:defRPr b="1" spc="0" sz="13800">
                <a:solidFill>
                  <a:srgbClr val="1E3264"/>
                </a:solidFill>
                <a:latin typeface="Arial"/>
                <a:ea typeface="Arial"/>
                <a:cs typeface="Arial"/>
                <a:sym typeface="Arial"/>
              </a:defRPr>
            </a:lvl1pPr>
          </a:lstStyle>
          <a:p>
            <a:pPr/>
            <a:r>
              <a:t>Title Text</a:t>
            </a:r>
          </a:p>
        </p:txBody>
      </p:sp>
      <p:sp>
        <p:nvSpPr>
          <p:cNvPr id="289" name="Body Level One…"/>
          <p:cNvSpPr txBox="1"/>
          <p:nvPr>
            <p:ph type="body" sz="quarter" idx="1"/>
          </p:nvPr>
        </p:nvSpPr>
        <p:spPr>
          <a:xfrm>
            <a:off x="831199" y="8817666"/>
            <a:ext cx="22721602" cy="2113601"/>
          </a:xfrm>
          <a:prstGeom prst="rect">
            <a:avLst/>
          </a:prstGeom>
        </p:spPr>
        <p:txBody>
          <a:bodyPr lIns="243799" tIns="243799" rIns="243799" bIns="243799"/>
          <a:lstStyle>
            <a:lvl1pPr marL="914400" indent="-800100" algn="ctr" defTabSz="2438400">
              <a:lnSpc>
                <a:spcPct val="100000"/>
              </a:lnSpc>
              <a:spcBef>
                <a:spcPts val="0"/>
              </a:spcBef>
              <a:buSzTx/>
              <a:buNone/>
              <a:defRPr sz="7400">
                <a:solidFill>
                  <a:srgbClr val="1E3264"/>
                </a:solidFill>
                <a:latin typeface="Arial"/>
                <a:ea typeface="Arial"/>
                <a:cs typeface="Arial"/>
                <a:sym typeface="Arial"/>
              </a:defRPr>
            </a:lvl1pPr>
            <a:lvl2pPr marL="914400" indent="-317500" algn="ctr" defTabSz="2438400">
              <a:lnSpc>
                <a:spcPct val="100000"/>
              </a:lnSpc>
              <a:spcBef>
                <a:spcPts val="0"/>
              </a:spcBef>
              <a:buSzTx/>
              <a:buNone/>
              <a:defRPr sz="7400">
                <a:solidFill>
                  <a:srgbClr val="1E3264"/>
                </a:solidFill>
                <a:latin typeface="Arial"/>
                <a:ea typeface="Arial"/>
                <a:cs typeface="Arial"/>
                <a:sym typeface="Arial"/>
              </a:defRPr>
            </a:lvl2pPr>
            <a:lvl3pPr marL="914400" indent="139700" algn="ctr" defTabSz="2438400">
              <a:lnSpc>
                <a:spcPct val="100000"/>
              </a:lnSpc>
              <a:spcBef>
                <a:spcPts val="0"/>
              </a:spcBef>
              <a:buSzTx/>
              <a:buNone/>
              <a:defRPr sz="7400">
                <a:solidFill>
                  <a:srgbClr val="1E3264"/>
                </a:solidFill>
                <a:latin typeface="Arial"/>
                <a:ea typeface="Arial"/>
                <a:cs typeface="Arial"/>
                <a:sym typeface="Arial"/>
              </a:defRPr>
            </a:lvl3pPr>
            <a:lvl4pPr marL="914400" indent="596900" algn="ctr" defTabSz="2438400">
              <a:lnSpc>
                <a:spcPct val="100000"/>
              </a:lnSpc>
              <a:spcBef>
                <a:spcPts val="0"/>
              </a:spcBef>
              <a:buSzTx/>
              <a:buNone/>
              <a:defRPr sz="7400">
                <a:solidFill>
                  <a:srgbClr val="1E3264"/>
                </a:solidFill>
                <a:latin typeface="Arial"/>
                <a:ea typeface="Arial"/>
                <a:cs typeface="Arial"/>
                <a:sym typeface="Arial"/>
              </a:defRPr>
            </a:lvl4pPr>
            <a:lvl5pPr marL="914400" indent="1054100" algn="ctr" defTabSz="2438400">
              <a:lnSpc>
                <a:spcPct val="100000"/>
              </a:lnSpc>
              <a:spcBef>
                <a:spcPts val="0"/>
              </a:spcBef>
              <a:buSzTx/>
              <a:buNone/>
              <a:defRPr sz="7400">
                <a:solidFill>
                  <a:srgbClr val="1E3264"/>
                </a:solidFill>
                <a:latin typeface="Arial"/>
                <a:ea typeface="Arial"/>
                <a:cs typeface="Arial"/>
                <a:sym typeface="Arial"/>
              </a:defRPr>
            </a:lvl5pPr>
          </a:lstStyle>
          <a:p>
            <a:pPr/>
            <a:r>
              <a:t>Body Level One</a:t>
            </a:r>
          </a:p>
          <a:p>
            <a:pPr lvl="1"/>
            <a:r>
              <a:t>Body Level Two</a:t>
            </a:r>
          </a:p>
          <a:p>
            <a:pPr lvl="2"/>
            <a:r>
              <a:t>Body Level Three</a:t>
            </a:r>
          </a:p>
          <a:p>
            <a:pPr lvl="3"/>
            <a:r>
              <a:t>Body Level Four</a:t>
            </a:r>
          </a:p>
          <a:p>
            <a:pPr lvl="4"/>
            <a:r>
              <a:t>Body Level Five</a:t>
            </a:r>
          </a:p>
        </p:txBody>
      </p:sp>
      <p:pic>
        <p:nvPicPr>
          <p:cNvPr id="290" name="Google Shape;576;p68" descr="Google Shape;576;p68"/>
          <p:cNvPicPr>
            <a:picLocks noChangeAspect="1"/>
          </p:cNvPicPr>
          <p:nvPr/>
        </p:nvPicPr>
        <p:blipFill>
          <a:blip r:embed="rId2">
            <a:extLst/>
          </a:blip>
          <a:stretch>
            <a:fillRect/>
          </a:stretch>
        </p:blipFill>
        <p:spPr>
          <a:xfrm>
            <a:off x="8067333" y="1078399"/>
            <a:ext cx="8249279" cy="5444071"/>
          </a:xfrm>
          <a:prstGeom prst="rect">
            <a:avLst/>
          </a:prstGeom>
          <a:ln w="12700">
            <a:miter lim="400000"/>
          </a:ln>
        </p:spPr>
      </p:pic>
      <p:sp>
        <p:nvSpPr>
          <p:cNvPr id="291" name="01"/>
          <p:cNvSpPr txBox="1"/>
          <p:nvPr>
            <p:ph type="sldNum" sz="quarter" idx="2"/>
          </p:nvPr>
        </p:nvSpPr>
        <p:spPr>
          <a:xfrm>
            <a:off x="853304" y="12524796"/>
            <a:ext cx="867584" cy="870499"/>
          </a:xfrm>
          <a:prstGeom prst="rect">
            <a:avLst/>
          </a:prstGeom>
        </p:spPr>
        <p:txBody>
          <a:bodyPr lIns="243799" tIns="243799" rIns="243799" bIns="243799" anchor="ctr">
            <a:normAutofit fontScale="100000" lnSpcReduction="0"/>
          </a:bodyPr>
          <a:lstStyle>
            <a:lvl1pPr algn="r" defTabSz="2438400">
              <a:defRPr sz="2600">
                <a:solidFill>
                  <a:srgbClr val="434343"/>
                </a:solidFill>
                <a:latin typeface="Arial"/>
                <a:ea typeface="Arial"/>
                <a:cs typeface="Arial"/>
                <a:sym typeface="Aria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bg>
      <p:bgPr>
        <a:solidFill>
          <a:srgbClr val="1E3264"/>
        </a:solidFill>
      </p:bgPr>
    </p:bg>
    <p:spTree>
      <p:nvGrpSpPr>
        <p:cNvPr id="1" name=""/>
        <p:cNvGrpSpPr/>
        <p:nvPr/>
      </p:nvGrpSpPr>
      <p:grpSpPr>
        <a:xfrm>
          <a:off x="0" y="0"/>
          <a:ext cx="0" cy="0"/>
          <a:chOff x="0" y="0"/>
          <a:chExt cx="0" cy="0"/>
        </a:xfrm>
      </p:grpSpPr>
      <p:sp>
        <p:nvSpPr>
          <p:cNvPr id="298" name="Title Text"/>
          <p:cNvSpPr txBox="1"/>
          <p:nvPr>
            <p:ph type="title"/>
          </p:nvPr>
        </p:nvSpPr>
        <p:spPr>
          <a:xfrm>
            <a:off x="831199" y="4902533"/>
            <a:ext cx="22721602" cy="2244801"/>
          </a:xfrm>
          <a:prstGeom prst="rect">
            <a:avLst/>
          </a:prstGeom>
        </p:spPr>
        <p:txBody>
          <a:bodyPr lIns="243799" tIns="243799" rIns="243799" bIns="243799" anchor="ctr"/>
          <a:lstStyle>
            <a:lvl1pPr algn="ctr">
              <a:lnSpc>
                <a:spcPct val="100000"/>
              </a:lnSpc>
              <a:defRPr b="1" spc="0" sz="9600">
                <a:solidFill>
                  <a:srgbClr val="FFFFFF"/>
                </a:solidFill>
                <a:latin typeface="Arial"/>
                <a:ea typeface="Arial"/>
                <a:cs typeface="Arial"/>
                <a:sym typeface="Arial"/>
              </a:defRPr>
            </a:lvl1pPr>
          </a:lstStyle>
          <a:p>
            <a:pPr/>
            <a:r>
              <a:t>Title Text</a:t>
            </a:r>
          </a:p>
        </p:txBody>
      </p:sp>
      <p:grpSp>
        <p:nvGrpSpPr>
          <p:cNvPr id="301" name="Google Shape;567;p67"/>
          <p:cNvGrpSpPr/>
          <p:nvPr/>
        </p:nvGrpSpPr>
        <p:grpSpPr>
          <a:xfrm>
            <a:off x="20558334" y="12320333"/>
            <a:ext cx="3600801" cy="1122601"/>
            <a:chOff x="0" y="0"/>
            <a:chExt cx="3600800" cy="1122599"/>
          </a:xfrm>
        </p:grpSpPr>
        <p:sp>
          <p:nvSpPr>
            <p:cNvPr id="299" name="Google Shape;568;p67"/>
            <p:cNvSpPr txBox="1"/>
            <p:nvPr/>
          </p:nvSpPr>
          <p:spPr>
            <a:xfrm>
              <a:off x="0" y="0"/>
              <a:ext cx="3600801" cy="11226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FFFFFF"/>
                  </a:solidFill>
                  <a:latin typeface="Montserrat"/>
                  <a:ea typeface="Montserrat"/>
                  <a:cs typeface="Montserrat"/>
                  <a:sym typeface="Montserrat"/>
                </a:defRPr>
              </a:lvl1pPr>
            </a:lstStyle>
            <a:p>
              <a:pPr/>
              <a:r>
                <a:t>aUToronto</a:t>
              </a:r>
            </a:p>
          </p:txBody>
        </p:sp>
        <p:sp>
          <p:nvSpPr>
            <p:cNvPr id="300" name="Google Shape;569;p67"/>
            <p:cNvSpPr/>
            <p:nvPr/>
          </p:nvSpPr>
          <p:spPr>
            <a:xfrm flipH="1" flipV="1">
              <a:off x="129200" y="992986"/>
              <a:ext cx="3342401" cy="1"/>
            </a:xfrm>
            <a:prstGeom prst="line">
              <a:avLst/>
            </a:prstGeom>
            <a:noFill/>
            <a:ln w="101600" cap="flat">
              <a:solidFill>
                <a:srgbClr val="FFFFFF"/>
              </a:solidFill>
              <a:prstDash val="solid"/>
              <a:round/>
            </a:ln>
            <a:effectLst/>
          </p:spPr>
          <p:txBody>
            <a:bodyPr wrap="square" lIns="0" tIns="0" rIns="0" bIns="0" numCol="1" anchor="t">
              <a:noAutofit/>
            </a:bodyPr>
            <a:lstStyle/>
            <a:p>
              <a:pPr algn="l" defTabSz="2438400">
                <a:defRPr b="0" spc="0" sz="3600">
                  <a:solidFill>
                    <a:srgbClr val="F9F9F9"/>
                  </a:solidFill>
                  <a:latin typeface="Arial"/>
                  <a:ea typeface="Arial"/>
                  <a:cs typeface="Arial"/>
                  <a:sym typeface="Arial"/>
                </a:defRPr>
              </a:pPr>
            </a:p>
          </p:txBody>
        </p:sp>
      </p:grpSp>
      <p:sp>
        <p:nvSpPr>
          <p:cNvPr id="302" name="Body Level One…"/>
          <p:cNvSpPr txBox="1"/>
          <p:nvPr>
            <p:ph type="body" sz="quarter" idx="1"/>
          </p:nvPr>
        </p:nvSpPr>
        <p:spPr>
          <a:xfrm>
            <a:off x="4277999" y="6692800"/>
            <a:ext cx="15828003" cy="1238400"/>
          </a:xfrm>
          <a:prstGeom prst="rect">
            <a:avLst/>
          </a:prstGeom>
        </p:spPr>
        <p:txBody>
          <a:bodyPr lIns="243799" tIns="243799" rIns="243799" bIns="243799"/>
          <a:lstStyle>
            <a:lvl1pPr marL="914400" indent="-800100" algn="ctr" defTabSz="2438400">
              <a:lnSpc>
                <a:spcPct val="115000"/>
              </a:lnSpc>
              <a:spcBef>
                <a:spcPts val="0"/>
              </a:spcBef>
              <a:buSzTx/>
              <a:buNone/>
              <a:defRPr sz="4800">
                <a:solidFill>
                  <a:srgbClr val="FFFFFF"/>
                </a:solidFill>
                <a:latin typeface="Arial"/>
                <a:ea typeface="Arial"/>
                <a:cs typeface="Arial"/>
                <a:sym typeface="Arial"/>
              </a:defRPr>
            </a:lvl1pPr>
            <a:lvl2pPr marL="914400" indent="-317500" algn="ctr" defTabSz="2438400">
              <a:lnSpc>
                <a:spcPct val="115000"/>
              </a:lnSpc>
              <a:spcBef>
                <a:spcPts val="0"/>
              </a:spcBef>
              <a:buSzTx/>
              <a:buNone/>
              <a:defRPr sz="4800">
                <a:solidFill>
                  <a:srgbClr val="FFFFFF"/>
                </a:solidFill>
                <a:latin typeface="Arial"/>
                <a:ea typeface="Arial"/>
                <a:cs typeface="Arial"/>
                <a:sym typeface="Arial"/>
              </a:defRPr>
            </a:lvl2pPr>
            <a:lvl3pPr marL="914400" indent="139700" algn="ctr" defTabSz="2438400">
              <a:lnSpc>
                <a:spcPct val="115000"/>
              </a:lnSpc>
              <a:spcBef>
                <a:spcPts val="0"/>
              </a:spcBef>
              <a:buSzTx/>
              <a:buNone/>
              <a:defRPr sz="4800">
                <a:solidFill>
                  <a:srgbClr val="FFFFFF"/>
                </a:solidFill>
                <a:latin typeface="Arial"/>
                <a:ea typeface="Arial"/>
                <a:cs typeface="Arial"/>
                <a:sym typeface="Arial"/>
              </a:defRPr>
            </a:lvl3pPr>
            <a:lvl4pPr marL="914400" indent="596900" algn="ctr" defTabSz="2438400">
              <a:lnSpc>
                <a:spcPct val="115000"/>
              </a:lnSpc>
              <a:spcBef>
                <a:spcPts val="0"/>
              </a:spcBef>
              <a:buSzTx/>
              <a:buNone/>
              <a:defRPr sz="4800">
                <a:solidFill>
                  <a:srgbClr val="FFFFFF"/>
                </a:solidFill>
                <a:latin typeface="Arial"/>
                <a:ea typeface="Arial"/>
                <a:cs typeface="Arial"/>
                <a:sym typeface="Arial"/>
              </a:defRPr>
            </a:lvl4pPr>
            <a:lvl5pPr marL="914400" indent="1054100" algn="ctr" defTabSz="2438400">
              <a:lnSpc>
                <a:spcPct val="115000"/>
              </a:lnSpc>
              <a:spcBef>
                <a:spcPts val="0"/>
              </a:spcBef>
              <a:buSzTx/>
              <a:buNone/>
              <a:defRPr sz="4800">
                <a:solidFill>
                  <a:srgbClr val="FFFFFF"/>
                </a:solidFill>
                <a:latin typeface="Arial"/>
                <a:ea typeface="Arial"/>
                <a:cs typeface="Arial"/>
                <a:sym typeface="Arial"/>
              </a:defRPr>
            </a:lvl5pPr>
          </a:lstStyle>
          <a:p>
            <a:pPr/>
            <a:r>
              <a:t>Body Level One</a:t>
            </a:r>
          </a:p>
          <a:p>
            <a:pPr lvl="1"/>
            <a:r>
              <a:t>Body Level Two</a:t>
            </a:r>
          </a:p>
          <a:p>
            <a:pPr lvl="2"/>
            <a:r>
              <a:t>Body Level Three</a:t>
            </a:r>
          </a:p>
          <a:p>
            <a:pPr lvl="3"/>
            <a:r>
              <a:t>Body Level Four</a:t>
            </a:r>
          </a:p>
          <a:p>
            <a:pPr lvl="4"/>
            <a:r>
              <a:t>Body Level Five</a:t>
            </a:r>
          </a:p>
        </p:txBody>
      </p:sp>
      <p:sp>
        <p:nvSpPr>
          <p:cNvPr id="303" name="01"/>
          <p:cNvSpPr txBox="1"/>
          <p:nvPr>
            <p:ph type="sldNum" sz="quarter" idx="2"/>
          </p:nvPr>
        </p:nvSpPr>
        <p:spPr>
          <a:xfrm>
            <a:off x="23300696" y="12666270"/>
            <a:ext cx="980594" cy="1008301"/>
          </a:xfrm>
          <a:prstGeom prst="rect">
            <a:avLst/>
          </a:prstGeom>
        </p:spPr>
        <p:txBody>
          <a:bodyPr lIns="243799" tIns="243799" rIns="243799" bIns="243799" anchor="t">
            <a:normAutofit fontScale="100000" lnSpcReduction="0"/>
          </a:bodyPr>
          <a:lstStyle>
            <a:lvl1pPr algn="r" defTabSz="2438400">
              <a:defRPr sz="3400">
                <a:solidFill>
                  <a:srgbClr val="434343"/>
                </a:solidFill>
                <a:latin typeface="Montserrat"/>
                <a:ea typeface="Montserrat"/>
                <a:cs typeface="Montserrat"/>
                <a:sym typeface="Montserra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310" name="Google Shape;67;p16"/>
          <p:cNvSpPr/>
          <p:nvPr/>
        </p:nvSpPr>
        <p:spPr>
          <a:xfrm>
            <a:off x="-117668" y="-112268"/>
            <a:ext cx="24678401" cy="2400801"/>
          </a:xfrm>
          <a:prstGeom prst="rect">
            <a:avLst/>
          </a:prstGeom>
          <a:solidFill>
            <a:srgbClr val="1E3264"/>
          </a:solidFill>
          <a:ln w="12700">
            <a:solidFill>
              <a:srgbClr val="1E3264"/>
            </a:solidFill>
          </a:ln>
        </p:spPr>
        <p:txBody>
          <a:bodyPr lIns="0" tIns="0" rIns="0" bIns="0" anchor="ctr"/>
          <a:lstStyle/>
          <a:p>
            <a:pPr algn="l" defTabSz="2438400">
              <a:defRPr b="0" spc="0" sz="3400">
                <a:latin typeface="Arial"/>
                <a:ea typeface="Arial"/>
                <a:cs typeface="Arial"/>
                <a:sym typeface="Arial"/>
              </a:defRPr>
            </a:pPr>
          </a:p>
        </p:txBody>
      </p:sp>
      <p:sp>
        <p:nvSpPr>
          <p:cNvPr id="311" name="Body Level One…"/>
          <p:cNvSpPr txBox="1"/>
          <p:nvPr>
            <p:ph type="body" idx="1"/>
          </p:nvPr>
        </p:nvSpPr>
        <p:spPr>
          <a:xfrm>
            <a:off x="831199" y="2564866"/>
            <a:ext cx="22721602" cy="9110401"/>
          </a:xfrm>
          <a:prstGeom prst="rect">
            <a:avLst/>
          </a:prstGeom>
        </p:spPr>
        <p:txBody>
          <a:bodyPr lIns="243799" tIns="243799" rIns="243799" bIns="243799"/>
          <a:lstStyle>
            <a:lvl1pPr marL="1028700" indent="-914400" defTabSz="2438400">
              <a:lnSpc>
                <a:spcPct val="115000"/>
              </a:lnSpc>
              <a:spcBef>
                <a:spcPts val="0"/>
              </a:spcBef>
              <a:buClr>
                <a:srgbClr val="595959"/>
              </a:buClr>
              <a:buSzPts val="4800"/>
              <a:buFont typeface="PT Sans"/>
              <a:buChar char="➔"/>
              <a:defRPr b="0" spc="144" sz="4800">
                <a:solidFill>
                  <a:srgbClr val="595959"/>
                </a:solidFill>
              </a:defRPr>
            </a:lvl1pPr>
            <a:lvl2pPr marL="1685471" indent="-1088571" defTabSz="2438400">
              <a:lnSpc>
                <a:spcPct val="115000"/>
              </a:lnSpc>
              <a:spcBef>
                <a:spcPts val="0"/>
              </a:spcBef>
              <a:buClr>
                <a:srgbClr val="595959"/>
              </a:buClr>
              <a:buSzPts val="4800"/>
              <a:buFont typeface="PT Sans"/>
              <a:buChar char="◆"/>
              <a:defRPr b="0" spc="144" sz="4800">
                <a:solidFill>
                  <a:srgbClr val="595959"/>
                </a:solidFill>
              </a:defRPr>
            </a:lvl2pPr>
            <a:lvl3pPr marL="2142671" indent="-1088571" defTabSz="2438400">
              <a:lnSpc>
                <a:spcPct val="115000"/>
              </a:lnSpc>
              <a:spcBef>
                <a:spcPts val="0"/>
              </a:spcBef>
              <a:buClr>
                <a:srgbClr val="595959"/>
              </a:buClr>
              <a:buSzPts val="4800"/>
              <a:buFont typeface="PT Sans"/>
              <a:buChar char="●"/>
              <a:defRPr b="0" spc="144" sz="4800">
                <a:solidFill>
                  <a:srgbClr val="595959"/>
                </a:solidFill>
              </a:defRPr>
            </a:lvl3pPr>
            <a:lvl4pPr marL="2599871" indent="-1088571" defTabSz="2438400">
              <a:lnSpc>
                <a:spcPct val="115000"/>
              </a:lnSpc>
              <a:spcBef>
                <a:spcPts val="0"/>
              </a:spcBef>
              <a:buClr>
                <a:srgbClr val="595959"/>
              </a:buClr>
              <a:buSzPts val="4800"/>
              <a:buFont typeface="PT Sans"/>
              <a:buChar char="○"/>
              <a:defRPr b="0" spc="144" sz="4800">
                <a:solidFill>
                  <a:srgbClr val="595959"/>
                </a:solidFill>
              </a:defRPr>
            </a:lvl4pPr>
            <a:lvl5pPr marL="3057071" indent="-1088571" defTabSz="2438400">
              <a:lnSpc>
                <a:spcPct val="115000"/>
              </a:lnSpc>
              <a:spcBef>
                <a:spcPts val="0"/>
              </a:spcBef>
              <a:buClr>
                <a:srgbClr val="595959"/>
              </a:buClr>
              <a:buSzPts val="4800"/>
              <a:buFont typeface="PT Sans"/>
              <a:buChar char="◆"/>
              <a:defRPr b="0" spc="144" sz="4800">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312" name="01"/>
          <p:cNvSpPr txBox="1"/>
          <p:nvPr>
            <p:ph type="sldNum" sz="quarter" idx="2"/>
          </p:nvPr>
        </p:nvSpPr>
        <p:spPr>
          <a:xfrm>
            <a:off x="881556" y="12543431"/>
            <a:ext cx="839332" cy="833229"/>
          </a:xfrm>
          <a:prstGeom prst="rect">
            <a:avLst/>
          </a:prstGeom>
        </p:spPr>
        <p:txBody>
          <a:bodyPr lIns="243799" tIns="243799" rIns="243799" bIns="243799" anchor="ctr"/>
          <a:lstStyle>
            <a:lvl1pPr algn="r" defTabSz="2438400">
              <a:defRPr sz="2400">
                <a:solidFill>
                  <a:srgbClr val="595959"/>
                </a:solidFill>
                <a:latin typeface="Arial"/>
                <a:ea typeface="Arial"/>
                <a:cs typeface="Arial"/>
                <a:sym typeface="Arial"/>
              </a:defRPr>
            </a:lvl1pPr>
          </a:lstStyle>
          <a:p>
            <a:pPr/>
            <a:fld id="{86CB4B4D-7CA3-9044-876B-883B54F8677D}" type="slidenum"/>
          </a:p>
        </p:txBody>
      </p:sp>
      <p:sp>
        <p:nvSpPr>
          <p:cNvPr id="313" name="Title Text"/>
          <p:cNvSpPr txBox="1"/>
          <p:nvPr>
            <p:ph type="title"/>
          </p:nvPr>
        </p:nvSpPr>
        <p:spPr>
          <a:xfrm>
            <a:off x="831199" y="277666"/>
            <a:ext cx="22721602" cy="1527201"/>
          </a:xfrm>
          <a:prstGeom prst="rect">
            <a:avLst/>
          </a:prstGeom>
        </p:spPr>
        <p:txBody>
          <a:bodyPr lIns="243799" tIns="243799" rIns="243799" bIns="243799"/>
          <a:lstStyle>
            <a:lvl1pPr>
              <a:lnSpc>
                <a:spcPct val="100000"/>
              </a:lnSpc>
              <a:defRPr b="1" spc="239" sz="8000">
                <a:solidFill>
                  <a:srgbClr val="FFFFFF"/>
                </a:solidFill>
              </a:defRPr>
            </a:lvl1pPr>
          </a:lstStyle>
          <a:p>
            <a:pPr/>
            <a:r>
              <a:t>Title Text</a:t>
            </a:r>
          </a:p>
        </p:txBody>
      </p:sp>
      <p:grpSp>
        <p:nvGrpSpPr>
          <p:cNvPr id="316" name="Google Shape;71;p16"/>
          <p:cNvGrpSpPr/>
          <p:nvPr/>
        </p:nvGrpSpPr>
        <p:grpSpPr>
          <a:xfrm>
            <a:off x="20558334" y="12320333"/>
            <a:ext cx="3600801" cy="992987"/>
            <a:chOff x="0" y="0"/>
            <a:chExt cx="3600800" cy="992986"/>
          </a:xfrm>
        </p:grpSpPr>
        <p:sp>
          <p:nvSpPr>
            <p:cNvPr id="314" name="Google Shape;72;p16"/>
            <p:cNvSpPr/>
            <p:nvPr/>
          </p:nvSpPr>
          <p:spPr>
            <a:xfrm>
              <a:off x="0" y="0"/>
              <a:ext cx="3600801"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000">
                  <a:solidFill>
                    <a:srgbClr val="1E3264"/>
                  </a:solidFill>
                </a:defRPr>
              </a:lvl1pPr>
            </a:lstStyle>
            <a:p>
              <a:pPr/>
              <a:r>
                <a:t>aUToronto</a:t>
              </a:r>
            </a:p>
          </p:txBody>
        </p:sp>
        <p:sp>
          <p:nvSpPr>
            <p:cNvPr id="315"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400">
                  <a:latin typeface="Arial"/>
                  <a:ea typeface="Arial"/>
                  <a:cs typeface="Arial"/>
                  <a:sym typeface="Arial"/>
                </a:defRPr>
              </a:pPr>
            </a:p>
          </p:txBody>
        </p:sp>
      </p:gr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323" name="Google Shape;67;p16"/>
          <p:cNvSpPr/>
          <p:nvPr/>
        </p:nvSpPr>
        <p:spPr>
          <a:xfrm>
            <a:off x="-117668" y="-112267"/>
            <a:ext cx="24678402" cy="2400801"/>
          </a:xfrm>
          <a:prstGeom prst="rect">
            <a:avLst/>
          </a:prstGeom>
          <a:solidFill>
            <a:srgbClr val="1E3264"/>
          </a:solidFill>
          <a:ln w="25400">
            <a:solidFill>
              <a:srgbClr val="1E3264"/>
            </a:solidFill>
          </a:ln>
        </p:spPr>
        <p:txBody>
          <a:bodyPr lIns="0" tIns="0" rIns="0" bIns="0" anchor="ctr"/>
          <a:lstStyle/>
          <a:p>
            <a:pPr algn="l" defTabSz="2438400">
              <a:defRPr b="0" spc="0" sz="3600"/>
            </a:pPr>
          </a:p>
        </p:txBody>
      </p:sp>
      <p:sp>
        <p:nvSpPr>
          <p:cNvPr id="324" name="Body Level One…"/>
          <p:cNvSpPr txBox="1"/>
          <p:nvPr>
            <p:ph type="body" idx="1"/>
          </p:nvPr>
        </p:nvSpPr>
        <p:spPr>
          <a:xfrm>
            <a:off x="831199" y="2564866"/>
            <a:ext cx="22721602" cy="9110402"/>
          </a:xfrm>
          <a:prstGeom prst="rect">
            <a:avLst/>
          </a:prstGeom>
        </p:spPr>
        <p:txBody>
          <a:bodyPr lIns="243799" tIns="243799" rIns="243799" bIns="243799"/>
          <a:lstStyle>
            <a:lvl1pPr marL="1028700" indent="-914400" defTabSz="2438400">
              <a:lnSpc>
                <a:spcPct val="115000"/>
              </a:lnSpc>
              <a:spcBef>
                <a:spcPts val="0"/>
              </a:spcBef>
              <a:buClr>
                <a:srgbClr val="595959"/>
              </a:buClr>
              <a:buSzPts val="4800"/>
              <a:buFont typeface="PT Sans"/>
              <a:buChar char="➔"/>
              <a:defRPr b="0" spc="144" sz="4800">
                <a:solidFill>
                  <a:srgbClr val="595959"/>
                </a:solidFill>
              </a:defRPr>
            </a:lvl1pPr>
            <a:lvl2pPr marL="1685471" indent="-1088571" defTabSz="2438400">
              <a:lnSpc>
                <a:spcPct val="115000"/>
              </a:lnSpc>
              <a:spcBef>
                <a:spcPts val="0"/>
              </a:spcBef>
              <a:buClr>
                <a:srgbClr val="595959"/>
              </a:buClr>
              <a:buSzPts val="4800"/>
              <a:buFont typeface="PT Sans"/>
              <a:buChar char="◆"/>
              <a:defRPr b="0" spc="144" sz="4800">
                <a:solidFill>
                  <a:srgbClr val="595959"/>
                </a:solidFill>
              </a:defRPr>
            </a:lvl2pPr>
            <a:lvl3pPr marL="2142671" indent="-1088571" defTabSz="2438400">
              <a:lnSpc>
                <a:spcPct val="115000"/>
              </a:lnSpc>
              <a:spcBef>
                <a:spcPts val="0"/>
              </a:spcBef>
              <a:buClr>
                <a:srgbClr val="595959"/>
              </a:buClr>
              <a:buSzPts val="4800"/>
              <a:buFont typeface="PT Sans"/>
              <a:buChar char="●"/>
              <a:defRPr b="0" spc="144" sz="4800">
                <a:solidFill>
                  <a:srgbClr val="595959"/>
                </a:solidFill>
              </a:defRPr>
            </a:lvl3pPr>
            <a:lvl4pPr marL="2599871" indent="-1088571" defTabSz="2438400">
              <a:lnSpc>
                <a:spcPct val="115000"/>
              </a:lnSpc>
              <a:spcBef>
                <a:spcPts val="0"/>
              </a:spcBef>
              <a:buClr>
                <a:srgbClr val="595959"/>
              </a:buClr>
              <a:buSzPts val="4800"/>
              <a:buFont typeface="PT Sans"/>
              <a:buChar char="○"/>
              <a:defRPr b="0" spc="144" sz="4800">
                <a:solidFill>
                  <a:srgbClr val="595959"/>
                </a:solidFill>
              </a:defRPr>
            </a:lvl4pPr>
            <a:lvl5pPr marL="3057071" indent="-1088571" defTabSz="2438400">
              <a:lnSpc>
                <a:spcPct val="115000"/>
              </a:lnSpc>
              <a:spcBef>
                <a:spcPts val="0"/>
              </a:spcBef>
              <a:buClr>
                <a:srgbClr val="595959"/>
              </a:buClr>
              <a:buSzPts val="4800"/>
              <a:buFont typeface="PT Sans"/>
              <a:buChar char="◆"/>
              <a:defRPr b="0" spc="144" sz="4800">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325" name="01"/>
          <p:cNvSpPr txBox="1"/>
          <p:nvPr>
            <p:ph type="sldNum" sz="quarter" idx="2"/>
          </p:nvPr>
        </p:nvSpPr>
        <p:spPr>
          <a:xfrm>
            <a:off x="860669" y="12526342"/>
            <a:ext cx="860219" cy="867406"/>
          </a:xfrm>
          <a:prstGeom prst="rect">
            <a:avLst/>
          </a:prstGeom>
        </p:spPr>
        <p:txBody>
          <a:bodyPr lIns="243799" tIns="243799" rIns="243799" bIns="243799" anchor="ctr"/>
          <a:lstStyle>
            <a:lvl1pPr algn="r" defTabSz="2438400">
              <a:defRPr sz="2600">
                <a:solidFill>
                  <a:srgbClr val="595959"/>
                </a:solidFill>
              </a:defRPr>
            </a:lvl1pPr>
          </a:lstStyle>
          <a:p>
            <a:pPr/>
            <a:fld id="{86CB4B4D-7CA3-9044-876B-883B54F8677D}" type="slidenum"/>
          </a:p>
        </p:txBody>
      </p:sp>
      <p:sp>
        <p:nvSpPr>
          <p:cNvPr id="326" name="Title Text"/>
          <p:cNvSpPr txBox="1"/>
          <p:nvPr>
            <p:ph type="title"/>
          </p:nvPr>
        </p:nvSpPr>
        <p:spPr>
          <a:xfrm>
            <a:off x="831199" y="277666"/>
            <a:ext cx="22721602" cy="1527201"/>
          </a:xfrm>
          <a:prstGeom prst="rect">
            <a:avLst/>
          </a:prstGeom>
        </p:spPr>
        <p:txBody>
          <a:bodyPr lIns="243799" tIns="243799" rIns="243799" bIns="243799"/>
          <a:lstStyle>
            <a:lvl1pPr>
              <a:lnSpc>
                <a:spcPct val="100000"/>
              </a:lnSpc>
              <a:defRPr b="1" spc="0" sz="8000">
                <a:solidFill>
                  <a:srgbClr val="FFFFFF"/>
                </a:solidFill>
              </a:defRPr>
            </a:lvl1pPr>
          </a:lstStyle>
          <a:p>
            <a:pPr/>
            <a:r>
              <a:t>Title Text</a:t>
            </a:r>
          </a:p>
        </p:txBody>
      </p:sp>
      <p:grpSp>
        <p:nvGrpSpPr>
          <p:cNvPr id="329" name="Google Shape;71;p16"/>
          <p:cNvGrpSpPr/>
          <p:nvPr/>
        </p:nvGrpSpPr>
        <p:grpSpPr>
          <a:xfrm>
            <a:off x="20558334" y="12320333"/>
            <a:ext cx="3600801" cy="1122624"/>
            <a:chOff x="0" y="0"/>
            <a:chExt cx="3600800" cy="1122623"/>
          </a:xfrm>
        </p:grpSpPr>
        <p:sp>
          <p:nvSpPr>
            <p:cNvPr id="327"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328"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pPr>
            </a:p>
          </p:txBody>
        </p:sp>
      </p:gr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336" name="Google Shape;67;p16"/>
          <p:cNvSpPr/>
          <p:nvPr/>
        </p:nvSpPr>
        <p:spPr>
          <a:xfrm>
            <a:off x="-117668" y="-112267"/>
            <a:ext cx="24678402" cy="2400801"/>
          </a:xfrm>
          <a:prstGeom prst="rect">
            <a:avLst/>
          </a:prstGeom>
          <a:solidFill>
            <a:srgbClr val="1E3264"/>
          </a:solidFill>
          <a:ln w="25400">
            <a:solidFill>
              <a:srgbClr val="1E3264"/>
            </a:solidFill>
          </a:ln>
        </p:spPr>
        <p:txBody>
          <a:bodyPr lIns="0" tIns="0" rIns="0" bIns="0" anchor="ctr"/>
          <a:lstStyle/>
          <a:p>
            <a:pPr algn="l" defTabSz="2438400">
              <a:defRPr b="0" spc="0" sz="3600"/>
            </a:pPr>
          </a:p>
        </p:txBody>
      </p:sp>
      <p:sp>
        <p:nvSpPr>
          <p:cNvPr id="337" name="Body Level One…"/>
          <p:cNvSpPr txBox="1"/>
          <p:nvPr>
            <p:ph type="body" idx="1"/>
          </p:nvPr>
        </p:nvSpPr>
        <p:spPr>
          <a:xfrm>
            <a:off x="831199" y="2564866"/>
            <a:ext cx="22721602" cy="9110402"/>
          </a:xfrm>
          <a:prstGeom prst="rect">
            <a:avLst/>
          </a:prstGeom>
        </p:spPr>
        <p:txBody>
          <a:bodyPr lIns="243799" tIns="243799" rIns="243799" bIns="243799"/>
          <a:lstStyle>
            <a:lvl1pPr marL="1028700" indent="-914400" defTabSz="2438400">
              <a:lnSpc>
                <a:spcPct val="115000"/>
              </a:lnSpc>
              <a:spcBef>
                <a:spcPts val="0"/>
              </a:spcBef>
              <a:buClr>
                <a:srgbClr val="595959"/>
              </a:buClr>
              <a:buSzPts val="4800"/>
              <a:buFont typeface="PT Sans"/>
              <a:buChar char="➔"/>
              <a:defRPr b="0" spc="144" sz="4800">
                <a:solidFill>
                  <a:srgbClr val="595959"/>
                </a:solidFill>
              </a:defRPr>
            </a:lvl1pPr>
            <a:lvl2pPr marL="1685471" indent="-1088571" defTabSz="2438400">
              <a:lnSpc>
                <a:spcPct val="115000"/>
              </a:lnSpc>
              <a:spcBef>
                <a:spcPts val="0"/>
              </a:spcBef>
              <a:buClr>
                <a:srgbClr val="595959"/>
              </a:buClr>
              <a:buSzPts val="4800"/>
              <a:buFont typeface="PT Sans"/>
              <a:buChar char="◆"/>
              <a:defRPr b="0" spc="144" sz="4800">
                <a:solidFill>
                  <a:srgbClr val="595959"/>
                </a:solidFill>
              </a:defRPr>
            </a:lvl2pPr>
            <a:lvl3pPr marL="2142671" indent="-1088571" defTabSz="2438400">
              <a:lnSpc>
                <a:spcPct val="115000"/>
              </a:lnSpc>
              <a:spcBef>
                <a:spcPts val="0"/>
              </a:spcBef>
              <a:buClr>
                <a:srgbClr val="595959"/>
              </a:buClr>
              <a:buSzPts val="4800"/>
              <a:buFont typeface="PT Sans"/>
              <a:buChar char="●"/>
              <a:defRPr b="0" spc="144" sz="4800">
                <a:solidFill>
                  <a:srgbClr val="595959"/>
                </a:solidFill>
              </a:defRPr>
            </a:lvl3pPr>
            <a:lvl4pPr marL="2599871" indent="-1088571" defTabSz="2438400">
              <a:lnSpc>
                <a:spcPct val="115000"/>
              </a:lnSpc>
              <a:spcBef>
                <a:spcPts val="0"/>
              </a:spcBef>
              <a:buClr>
                <a:srgbClr val="595959"/>
              </a:buClr>
              <a:buSzPts val="4800"/>
              <a:buFont typeface="PT Sans"/>
              <a:buChar char="○"/>
              <a:defRPr b="0" spc="144" sz="4800">
                <a:solidFill>
                  <a:srgbClr val="595959"/>
                </a:solidFill>
              </a:defRPr>
            </a:lvl4pPr>
            <a:lvl5pPr marL="3057071" indent="-1088571" defTabSz="2438400">
              <a:lnSpc>
                <a:spcPct val="115000"/>
              </a:lnSpc>
              <a:spcBef>
                <a:spcPts val="0"/>
              </a:spcBef>
              <a:buClr>
                <a:srgbClr val="595959"/>
              </a:buClr>
              <a:buSzPts val="4800"/>
              <a:buFont typeface="PT Sans"/>
              <a:buChar char="◆"/>
              <a:defRPr b="0" spc="144" sz="4800">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338" name="01"/>
          <p:cNvSpPr txBox="1"/>
          <p:nvPr>
            <p:ph type="sldNum" sz="quarter" idx="2"/>
          </p:nvPr>
        </p:nvSpPr>
        <p:spPr>
          <a:xfrm>
            <a:off x="860669" y="12526342"/>
            <a:ext cx="860219" cy="867406"/>
          </a:xfrm>
          <a:prstGeom prst="rect">
            <a:avLst/>
          </a:prstGeom>
        </p:spPr>
        <p:txBody>
          <a:bodyPr lIns="243799" tIns="243799" rIns="243799" bIns="243799" anchor="ctr"/>
          <a:lstStyle>
            <a:lvl1pPr algn="r" defTabSz="2438400">
              <a:defRPr sz="2600">
                <a:solidFill>
                  <a:srgbClr val="595959"/>
                </a:solidFill>
              </a:defRPr>
            </a:lvl1pPr>
          </a:lstStyle>
          <a:p>
            <a:pPr/>
            <a:fld id="{86CB4B4D-7CA3-9044-876B-883B54F8677D}" type="slidenum"/>
          </a:p>
        </p:txBody>
      </p:sp>
      <p:sp>
        <p:nvSpPr>
          <p:cNvPr id="339" name="Title Text"/>
          <p:cNvSpPr txBox="1"/>
          <p:nvPr>
            <p:ph type="title"/>
          </p:nvPr>
        </p:nvSpPr>
        <p:spPr>
          <a:xfrm>
            <a:off x="831199" y="277666"/>
            <a:ext cx="22721602" cy="1527201"/>
          </a:xfrm>
          <a:prstGeom prst="rect">
            <a:avLst/>
          </a:prstGeom>
        </p:spPr>
        <p:txBody>
          <a:bodyPr lIns="243799" tIns="243799" rIns="243799" bIns="243799"/>
          <a:lstStyle>
            <a:lvl1pPr>
              <a:lnSpc>
                <a:spcPct val="100000"/>
              </a:lnSpc>
              <a:defRPr b="1" spc="239" sz="8000">
                <a:solidFill>
                  <a:srgbClr val="FFFFFF"/>
                </a:solidFill>
              </a:defRPr>
            </a:lvl1pPr>
          </a:lstStyle>
          <a:p>
            <a:pPr/>
            <a:r>
              <a:t>Title Text</a:t>
            </a:r>
          </a:p>
        </p:txBody>
      </p:sp>
      <p:grpSp>
        <p:nvGrpSpPr>
          <p:cNvPr id="342" name="Google Shape;71;p16"/>
          <p:cNvGrpSpPr/>
          <p:nvPr/>
        </p:nvGrpSpPr>
        <p:grpSpPr>
          <a:xfrm>
            <a:off x="20558334" y="12320333"/>
            <a:ext cx="3600801" cy="1122624"/>
            <a:chOff x="0" y="0"/>
            <a:chExt cx="3600800" cy="1122623"/>
          </a:xfrm>
        </p:grpSpPr>
        <p:sp>
          <p:nvSpPr>
            <p:cNvPr id="340"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341"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pPr>
            </a:p>
          </p:txBody>
        </p:sp>
      </p:gr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bg>
      <p:bgPr>
        <a:solidFill>
          <a:srgbClr val="1E3264"/>
        </a:solidFill>
      </p:bgPr>
    </p:bg>
    <p:spTree>
      <p:nvGrpSpPr>
        <p:cNvPr id="1" name=""/>
        <p:cNvGrpSpPr/>
        <p:nvPr/>
      </p:nvGrpSpPr>
      <p:grpSpPr>
        <a:xfrm>
          <a:off x="0" y="0"/>
          <a:ext cx="0" cy="0"/>
          <a:chOff x="0" y="0"/>
          <a:chExt cx="0" cy="0"/>
        </a:xfrm>
      </p:grpSpPr>
      <p:sp>
        <p:nvSpPr>
          <p:cNvPr id="349" name="Title Text"/>
          <p:cNvSpPr txBox="1"/>
          <p:nvPr>
            <p:ph type="title"/>
          </p:nvPr>
        </p:nvSpPr>
        <p:spPr>
          <a:xfrm>
            <a:off x="831199" y="4902533"/>
            <a:ext cx="22721602" cy="2244801"/>
          </a:xfrm>
          <a:prstGeom prst="rect">
            <a:avLst/>
          </a:prstGeom>
        </p:spPr>
        <p:txBody>
          <a:bodyPr lIns="243799" tIns="243799" rIns="243799" bIns="243799" anchor="ctr"/>
          <a:lstStyle>
            <a:lvl1pPr algn="ctr">
              <a:lnSpc>
                <a:spcPct val="100000"/>
              </a:lnSpc>
              <a:defRPr b="1" spc="0" sz="9600">
                <a:solidFill>
                  <a:srgbClr val="FFFFFF"/>
                </a:solidFill>
              </a:defRPr>
            </a:lvl1pPr>
          </a:lstStyle>
          <a:p>
            <a:pPr/>
            <a:r>
              <a:t>Title Text</a:t>
            </a:r>
          </a:p>
        </p:txBody>
      </p:sp>
      <p:grpSp>
        <p:nvGrpSpPr>
          <p:cNvPr id="352" name="Google Shape;61;p15"/>
          <p:cNvGrpSpPr/>
          <p:nvPr/>
        </p:nvGrpSpPr>
        <p:grpSpPr>
          <a:xfrm>
            <a:off x="20558334" y="12320333"/>
            <a:ext cx="3600801" cy="1122624"/>
            <a:chOff x="0" y="0"/>
            <a:chExt cx="3600800" cy="1122623"/>
          </a:xfrm>
        </p:grpSpPr>
        <p:sp>
          <p:nvSpPr>
            <p:cNvPr id="350" name="Google Shape;62;p15"/>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FFFFFF"/>
                  </a:solidFill>
                </a:defRPr>
              </a:lvl1pPr>
            </a:lstStyle>
            <a:p>
              <a:pPr/>
              <a:r>
                <a:t>aUToronto</a:t>
              </a:r>
            </a:p>
          </p:txBody>
        </p:sp>
        <p:sp>
          <p:nvSpPr>
            <p:cNvPr id="351" name="Google Shape;63;p15"/>
            <p:cNvSpPr/>
            <p:nvPr/>
          </p:nvSpPr>
          <p:spPr>
            <a:xfrm flipH="1" flipV="1">
              <a:off x="129200" y="992986"/>
              <a:ext cx="3342401" cy="1"/>
            </a:xfrm>
            <a:prstGeom prst="line">
              <a:avLst/>
            </a:prstGeom>
            <a:noFill/>
            <a:ln w="101600" cap="flat">
              <a:solidFill>
                <a:srgbClr val="FFFFFF"/>
              </a:solidFill>
              <a:prstDash val="solid"/>
              <a:round/>
            </a:ln>
            <a:effectLst/>
          </p:spPr>
          <p:txBody>
            <a:bodyPr wrap="square" lIns="0" tIns="0" rIns="0" bIns="0" numCol="1" anchor="t">
              <a:noAutofit/>
            </a:bodyPr>
            <a:lstStyle/>
            <a:p>
              <a:pPr algn="l" defTabSz="2438400">
                <a:defRPr b="0" spc="0" sz="3600"/>
              </a:pPr>
            </a:p>
          </p:txBody>
        </p:sp>
      </p:grpSp>
      <p:sp>
        <p:nvSpPr>
          <p:cNvPr id="353" name="Body Level One…"/>
          <p:cNvSpPr txBox="1"/>
          <p:nvPr>
            <p:ph type="body" sz="quarter" idx="1"/>
          </p:nvPr>
        </p:nvSpPr>
        <p:spPr>
          <a:xfrm>
            <a:off x="4277999" y="6692800"/>
            <a:ext cx="15828003" cy="1238400"/>
          </a:xfrm>
          <a:prstGeom prst="rect">
            <a:avLst/>
          </a:prstGeom>
        </p:spPr>
        <p:txBody>
          <a:bodyPr lIns="243799" tIns="243799" rIns="243799" bIns="243799"/>
          <a:lstStyle>
            <a:lvl1pPr marL="914400" indent="-800100" algn="ctr" defTabSz="2438400">
              <a:lnSpc>
                <a:spcPct val="115000"/>
              </a:lnSpc>
              <a:spcBef>
                <a:spcPts val="0"/>
              </a:spcBef>
              <a:buSzTx/>
              <a:buNone/>
              <a:defRPr sz="4800">
                <a:solidFill>
                  <a:srgbClr val="FFFFFF"/>
                </a:solidFill>
              </a:defRPr>
            </a:lvl1pPr>
            <a:lvl2pPr marL="914400" indent="-317500" algn="ctr" defTabSz="2438400">
              <a:lnSpc>
                <a:spcPct val="115000"/>
              </a:lnSpc>
              <a:spcBef>
                <a:spcPts val="0"/>
              </a:spcBef>
              <a:buSzTx/>
              <a:buNone/>
              <a:defRPr sz="4800">
                <a:solidFill>
                  <a:srgbClr val="FFFFFF"/>
                </a:solidFill>
              </a:defRPr>
            </a:lvl2pPr>
            <a:lvl3pPr marL="914400" indent="139700" algn="ctr" defTabSz="2438400">
              <a:lnSpc>
                <a:spcPct val="115000"/>
              </a:lnSpc>
              <a:spcBef>
                <a:spcPts val="0"/>
              </a:spcBef>
              <a:buSzTx/>
              <a:buNone/>
              <a:defRPr sz="4800">
                <a:solidFill>
                  <a:srgbClr val="FFFFFF"/>
                </a:solidFill>
              </a:defRPr>
            </a:lvl3pPr>
            <a:lvl4pPr marL="914400" indent="596900" algn="ctr" defTabSz="2438400">
              <a:lnSpc>
                <a:spcPct val="115000"/>
              </a:lnSpc>
              <a:spcBef>
                <a:spcPts val="0"/>
              </a:spcBef>
              <a:buSzTx/>
              <a:buNone/>
              <a:defRPr sz="4800">
                <a:solidFill>
                  <a:srgbClr val="FFFFFF"/>
                </a:solidFill>
              </a:defRPr>
            </a:lvl4pPr>
            <a:lvl5pPr marL="914400" indent="1054100" algn="ctr" defTabSz="2438400">
              <a:lnSpc>
                <a:spcPct val="115000"/>
              </a:lnSpc>
              <a:spcBef>
                <a:spcPts val="0"/>
              </a:spcBef>
              <a:buSzTx/>
              <a:buNone/>
              <a:defRPr sz="4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354" name="01"/>
          <p:cNvSpPr txBox="1"/>
          <p:nvPr>
            <p:ph type="sldNum" sz="quarter" idx="2"/>
          </p:nvPr>
        </p:nvSpPr>
        <p:spPr>
          <a:xfrm>
            <a:off x="23310328" y="12666270"/>
            <a:ext cx="970963" cy="995015"/>
          </a:xfrm>
          <a:prstGeom prst="rect">
            <a:avLst/>
          </a:prstGeom>
        </p:spPr>
        <p:txBody>
          <a:bodyPr lIns="243799" tIns="243799" rIns="243799" bIns="243799" anchor="t"/>
          <a:lstStyle>
            <a:lvl1pPr algn="r" defTabSz="2438400">
              <a:defRPr sz="3400">
                <a:solidFill>
                  <a:srgbClr val="59595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361" name="Body Level One…"/>
          <p:cNvSpPr txBox="1"/>
          <p:nvPr>
            <p:ph type="body" idx="1"/>
          </p:nvPr>
        </p:nvSpPr>
        <p:spPr>
          <a:xfrm>
            <a:off x="783933" y="2291999"/>
            <a:ext cx="22816002" cy="9900002"/>
          </a:xfrm>
          <a:prstGeom prst="rect">
            <a:avLst/>
          </a:prstGeom>
        </p:spPr>
        <p:txBody>
          <a:bodyPr lIns="243799" tIns="243799" rIns="243799" bIns="243799"/>
          <a:lstStyle>
            <a:lvl1pPr marL="993775" indent="-866775" defTabSz="2438400">
              <a:lnSpc>
                <a:spcPct val="115000"/>
              </a:lnSpc>
              <a:spcBef>
                <a:spcPts val="0"/>
              </a:spcBef>
              <a:buClr>
                <a:srgbClr val="434343"/>
              </a:buClr>
              <a:buSzPts val="4200"/>
              <a:buFont typeface="PT Sans"/>
              <a:buChar char="●"/>
              <a:defRPr b="0" spc="126" sz="4200">
                <a:solidFill>
                  <a:srgbClr val="434343"/>
                </a:solidFill>
              </a:defRPr>
            </a:lvl1pPr>
            <a:lvl2pPr marL="1450975" indent="-866775" defTabSz="2438400">
              <a:lnSpc>
                <a:spcPct val="115000"/>
              </a:lnSpc>
              <a:spcBef>
                <a:spcPts val="0"/>
              </a:spcBef>
              <a:buClr>
                <a:srgbClr val="434343"/>
              </a:buClr>
              <a:buSzPts val="4200"/>
              <a:buFont typeface="PT Sans"/>
              <a:buChar char="○"/>
              <a:defRPr b="0" spc="126" sz="4200">
                <a:solidFill>
                  <a:srgbClr val="434343"/>
                </a:solidFill>
              </a:defRPr>
            </a:lvl2pPr>
            <a:lvl3pPr marL="1908175" indent="-866775" defTabSz="2438400">
              <a:lnSpc>
                <a:spcPct val="115000"/>
              </a:lnSpc>
              <a:spcBef>
                <a:spcPts val="0"/>
              </a:spcBef>
              <a:buClr>
                <a:srgbClr val="434343"/>
              </a:buClr>
              <a:buSzPts val="4200"/>
              <a:buFont typeface="PT Sans"/>
              <a:buChar char="■"/>
              <a:defRPr b="0" spc="126" sz="4200">
                <a:solidFill>
                  <a:srgbClr val="434343"/>
                </a:solidFill>
              </a:defRPr>
            </a:lvl3pPr>
            <a:lvl4pPr marL="2365375" indent="-866775" defTabSz="2438400">
              <a:lnSpc>
                <a:spcPct val="115000"/>
              </a:lnSpc>
              <a:spcBef>
                <a:spcPts val="0"/>
              </a:spcBef>
              <a:buClr>
                <a:srgbClr val="434343"/>
              </a:buClr>
              <a:buSzPts val="4200"/>
              <a:buFont typeface="PT Sans"/>
              <a:buChar char="●"/>
              <a:defRPr b="0" spc="126" sz="4200">
                <a:solidFill>
                  <a:srgbClr val="434343"/>
                </a:solidFill>
              </a:defRPr>
            </a:lvl4pPr>
            <a:lvl5pPr marL="2822575" indent="-866775" defTabSz="2438400">
              <a:lnSpc>
                <a:spcPct val="115000"/>
              </a:lnSpc>
              <a:spcBef>
                <a:spcPts val="0"/>
              </a:spcBef>
              <a:buClr>
                <a:srgbClr val="434343"/>
              </a:buClr>
              <a:buSzPts val="4200"/>
              <a:buFont typeface="PT Sans"/>
              <a:buChar char="○"/>
              <a:defRPr b="0" spc="126" sz="4200">
                <a:solidFill>
                  <a:srgbClr val="434343"/>
                </a:solidFill>
              </a:defRPr>
            </a:lvl5pPr>
          </a:lstStyle>
          <a:p>
            <a:pPr/>
            <a:r>
              <a:t>Body Level One</a:t>
            </a:r>
          </a:p>
          <a:p>
            <a:pPr lvl="1"/>
            <a:r>
              <a:t>Body Level Two</a:t>
            </a:r>
          </a:p>
          <a:p>
            <a:pPr lvl="2"/>
            <a:r>
              <a:t>Body Level Three</a:t>
            </a:r>
          </a:p>
          <a:p>
            <a:pPr lvl="3"/>
            <a:r>
              <a:t>Body Level Four</a:t>
            </a:r>
          </a:p>
          <a:p>
            <a:pPr lvl="4"/>
            <a:r>
              <a:t>Body Level Five</a:t>
            </a:r>
          </a:p>
        </p:txBody>
      </p:sp>
      <p:sp>
        <p:nvSpPr>
          <p:cNvPr id="362" name="Title Text"/>
          <p:cNvSpPr txBox="1"/>
          <p:nvPr>
            <p:ph type="title"/>
          </p:nvPr>
        </p:nvSpPr>
        <p:spPr>
          <a:xfrm>
            <a:off x="783933" y="-1"/>
            <a:ext cx="22816002" cy="2292001"/>
          </a:xfrm>
          <a:prstGeom prst="rect">
            <a:avLst/>
          </a:prstGeom>
        </p:spPr>
        <p:txBody>
          <a:bodyPr lIns="243799" tIns="243799" rIns="243799" bIns="243799" anchor="ctr"/>
          <a:lstStyle>
            <a:lvl1pPr>
              <a:lnSpc>
                <a:spcPct val="100000"/>
              </a:lnSpc>
              <a:defRPr b="1" spc="0" sz="7400">
                <a:solidFill>
                  <a:srgbClr val="1E3264"/>
                </a:solidFill>
              </a:defRPr>
            </a:lvl1pPr>
          </a:lstStyle>
          <a:p>
            <a:pPr/>
            <a:r>
              <a:t>Title Text</a:t>
            </a:r>
          </a:p>
        </p:txBody>
      </p:sp>
      <p:sp>
        <p:nvSpPr>
          <p:cNvPr id="363" name="01"/>
          <p:cNvSpPr txBox="1"/>
          <p:nvPr>
            <p:ph type="sldNum" sz="quarter" idx="2"/>
          </p:nvPr>
        </p:nvSpPr>
        <p:spPr>
          <a:xfrm>
            <a:off x="783954" y="12439204"/>
            <a:ext cx="903551" cy="902483"/>
          </a:xfrm>
          <a:prstGeom prst="rect">
            <a:avLst/>
          </a:prstGeom>
        </p:spPr>
        <p:txBody>
          <a:bodyPr lIns="243799" tIns="243799" rIns="243799" bIns="243799" anchor="ctr"/>
          <a:lstStyle>
            <a:lvl1pPr algn="l" defTabSz="2438400">
              <a:defRPr b="1" sz="2800">
                <a:solidFill>
                  <a:srgbClr val="1E3264"/>
                </a:solidFill>
              </a:defRPr>
            </a:lvl1pPr>
          </a:lstStyle>
          <a:p>
            <a:pPr/>
            <a:fld id="{86CB4B4D-7CA3-9044-876B-883B54F8677D}" type="slidenum"/>
          </a:p>
        </p:txBody>
      </p:sp>
      <p:sp>
        <p:nvSpPr>
          <p:cNvPr id="364" name="Google Shape;512;p58"/>
          <p:cNvSpPr txBox="1"/>
          <p:nvPr/>
        </p:nvSpPr>
        <p:spPr>
          <a:xfrm>
            <a:off x="9923167" y="12689267"/>
            <a:ext cx="4537602" cy="85772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defTabSz="2438400">
              <a:defRPr spc="0" sz="2400">
                <a:solidFill>
                  <a:srgbClr val="1E3264"/>
                </a:solidFill>
              </a:defRPr>
            </a:lvl1pPr>
          </a:lstStyle>
          <a:p>
            <a:pPr/>
            <a:r>
              <a:t>STRICTLY CONFIDENTIAL</a:t>
            </a:r>
          </a:p>
        </p:txBody>
      </p:sp>
      <p:grpSp>
        <p:nvGrpSpPr>
          <p:cNvPr id="367" name="Google Shape;71;p16"/>
          <p:cNvGrpSpPr/>
          <p:nvPr/>
        </p:nvGrpSpPr>
        <p:grpSpPr>
          <a:xfrm>
            <a:off x="20558334" y="12320333"/>
            <a:ext cx="3600801" cy="1122624"/>
            <a:chOff x="0" y="0"/>
            <a:chExt cx="3600800" cy="1122623"/>
          </a:xfrm>
        </p:grpSpPr>
        <p:sp>
          <p:nvSpPr>
            <p:cNvPr id="365"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366"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pPr>
            </a:p>
          </p:txBody>
        </p:sp>
      </p:gr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374" name="Body Level One…"/>
          <p:cNvSpPr txBox="1"/>
          <p:nvPr>
            <p:ph type="body" idx="1"/>
          </p:nvPr>
        </p:nvSpPr>
        <p:spPr>
          <a:xfrm>
            <a:off x="783933" y="2291999"/>
            <a:ext cx="22816002" cy="9900002"/>
          </a:xfrm>
          <a:prstGeom prst="rect">
            <a:avLst/>
          </a:prstGeom>
        </p:spPr>
        <p:txBody>
          <a:bodyPr lIns="243799" tIns="243799" rIns="243799" bIns="243799"/>
          <a:lstStyle>
            <a:lvl1pPr marL="993775" indent="-866775" defTabSz="2438400">
              <a:lnSpc>
                <a:spcPct val="115000"/>
              </a:lnSpc>
              <a:spcBef>
                <a:spcPts val="0"/>
              </a:spcBef>
              <a:buClr>
                <a:srgbClr val="434343"/>
              </a:buClr>
              <a:buSzPts val="4200"/>
              <a:buFont typeface="PT Sans"/>
              <a:buChar char="●"/>
              <a:defRPr b="0" spc="126" sz="4200">
                <a:solidFill>
                  <a:srgbClr val="434343"/>
                </a:solidFill>
              </a:defRPr>
            </a:lvl1pPr>
            <a:lvl2pPr marL="1450975" indent="-866775" defTabSz="2438400">
              <a:lnSpc>
                <a:spcPct val="115000"/>
              </a:lnSpc>
              <a:spcBef>
                <a:spcPts val="0"/>
              </a:spcBef>
              <a:buClr>
                <a:srgbClr val="434343"/>
              </a:buClr>
              <a:buSzPts val="4200"/>
              <a:buFont typeface="PT Sans"/>
              <a:buChar char="○"/>
              <a:defRPr b="0" spc="126" sz="4200">
                <a:solidFill>
                  <a:srgbClr val="434343"/>
                </a:solidFill>
              </a:defRPr>
            </a:lvl2pPr>
            <a:lvl3pPr marL="1908175" indent="-866775" defTabSz="2438400">
              <a:lnSpc>
                <a:spcPct val="115000"/>
              </a:lnSpc>
              <a:spcBef>
                <a:spcPts val="0"/>
              </a:spcBef>
              <a:buClr>
                <a:srgbClr val="434343"/>
              </a:buClr>
              <a:buSzPts val="4200"/>
              <a:buFont typeface="PT Sans"/>
              <a:buChar char="■"/>
              <a:defRPr b="0" spc="126" sz="4200">
                <a:solidFill>
                  <a:srgbClr val="434343"/>
                </a:solidFill>
              </a:defRPr>
            </a:lvl3pPr>
            <a:lvl4pPr marL="2365375" indent="-866775" defTabSz="2438400">
              <a:lnSpc>
                <a:spcPct val="115000"/>
              </a:lnSpc>
              <a:spcBef>
                <a:spcPts val="0"/>
              </a:spcBef>
              <a:buClr>
                <a:srgbClr val="434343"/>
              </a:buClr>
              <a:buSzPts val="4200"/>
              <a:buFont typeface="PT Sans"/>
              <a:buChar char="●"/>
              <a:defRPr b="0" spc="126" sz="4200">
                <a:solidFill>
                  <a:srgbClr val="434343"/>
                </a:solidFill>
              </a:defRPr>
            </a:lvl4pPr>
            <a:lvl5pPr marL="2822575" indent="-866775" defTabSz="2438400">
              <a:lnSpc>
                <a:spcPct val="115000"/>
              </a:lnSpc>
              <a:spcBef>
                <a:spcPts val="0"/>
              </a:spcBef>
              <a:buClr>
                <a:srgbClr val="434343"/>
              </a:buClr>
              <a:buSzPts val="4200"/>
              <a:buFont typeface="PT Sans"/>
              <a:buChar char="○"/>
              <a:defRPr b="0" spc="126" sz="4200">
                <a:solidFill>
                  <a:srgbClr val="434343"/>
                </a:solidFill>
              </a:defRPr>
            </a:lvl5pPr>
          </a:lstStyle>
          <a:p>
            <a:pPr/>
            <a:r>
              <a:t>Body Level One</a:t>
            </a:r>
          </a:p>
          <a:p>
            <a:pPr lvl="1"/>
            <a:r>
              <a:t>Body Level Two</a:t>
            </a:r>
          </a:p>
          <a:p>
            <a:pPr lvl="2"/>
            <a:r>
              <a:t>Body Level Three</a:t>
            </a:r>
          </a:p>
          <a:p>
            <a:pPr lvl="3"/>
            <a:r>
              <a:t>Body Level Four</a:t>
            </a:r>
          </a:p>
          <a:p>
            <a:pPr lvl="4"/>
            <a:r>
              <a:t>Body Level Five</a:t>
            </a:r>
          </a:p>
        </p:txBody>
      </p:sp>
      <p:sp>
        <p:nvSpPr>
          <p:cNvPr id="375" name="Title Text"/>
          <p:cNvSpPr txBox="1"/>
          <p:nvPr>
            <p:ph type="title"/>
          </p:nvPr>
        </p:nvSpPr>
        <p:spPr>
          <a:xfrm>
            <a:off x="783933" y="-1"/>
            <a:ext cx="22816002" cy="2292001"/>
          </a:xfrm>
          <a:prstGeom prst="rect">
            <a:avLst/>
          </a:prstGeom>
        </p:spPr>
        <p:txBody>
          <a:bodyPr lIns="243799" tIns="243799" rIns="243799" bIns="243799" anchor="ctr"/>
          <a:lstStyle>
            <a:lvl1pPr>
              <a:lnSpc>
                <a:spcPct val="100000"/>
              </a:lnSpc>
              <a:defRPr b="1" spc="0" sz="7400">
                <a:solidFill>
                  <a:srgbClr val="1E3264"/>
                </a:solidFill>
              </a:defRPr>
            </a:lvl1pPr>
          </a:lstStyle>
          <a:p>
            <a:pPr/>
            <a:r>
              <a:t>Title Text</a:t>
            </a:r>
          </a:p>
        </p:txBody>
      </p:sp>
      <p:sp>
        <p:nvSpPr>
          <p:cNvPr id="376" name="01"/>
          <p:cNvSpPr txBox="1"/>
          <p:nvPr>
            <p:ph type="sldNum" sz="quarter" idx="2"/>
          </p:nvPr>
        </p:nvSpPr>
        <p:spPr>
          <a:xfrm>
            <a:off x="783954" y="12439204"/>
            <a:ext cx="903551" cy="902483"/>
          </a:xfrm>
          <a:prstGeom prst="rect">
            <a:avLst/>
          </a:prstGeom>
        </p:spPr>
        <p:txBody>
          <a:bodyPr lIns="243799" tIns="243799" rIns="243799" bIns="243799" anchor="ctr"/>
          <a:lstStyle>
            <a:lvl1pPr algn="l" defTabSz="2438400">
              <a:defRPr b="1" sz="2800">
                <a:solidFill>
                  <a:srgbClr val="1E3264"/>
                </a:solidFill>
              </a:defRPr>
            </a:lvl1pPr>
          </a:lstStyle>
          <a:p>
            <a:pPr/>
            <a:fld id="{86CB4B4D-7CA3-9044-876B-883B54F8677D}" type="slidenum"/>
          </a:p>
        </p:txBody>
      </p:sp>
      <p:sp>
        <p:nvSpPr>
          <p:cNvPr id="377" name="Google Shape;512;p58"/>
          <p:cNvSpPr txBox="1"/>
          <p:nvPr/>
        </p:nvSpPr>
        <p:spPr>
          <a:xfrm>
            <a:off x="9923167" y="12689267"/>
            <a:ext cx="4537602" cy="85772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defTabSz="2438400">
              <a:defRPr spc="0" sz="2400">
                <a:solidFill>
                  <a:srgbClr val="1E3264"/>
                </a:solidFill>
              </a:defRPr>
            </a:lvl1pPr>
          </a:lstStyle>
          <a:p>
            <a:pPr/>
            <a:r>
              <a:t>STRICTLY CONFIDENTIAL</a:t>
            </a:r>
          </a:p>
        </p:txBody>
      </p:sp>
      <p:grpSp>
        <p:nvGrpSpPr>
          <p:cNvPr id="380" name="Google Shape;71;p16"/>
          <p:cNvGrpSpPr/>
          <p:nvPr/>
        </p:nvGrpSpPr>
        <p:grpSpPr>
          <a:xfrm>
            <a:off x="20558334" y="12320333"/>
            <a:ext cx="3600801" cy="1122624"/>
            <a:chOff x="0" y="0"/>
            <a:chExt cx="3600800" cy="1122623"/>
          </a:xfrm>
        </p:grpSpPr>
        <p:sp>
          <p:nvSpPr>
            <p:cNvPr id="378"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379"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pPr>
            </a:p>
          </p:txBody>
        </p:sp>
      </p:gr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sp>
        <p:nvSpPr>
          <p:cNvPr id="387" name="Title Text"/>
          <p:cNvSpPr txBox="1"/>
          <p:nvPr>
            <p:ph type="title"/>
          </p:nvPr>
        </p:nvSpPr>
        <p:spPr>
          <a:xfrm>
            <a:off x="831199" y="6522466"/>
            <a:ext cx="22721602" cy="2295201"/>
          </a:xfrm>
          <a:prstGeom prst="rect">
            <a:avLst/>
          </a:prstGeom>
        </p:spPr>
        <p:txBody>
          <a:bodyPr lIns="243799" tIns="243799" rIns="243799" bIns="243799" anchor="b"/>
          <a:lstStyle>
            <a:lvl1pPr algn="ctr">
              <a:lnSpc>
                <a:spcPct val="100000"/>
              </a:lnSpc>
              <a:defRPr b="1" spc="0" sz="13800">
                <a:solidFill>
                  <a:srgbClr val="1E3264"/>
                </a:solidFill>
                <a:latin typeface="Montserrat"/>
                <a:ea typeface="Montserrat"/>
                <a:cs typeface="Montserrat"/>
                <a:sym typeface="Montserrat"/>
              </a:defRPr>
            </a:lvl1pPr>
          </a:lstStyle>
          <a:p>
            <a:pPr/>
            <a:r>
              <a:t>Title Text</a:t>
            </a:r>
          </a:p>
        </p:txBody>
      </p:sp>
      <p:sp>
        <p:nvSpPr>
          <p:cNvPr id="388" name="Body Level One…"/>
          <p:cNvSpPr txBox="1"/>
          <p:nvPr>
            <p:ph type="body" sz="quarter" idx="1"/>
          </p:nvPr>
        </p:nvSpPr>
        <p:spPr>
          <a:xfrm>
            <a:off x="831199" y="8817666"/>
            <a:ext cx="22721602" cy="2113601"/>
          </a:xfrm>
          <a:prstGeom prst="rect">
            <a:avLst/>
          </a:prstGeom>
        </p:spPr>
        <p:txBody>
          <a:bodyPr lIns="243799" tIns="243799" rIns="243799" bIns="243799"/>
          <a:lstStyle>
            <a:lvl1pPr marL="914400" indent="-800100" algn="ctr" defTabSz="2438400">
              <a:lnSpc>
                <a:spcPct val="100000"/>
              </a:lnSpc>
              <a:spcBef>
                <a:spcPts val="0"/>
              </a:spcBef>
              <a:buSzTx/>
              <a:buNone/>
              <a:defRPr sz="7400">
                <a:solidFill>
                  <a:srgbClr val="1E3264"/>
                </a:solidFill>
                <a:latin typeface="Montserrat"/>
                <a:ea typeface="Montserrat"/>
                <a:cs typeface="Montserrat"/>
                <a:sym typeface="Montserrat"/>
              </a:defRPr>
            </a:lvl1pPr>
            <a:lvl2pPr marL="914400" indent="-317500" algn="ctr" defTabSz="2438400">
              <a:lnSpc>
                <a:spcPct val="100000"/>
              </a:lnSpc>
              <a:spcBef>
                <a:spcPts val="0"/>
              </a:spcBef>
              <a:buSzTx/>
              <a:buNone/>
              <a:defRPr sz="7400">
                <a:solidFill>
                  <a:srgbClr val="1E3264"/>
                </a:solidFill>
                <a:latin typeface="Montserrat"/>
                <a:ea typeface="Montserrat"/>
                <a:cs typeface="Montserrat"/>
                <a:sym typeface="Montserrat"/>
              </a:defRPr>
            </a:lvl2pPr>
            <a:lvl3pPr marL="914400" indent="139700" algn="ctr" defTabSz="2438400">
              <a:lnSpc>
                <a:spcPct val="100000"/>
              </a:lnSpc>
              <a:spcBef>
                <a:spcPts val="0"/>
              </a:spcBef>
              <a:buSzTx/>
              <a:buNone/>
              <a:defRPr sz="7400">
                <a:solidFill>
                  <a:srgbClr val="1E3264"/>
                </a:solidFill>
                <a:latin typeface="Montserrat"/>
                <a:ea typeface="Montserrat"/>
                <a:cs typeface="Montserrat"/>
                <a:sym typeface="Montserrat"/>
              </a:defRPr>
            </a:lvl3pPr>
            <a:lvl4pPr marL="914400" indent="596900" algn="ctr" defTabSz="2438400">
              <a:lnSpc>
                <a:spcPct val="100000"/>
              </a:lnSpc>
              <a:spcBef>
                <a:spcPts val="0"/>
              </a:spcBef>
              <a:buSzTx/>
              <a:buNone/>
              <a:defRPr sz="7400">
                <a:solidFill>
                  <a:srgbClr val="1E3264"/>
                </a:solidFill>
                <a:latin typeface="Montserrat"/>
                <a:ea typeface="Montserrat"/>
                <a:cs typeface="Montserrat"/>
                <a:sym typeface="Montserrat"/>
              </a:defRPr>
            </a:lvl4pPr>
            <a:lvl5pPr marL="914400" indent="1054100" algn="ctr" defTabSz="2438400">
              <a:lnSpc>
                <a:spcPct val="100000"/>
              </a:lnSpc>
              <a:spcBef>
                <a:spcPts val="0"/>
              </a:spcBef>
              <a:buSzTx/>
              <a:buNone/>
              <a:defRPr sz="7400">
                <a:solidFill>
                  <a:srgbClr val="1E3264"/>
                </a:solidFill>
                <a:latin typeface="Montserrat"/>
                <a:ea typeface="Montserrat"/>
                <a:cs typeface="Montserrat"/>
                <a:sym typeface="Montserrat"/>
              </a:defRPr>
            </a:lvl5pPr>
          </a:lstStyle>
          <a:p>
            <a:pPr/>
            <a:r>
              <a:t>Body Level One</a:t>
            </a:r>
          </a:p>
          <a:p>
            <a:pPr lvl="1"/>
            <a:r>
              <a:t>Body Level Two</a:t>
            </a:r>
          </a:p>
          <a:p>
            <a:pPr lvl="2"/>
            <a:r>
              <a:t>Body Level Three</a:t>
            </a:r>
          </a:p>
          <a:p>
            <a:pPr lvl="3"/>
            <a:r>
              <a:t>Body Level Four</a:t>
            </a:r>
          </a:p>
          <a:p>
            <a:pPr lvl="4"/>
            <a:r>
              <a:t>Body Level Five</a:t>
            </a:r>
          </a:p>
        </p:txBody>
      </p:sp>
      <p:sp>
        <p:nvSpPr>
          <p:cNvPr id="389" name="01"/>
          <p:cNvSpPr txBox="1"/>
          <p:nvPr>
            <p:ph type="sldNum" sz="quarter" idx="2"/>
          </p:nvPr>
        </p:nvSpPr>
        <p:spPr>
          <a:xfrm>
            <a:off x="853304" y="12524796"/>
            <a:ext cx="867584" cy="870499"/>
          </a:xfrm>
          <a:prstGeom prst="rect">
            <a:avLst/>
          </a:prstGeom>
        </p:spPr>
        <p:txBody>
          <a:bodyPr lIns="243799" tIns="243799" rIns="243799" bIns="243799" anchor="ctr"/>
          <a:lstStyle>
            <a:lvl1pPr algn="r" defTabSz="2438400">
              <a:defRPr sz="2600">
                <a:solidFill>
                  <a:srgbClr val="595959"/>
                </a:solidFill>
                <a:latin typeface="Arial"/>
                <a:ea typeface="Arial"/>
                <a:cs typeface="Arial"/>
                <a:sym typeface="Arial"/>
              </a:defRPr>
            </a:lvl1pPr>
          </a:lstStyle>
          <a:p>
            <a:pPr/>
            <a:fld id="{86CB4B4D-7CA3-9044-876B-883B54F8677D}" type="slidenum"/>
          </a:p>
        </p:txBody>
      </p:sp>
      <p:pic>
        <p:nvPicPr>
          <p:cNvPr id="390" name="Google Shape;58;p14" descr="Google Shape;58;p14"/>
          <p:cNvPicPr>
            <a:picLocks noChangeAspect="1"/>
          </p:cNvPicPr>
          <p:nvPr/>
        </p:nvPicPr>
        <p:blipFill>
          <a:blip r:embed="rId2">
            <a:extLst/>
          </a:blip>
          <a:stretch>
            <a:fillRect/>
          </a:stretch>
        </p:blipFill>
        <p:spPr>
          <a:xfrm>
            <a:off x="8067333" y="1078399"/>
            <a:ext cx="8249279" cy="5444071"/>
          </a:xfrm>
          <a:prstGeom prst="rect">
            <a:avLst/>
          </a:prstGeom>
          <a:ln w="12700">
            <a:miter lim="400000"/>
          </a:ln>
        </p:spPr>
      </p:pic>
      <p:grpSp>
        <p:nvGrpSpPr>
          <p:cNvPr id="393" name="Google Shape;71;p16"/>
          <p:cNvGrpSpPr/>
          <p:nvPr/>
        </p:nvGrpSpPr>
        <p:grpSpPr>
          <a:xfrm>
            <a:off x="20558334" y="12320333"/>
            <a:ext cx="3600801" cy="1122624"/>
            <a:chOff x="0" y="0"/>
            <a:chExt cx="3600800" cy="1122623"/>
          </a:xfrm>
        </p:grpSpPr>
        <p:sp>
          <p:nvSpPr>
            <p:cNvPr id="391" name="Google Shape;72;p16"/>
            <p:cNvSpPr txBox="1"/>
            <p:nvPr/>
          </p:nvSpPr>
          <p:spPr>
            <a:xfrm>
              <a:off x="0" y="0"/>
              <a:ext cx="3600801" cy="1122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spc="0" sz="4200">
                  <a:solidFill>
                    <a:srgbClr val="1E3264"/>
                  </a:solidFill>
                </a:defRPr>
              </a:lvl1pPr>
            </a:lstStyle>
            <a:p>
              <a:pPr/>
              <a:r>
                <a:t>aUToronto</a:t>
              </a:r>
            </a:p>
          </p:txBody>
        </p:sp>
        <p:sp>
          <p:nvSpPr>
            <p:cNvPr id="392" name="Google Shape;73;p16"/>
            <p:cNvSpPr/>
            <p:nvPr/>
          </p:nvSpPr>
          <p:spPr>
            <a:xfrm flipH="1" flipV="1">
              <a:off x="129200" y="992986"/>
              <a:ext cx="3342401" cy="1"/>
            </a:xfrm>
            <a:prstGeom prst="line">
              <a:avLst/>
            </a:prstGeom>
            <a:noFill/>
            <a:ln w="101600" cap="flat">
              <a:solidFill>
                <a:srgbClr val="1E3264"/>
              </a:solidFill>
              <a:prstDash val="solid"/>
              <a:round/>
            </a:ln>
            <a:effectLst/>
          </p:spPr>
          <p:txBody>
            <a:bodyPr wrap="square" lIns="0" tIns="0" rIns="0" bIns="0" numCol="1" anchor="t">
              <a:noAutofit/>
            </a:bodyPr>
            <a:lstStyle/>
            <a:p>
              <a:pPr algn="l" defTabSz="2438400">
                <a:defRPr b="0" spc="0" sz="3600"/>
              </a:pPr>
            </a:p>
          </p:txBody>
        </p:sp>
      </p:grpSp>
    </p:spTree>
  </p:cSld>
  <p:clrMapOvr>
    <a:masterClrMapping/>
  </p:clrMapOvr>
  <p:transition xmlns:p14="http://schemas.microsoft.com/office/powerpoint/2010/main" spd="med" advClick="1"/>
</p:sldLayout>
</file>

<file path=ppt/slideMasters/_rels/slideMaster1.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tif"/><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Rectangle"/>
          <p:cNvSpPr/>
          <p:nvPr/>
        </p:nvSpPr>
        <p:spPr>
          <a:xfrm>
            <a:off x="1193141" y="2125090"/>
            <a:ext cx="22345921" cy="249811"/>
          </a:xfrm>
          <a:prstGeom prst="rect">
            <a:avLst/>
          </a:prstGeom>
          <a:solidFill>
            <a:srgbClr val="2A3967"/>
          </a:solidFill>
          <a:ln w="12700">
            <a:miter lim="400000"/>
          </a:ln>
        </p:spPr>
        <p:txBody>
          <a:bodyPr lIns="50800" tIns="50800" rIns="50800" bIns="50800" anchor="ctr"/>
          <a:lstStyle/>
          <a:p>
            <a:pPr defTabSz="1130300">
              <a:defRPr b="0" spc="0" sz="3200"/>
            </a:pPr>
          </a:p>
        </p:txBody>
      </p:sp>
      <p:sp>
        <p:nvSpPr>
          <p:cNvPr id="5" name="Chad Paik"/>
          <p:cNvSpPr txBox="1"/>
          <p:nvPr/>
        </p:nvSpPr>
        <p:spPr>
          <a:xfrm>
            <a:off x="22915498" y="13279152"/>
            <a:ext cx="1468503" cy="4368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9" sz="2000"/>
            </a:lvl1pPr>
          </a:lstStyle>
          <a:p>
            <a:pPr/>
            <a:r>
              <a:t>Chad Paik</a:t>
            </a:r>
          </a:p>
        </p:txBody>
      </p:sp>
      <p:pic>
        <p:nvPicPr>
          <p:cNvPr id="6" name="pasted-image.tiff" descr="pasted-image.tiff"/>
          <p:cNvPicPr>
            <a:picLocks noChangeAspect="1"/>
          </p:cNvPicPr>
          <p:nvPr/>
        </p:nvPicPr>
        <p:blipFill>
          <a:blip r:embed="rId2">
            <a:extLst/>
          </a:blip>
          <a:stretch>
            <a:fillRect/>
          </a:stretch>
        </p:blipFill>
        <p:spPr>
          <a:xfrm>
            <a:off x="-421217" y="11997097"/>
            <a:ext cx="6691329" cy="1837437"/>
          </a:xfrm>
          <a:prstGeom prst="rect">
            <a:avLst/>
          </a:prstGeom>
          <a:ln w="12700">
            <a:miter lim="400000"/>
          </a:ln>
        </p:spPr>
      </p:pic>
      <p:sp>
        <p:nvSpPr>
          <p:cNvPr id="7" name="01"/>
          <p:cNvSpPr txBox="1"/>
          <p:nvPr>
            <p:ph type="sldNum" sz="quarter" idx="2"/>
          </p:nvPr>
        </p:nvSpPr>
        <p:spPr>
          <a:xfrm>
            <a:off x="11996419" y="12727687"/>
            <a:ext cx="391161" cy="401574"/>
          </a:xfrm>
          <a:prstGeom prst="rect">
            <a:avLst/>
          </a:prstGeom>
          <a:ln w="12700">
            <a:miter lim="400000"/>
          </a:ln>
        </p:spPr>
        <p:txBody>
          <a:bodyPr wrap="none" lIns="50800" tIns="50800" rIns="50800" bIns="50800" anchor="b">
            <a:spAutoFit/>
          </a:bodyPr>
          <a:lstStyle>
            <a:lvl1pPr defTabSz="584200">
              <a:defRPr b="0" spc="0" sz="2000">
                <a:solidFill>
                  <a:srgbClr val="5E5E5E"/>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Lst>
  <p:transition xmlns:p14="http://schemas.microsoft.com/office/powerpoint/2010/main" spd="med" advClick="1"/>
  <p:txStyles>
    <p:titleStyle>
      <a:lvl1pPr marL="0" marR="0" indent="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1pPr>
      <a:lvl2pPr marL="0" marR="0" indent="4572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2pPr>
      <a:lvl3pPr marL="0" marR="0" indent="9144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3pPr>
      <a:lvl4pPr marL="0" marR="0" indent="13716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4pPr>
      <a:lvl5pPr marL="0" marR="0" indent="18288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5pPr>
      <a:lvl6pPr marL="0" marR="0" indent="22860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6pPr>
      <a:lvl7pPr marL="0" marR="0" indent="27432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7pPr>
      <a:lvl8pPr marL="0" marR="0" indent="32004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8pPr>
      <a:lvl9pPr marL="0" marR="0" indent="3657600" algn="l" defTabSz="243840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PT Sans"/>
        </a:defRPr>
      </a:lvl9pPr>
    </p:titleStyle>
    <p:bodyStyle>
      <a:lvl1pPr marL="5461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1pPr>
      <a:lvl2pPr marL="10922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2pPr>
      <a:lvl3pPr marL="16383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3pPr>
      <a:lvl4pPr marL="21844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4pPr>
      <a:lvl5pPr marL="27305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5pPr>
      <a:lvl6pPr marL="32766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6pPr>
      <a:lvl7pPr marL="38227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7pPr>
      <a:lvl8pPr marL="43688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8pPr>
      <a:lvl9pPr marL="4914900" marR="0" indent="-546100" algn="l" defTabSz="2438338" latinLnBrk="0">
        <a:lnSpc>
          <a:spcPct val="90000"/>
        </a:lnSpc>
        <a:spcBef>
          <a:spcPts val="2400"/>
        </a:spcBef>
        <a:spcAft>
          <a:spcPts val="0"/>
        </a:spcAft>
        <a:buClrTx/>
        <a:buSzPct val="150000"/>
        <a:buFontTx/>
        <a:buChar char="•"/>
        <a:tabLst/>
        <a:defRPr b="1" baseline="0" cap="none" i="0" spc="0" strike="noStrike" sz="4400" u="none">
          <a:solidFill>
            <a:srgbClr val="000000"/>
          </a:solidFill>
          <a:uFillTx/>
          <a:latin typeface="+mn-lt"/>
          <a:ea typeface="+mn-ea"/>
          <a:cs typeface="+mn-cs"/>
          <a:sym typeface="PT Sans"/>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PT San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jpeg"/><Relationship Id="rId5" Type="http://schemas.openxmlformats.org/officeDocument/2006/relationships/image" Target="../media/image2.jpeg"/><Relationship Id="rId6" Type="http://schemas.openxmlformats.org/officeDocument/2006/relationships/image" Target="../media/image6.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hyperlink" Target="http://user.id" TargetMode="External"/></Relationships>
</file>

<file path=ppt/slides/_rels/slide21.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9.png"/></Relationships>
</file>

<file path=ppt/slides/_rels/slide28.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 Id="rId3" Type="http://schemas.openxmlformats.org/officeDocument/2006/relationships/image" Target="../media/image11.png"/></Relationships>
</file>

<file path=ppt/slides/_rels/slide37.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png"/></Relationships>
</file>

<file path=ppt/slides/_rels/slide38.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s>
</file>

<file path=ppt/slides/_rels/slide43.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jpeg"/></Relationships>
</file>

<file path=ppt/slides/_rels/slide44.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51.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52.xml.rels><?xml version="1.0" encoding="UTF-8"?><Relationships xmlns="http://schemas.openxmlformats.org/package/2006/relationships"><Relationship Id="rId1" Type="http://schemas.openxmlformats.org/officeDocument/2006/relationships/slideLayout" Target="../slideLayouts/slideLayout30.xml"/></Relationships>
</file>

<file path=ppt/slides/_rels/slide53.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5.xml.rels><?xml version="1.0" encoding="UTF-8"?><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2.tif"/><Relationship Id="rId3" Type="http://schemas.openxmlformats.org/officeDocument/2006/relationships/image" Target="../media/image3.tif"/><Relationship Id="rId4" Type="http://schemas.openxmlformats.org/officeDocument/2006/relationships/image" Target="../media/image4.tif"/><Relationship Id="rId5" Type="http://schemas.openxmlformats.org/officeDocument/2006/relationships/image" Target="../media/image5.tif"/><Relationship Id="rId6" Type="http://schemas.openxmlformats.org/officeDocument/2006/relationships/image" Target="../media/image6.tif"/></Relationships>
</file>

<file path=ppt/slides/_rels/slide57.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hyperlink" Target="https://arxiv.org/pdf/2108.05249" TargetMode="External"/></Relationships>
</file>

<file path=ppt/slides/_rels/slide60.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61.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62.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Relationships xmlns="http://schemas.openxmlformats.org/package/2006/relationships"><Relationship Id="rId1" Type="http://schemas.openxmlformats.org/officeDocument/2006/relationships/slideLayout" Target="../slideLayouts/slideLayout33.xml"/></Relationships>
</file>

<file path=ppt/slides/_rels/slide64.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2" name="Google Shape;133;p28"/>
          <p:cNvSpPr txBox="1"/>
          <p:nvPr>
            <p:ph type="title"/>
          </p:nvPr>
        </p:nvSpPr>
        <p:spPr>
          <a:xfrm>
            <a:off x="831199" y="7023733"/>
            <a:ext cx="22721602" cy="2295201"/>
          </a:xfrm>
          <a:prstGeom prst="rect">
            <a:avLst/>
          </a:prstGeom>
        </p:spPr>
        <p:txBody>
          <a:bodyPr/>
          <a:lstStyle>
            <a:lvl1pPr defTabSz="2097023">
              <a:defRPr sz="11868"/>
            </a:lvl1pPr>
          </a:lstStyle>
          <a:p>
            <a:pPr/>
            <a:r>
              <a:t>aUToronto</a:t>
            </a:r>
          </a:p>
        </p:txBody>
      </p:sp>
      <p:sp>
        <p:nvSpPr>
          <p:cNvPr id="403" name="Google Shape;134;p28"/>
          <p:cNvSpPr txBox="1"/>
          <p:nvPr>
            <p:ph type="body" sz="quarter" idx="1"/>
          </p:nvPr>
        </p:nvSpPr>
        <p:spPr>
          <a:xfrm>
            <a:off x="831199" y="8817666"/>
            <a:ext cx="22721602" cy="1702401"/>
          </a:xfrm>
          <a:prstGeom prst="rect">
            <a:avLst/>
          </a:prstGeom>
        </p:spPr>
        <p:txBody>
          <a:bodyPr/>
          <a:lstStyle>
            <a:lvl1pPr marL="0" indent="0"/>
          </a:lstStyle>
          <a:p>
            <a:pPr/>
            <a:r>
              <a:t>Mobility Innovation Challenge</a:t>
            </a:r>
          </a:p>
        </p:txBody>
      </p:sp>
      <p:sp>
        <p:nvSpPr>
          <p:cNvPr id="404" name="Google Shape;136;p28"/>
          <p:cNvSpPr txBox="1"/>
          <p:nvPr/>
        </p:nvSpPr>
        <p:spPr>
          <a:xfrm>
            <a:off x="1095866" y="10748066"/>
            <a:ext cx="22721601" cy="1702401"/>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normAutofit fontScale="100000" lnSpcReduction="0"/>
          </a:bodyPr>
          <a:lstStyle>
            <a:lvl1pPr defTabSz="2438400">
              <a:defRPr b="0" spc="0" sz="3600">
                <a:solidFill>
                  <a:srgbClr val="1E3264"/>
                </a:solidFill>
                <a:latin typeface="Montserrat"/>
                <a:ea typeface="Montserrat"/>
                <a:cs typeface="Montserrat"/>
                <a:sym typeface="Montserrat"/>
              </a:defRPr>
            </a:lvl1pPr>
          </a:lstStyle>
          <a:p>
            <a:pPr/>
            <a:r>
              <a:t>Prithvi, Amanda, Forest, Ailing, Nevan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Google Shape;165;p30"/>
          <p:cNvSpPr txBox="1"/>
          <p:nvPr>
            <p:ph type="title"/>
          </p:nvPr>
        </p:nvSpPr>
        <p:spPr>
          <a:xfrm>
            <a:off x="831199" y="277666"/>
            <a:ext cx="22721602" cy="1527201"/>
          </a:xfrm>
          <a:prstGeom prst="rect">
            <a:avLst/>
          </a:prstGeom>
        </p:spPr>
        <p:txBody>
          <a:bodyPr/>
          <a:lstStyle>
            <a:lvl1pPr defTabSz="2145791">
              <a:defRPr spc="211" sz="7040"/>
            </a:lvl1pPr>
          </a:lstStyle>
          <a:p>
            <a:pPr/>
            <a:r>
              <a:t>aUToronto’s Mobility Innovation Team</a:t>
            </a:r>
          </a:p>
        </p:txBody>
      </p:sp>
      <p:sp>
        <p:nvSpPr>
          <p:cNvPr id="409" name="Google Shape;166;p30"/>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419" name="Group"/>
          <p:cNvGrpSpPr/>
          <p:nvPr/>
        </p:nvGrpSpPr>
        <p:grpSpPr>
          <a:xfrm>
            <a:off x="5847675" y="8612568"/>
            <a:ext cx="12688649" cy="3447210"/>
            <a:chOff x="0" y="0"/>
            <a:chExt cx="12688647" cy="3447208"/>
          </a:xfrm>
        </p:grpSpPr>
        <p:grpSp>
          <p:nvGrpSpPr>
            <p:cNvPr id="412" name="Group"/>
            <p:cNvGrpSpPr/>
            <p:nvPr/>
          </p:nvGrpSpPr>
          <p:grpSpPr>
            <a:xfrm>
              <a:off x="3571369" y="48966"/>
              <a:ext cx="5593602" cy="3363385"/>
              <a:chOff x="0" y="0"/>
              <a:chExt cx="5593600" cy="3363383"/>
            </a:xfrm>
          </p:grpSpPr>
          <p:sp>
            <p:nvSpPr>
              <p:cNvPr id="410" name="Google Shape;148;p29"/>
              <p:cNvSpPr/>
              <p:nvPr/>
            </p:nvSpPr>
            <p:spPr>
              <a:xfrm>
                <a:off x="0" y="3307059"/>
                <a:ext cx="559360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Ailing Ji</a:t>
                </a:r>
              </a:p>
              <a:p>
                <a:pPr defTabSz="2438400">
                  <a:defRPr b="0" spc="0" sz="3200">
                    <a:solidFill>
                      <a:srgbClr val="595959"/>
                    </a:solidFill>
                    <a:latin typeface="Helvetica"/>
                    <a:ea typeface="Helvetica"/>
                    <a:cs typeface="Helvetica"/>
                    <a:sym typeface="Helvetica"/>
                  </a:defRPr>
                </a:pPr>
                <a:r>
                  <a:t>Member</a:t>
                </a:r>
              </a:p>
            </p:txBody>
          </p:sp>
          <p:pic>
            <p:nvPicPr>
              <p:cNvPr id="411" name="Screenshot 2026-02-23 at 7.07.31 PM.png" descr="Screenshot 2026-02-23 at 7.07.31 PM.png"/>
              <p:cNvPicPr>
                <a:picLocks noChangeAspect="1"/>
              </p:cNvPicPr>
              <p:nvPr/>
            </p:nvPicPr>
            <p:blipFill>
              <a:blip r:embed="rId3">
                <a:extLst/>
              </a:blip>
              <a:srcRect l="8922" t="0" r="8922" b="0"/>
              <a:stretch>
                <a:fillRect/>
              </a:stretch>
            </p:blipFill>
            <p:spPr>
              <a:xfrm>
                <a:off x="1463250" y="0"/>
                <a:ext cx="2667100" cy="3363384"/>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9839" y="0"/>
                    </a:moveTo>
                    <a:cubicBezTo>
                      <a:pt x="7321" y="0"/>
                      <a:pt x="4803" y="1054"/>
                      <a:pt x="2881" y="3163"/>
                    </a:cubicBezTo>
                    <a:cubicBezTo>
                      <a:pt x="-961" y="7380"/>
                      <a:pt x="-961" y="14220"/>
                      <a:pt x="2881" y="18437"/>
                    </a:cubicBezTo>
                    <a:cubicBezTo>
                      <a:pt x="4803" y="20546"/>
                      <a:pt x="7321" y="21600"/>
                      <a:pt x="9839" y="21600"/>
                    </a:cubicBezTo>
                    <a:cubicBezTo>
                      <a:pt x="12357" y="21600"/>
                      <a:pt x="14875" y="20546"/>
                      <a:pt x="16797" y="18437"/>
                    </a:cubicBezTo>
                    <a:cubicBezTo>
                      <a:pt x="20639" y="14220"/>
                      <a:pt x="20639" y="7380"/>
                      <a:pt x="16797" y="3163"/>
                    </a:cubicBezTo>
                    <a:cubicBezTo>
                      <a:pt x="14875" y="1054"/>
                      <a:pt x="12357" y="0"/>
                      <a:pt x="9839" y="0"/>
                    </a:cubicBez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nvGrpSpPr>
            <p:cNvPr id="415" name="Group"/>
            <p:cNvGrpSpPr/>
            <p:nvPr/>
          </p:nvGrpSpPr>
          <p:grpSpPr>
            <a:xfrm>
              <a:off x="9583549" y="83825"/>
              <a:ext cx="3105099" cy="3363384"/>
              <a:chOff x="0" y="0"/>
              <a:chExt cx="3105098" cy="3363383"/>
            </a:xfrm>
          </p:grpSpPr>
          <p:sp>
            <p:nvSpPr>
              <p:cNvPr id="413" name="Google Shape;145;p29"/>
              <p:cNvSpPr/>
              <p:nvPr/>
            </p:nvSpPr>
            <p:spPr>
              <a:xfrm>
                <a:off x="0" y="3237342"/>
                <a:ext cx="310509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Nevan Kho</a:t>
                </a:r>
              </a:p>
              <a:p>
                <a:pPr defTabSz="2438400">
                  <a:defRPr b="0" spc="0" sz="3200">
                    <a:solidFill>
                      <a:srgbClr val="595959"/>
                    </a:solidFill>
                    <a:latin typeface="Helvetica"/>
                    <a:ea typeface="Helvetica"/>
                    <a:cs typeface="Helvetica"/>
                    <a:sym typeface="Helvetica"/>
                  </a:defRPr>
                </a:pPr>
                <a:r>
                  <a:t>Member</a:t>
                </a:r>
              </a:p>
            </p:txBody>
          </p:sp>
          <p:pic>
            <p:nvPicPr>
              <p:cNvPr id="414" name="Screenshot 2026-02-23 at 7.07.31 PM.png" descr="Screenshot 2026-02-23 at 7.07.31 PM.png"/>
              <p:cNvPicPr>
                <a:picLocks noChangeAspect="1"/>
              </p:cNvPicPr>
              <p:nvPr/>
            </p:nvPicPr>
            <p:blipFill>
              <a:blip r:embed="rId3">
                <a:extLst/>
              </a:blip>
              <a:srcRect l="8922" t="0" r="8922" b="0"/>
              <a:stretch>
                <a:fillRect/>
              </a:stretch>
            </p:blipFill>
            <p:spPr>
              <a:xfrm>
                <a:off x="218999" y="0"/>
                <a:ext cx="2667100" cy="3363384"/>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9839" y="0"/>
                    </a:moveTo>
                    <a:cubicBezTo>
                      <a:pt x="7321" y="0"/>
                      <a:pt x="4803" y="1054"/>
                      <a:pt x="2881" y="3163"/>
                    </a:cubicBezTo>
                    <a:cubicBezTo>
                      <a:pt x="-961" y="7380"/>
                      <a:pt x="-961" y="14220"/>
                      <a:pt x="2881" y="18437"/>
                    </a:cubicBezTo>
                    <a:cubicBezTo>
                      <a:pt x="4803" y="20546"/>
                      <a:pt x="7321" y="21600"/>
                      <a:pt x="9839" y="21600"/>
                    </a:cubicBezTo>
                    <a:cubicBezTo>
                      <a:pt x="12357" y="21600"/>
                      <a:pt x="14875" y="20546"/>
                      <a:pt x="16797" y="18437"/>
                    </a:cubicBezTo>
                    <a:cubicBezTo>
                      <a:pt x="20639" y="14220"/>
                      <a:pt x="20639" y="7380"/>
                      <a:pt x="16797" y="3163"/>
                    </a:cubicBezTo>
                    <a:cubicBezTo>
                      <a:pt x="14875" y="1054"/>
                      <a:pt x="12357" y="0"/>
                      <a:pt x="9839" y="0"/>
                    </a:cubicBez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nvGrpSpPr>
            <p:cNvPr id="418" name="Group"/>
            <p:cNvGrpSpPr/>
            <p:nvPr/>
          </p:nvGrpSpPr>
          <p:grpSpPr>
            <a:xfrm>
              <a:off x="0" y="0"/>
              <a:ext cx="3389141" cy="3404994"/>
              <a:chOff x="0" y="0"/>
              <a:chExt cx="3389140" cy="3404993"/>
            </a:xfrm>
          </p:grpSpPr>
          <p:sp>
            <p:nvSpPr>
              <p:cNvPr id="416" name="Google Shape;147;p29"/>
              <p:cNvSpPr/>
              <p:nvPr/>
            </p:nvSpPr>
            <p:spPr>
              <a:xfrm>
                <a:off x="0" y="3404993"/>
                <a:ext cx="338914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Forest Li</a:t>
                </a:r>
              </a:p>
              <a:p>
                <a:pPr defTabSz="2438400">
                  <a:defRPr b="0" spc="0" sz="3200">
                    <a:solidFill>
                      <a:srgbClr val="595959"/>
                    </a:solidFill>
                    <a:latin typeface="Helvetica"/>
                    <a:ea typeface="Helvetica"/>
                    <a:cs typeface="Helvetica"/>
                    <a:sym typeface="Helvetica"/>
                  </a:defRPr>
                </a:pPr>
                <a:r>
                  <a:t>Member</a:t>
                </a:r>
              </a:p>
            </p:txBody>
          </p:sp>
          <p:pic>
            <p:nvPicPr>
              <p:cNvPr id="417" name="Screenshot 2026-02-23 at 7.07.31 PM.png" descr="Screenshot 2026-02-23 at 7.07.31 PM.png"/>
              <p:cNvPicPr>
                <a:picLocks noChangeAspect="1"/>
              </p:cNvPicPr>
              <p:nvPr/>
            </p:nvPicPr>
            <p:blipFill>
              <a:blip r:embed="rId3">
                <a:extLst/>
              </a:blip>
              <a:srcRect l="8922" t="0" r="8922" b="0"/>
              <a:stretch>
                <a:fillRect/>
              </a:stretch>
            </p:blipFill>
            <p:spPr>
              <a:xfrm>
                <a:off x="361021" y="0"/>
                <a:ext cx="2667100" cy="3363384"/>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9839" y="0"/>
                    </a:moveTo>
                    <a:cubicBezTo>
                      <a:pt x="7321" y="0"/>
                      <a:pt x="4803" y="1054"/>
                      <a:pt x="2881" y="3163"/>
                    </a:cubicBezTo>
                    <a:cubicBezTo>
                      <a:pt x="-961" y="7380"/>
                      <a:pt x="-961" y="14220"/>
                      <a:pt x="2881" y="18437"/>
                    </a:cubicBezTo>
                    <a:cubicBezTo>
                      <a:pt x="4803" y="20546"/>
                      <a:pt x="7321" y="21600"/>
                      <a:pt x="9839" y="21600"/>
                    </a:cubicBezTo>
                    <a:cubicBezTo>
                      <a:pt x="12357" y="21600"/>
                      <a:pt x="14875" y="20546"/>
                      <a:pt x="16797" y="18437"/>
                    </a:cubicBezTo>
                    <a:cubicBezTo>
                      <a:pt x="20639" y="14220"/>
                      <a:pt x="20639" y="7380"/>
                      <a:pt x="16797" y="3163"/>
                    </a:cubicBezTo>
                    <a:cubicBezTo>
                      <a:pt x="14875" y="1054"/>
                      <a:pt x="12357" y="0"/>
                      <a:pt x="9839" y="0"/>
                    </a:cubicBez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grpSp>
        <p:nvGrpSpPr>
          <p:cNvPr id="430" name="Group"/>
          <p:cNvGrpSpPr/>
          <p:nvPr/>
        </p:nvGrpSpPr>
        <p:grpSpPr>
          <a:xfrm>
            <a:off x="5660711" y="2835671"/>
            <a:ext cx="13121645" cy="3363551"/>
            <a:chOff x="0" y="0"/>
            <a:chExt cx="13121643" cy="3363549"/>
          </a:xfrm>
        </p:grpSpPr>
        <p:grpSp>
          <p:nvGrpSpPr>
            <p:cNvPr id="426" name="Group"/>
            <p:cNvGrpSpPr/>
            <p:nvPr/>
          </p:nvGrpSpPr>
          <p:grpSpPr>
            <a:xfrm>
              <a:off x="4440843" y="-1"/>
              <a:ext cx="8680801" cy="3363551"/>
              <a:chOff x="0" y="0"/>
              <a:chExt cx="8680800" cy="3363549"/>
            </a:xfrm>
          </p:grpSpPr>
          <p:grpSp>
            <p:nvGrpSpPr>
              <p:cNvPr id="422" name="Group"/>
              <p:cNvGrpSpPr/>
              <p:nvPr/>
            </p:nvGrpSpPr>
            <p:grpSpPr>
              <a:xfrm>
                <a:off x="5080000" y="-1"/>
                <a:ext cx="3600801" cy="3363385"/>
                <a:chOff x="0" y="0"/>
                <a:chExt cx="3600799" cy="3363383"/>
              </a:xfrm>
            </p:grpSpPr>
            <p:sp>
              <p:nvSpPr>
                <p:cNvPr id="420" name="Google Shape;146;p29"/>
                <p:cNvSpPr/>
                <p:nvPr/>
              </p:nvSpPr>
              <p:spPr>
                <a:xfrm>
                  <a:off x="0" y="3307058"/>
                  <a:ext cx="36008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Prithvi Seran</a:t>
                  </a:r>
                </a:p>
                <a:p>
                  <a:pPr defTabSz="2438400">
                    <a:defRPr b="0" spc="0" sz="3200">
                      <a:solidFill>
                        <a:srgbClr val="595959"/>
                      </a:solidFill>
                      <a:latin typeface="Helvetica"/>
                      <a:ea typeface="Helvetica"/>
                      <a:cs typeface="Helvetica"/>
                      <a:sym typeface="Helvetica"/>
                    </a:defRPr>
                  </a:pPr>
                  <a:r>
                    <a:t>Mobility Innovation Lead</a:t>
                  </a:r>
                </a:p>
              </p:txBody>
            </p:sp>
            <p:pic>
              <p:nvPicPr>
                <p:cNvPr id="421" name="prithvi.jpeg" descr="prithvi.jpeg"/>
                <p:cNvPicPr>
                  <a:picLocks noChangeAspect="1"/>
                </p:cNvPicPr>
                <p:nvPr/>
              </p:nvPicPr>
              <p:blipFill>
                <a:blip r:embed="rId4">
                  <a:extLst/>
                </a:blip>
                <a:srcRect l="23514" t="0" r="23514" b="0"/>
                <a:stretch>
                  <a:fillRect/>
                </a:stretch>
              </p:blipFill>
              <p:spPr>
                <a:xfrm>
                  <a:off x="520784" y="0"/>
                  <a:ext cx="2667100" cy="3363384"/>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9839" y="0"/>
                      </a:moveTo>
                      <a:cubicBezTo>
                        <a:pt x="7321" y="0"/>
                        <a:pt x="4803" y="1054"/>
                        <a:pt x="2881" y="3163"/>
                      </a:cubicBezTo>
                      <a:cubicBezTo>
                        <a:pt x="-961" y="7380"/>
                        <a:pt x="-961" y="14220"/>
                        <a:pt x="2881" y="18437"/>
                      </a:cubicBezTo>
                      <a:cubicBezTo>
                        <a:pt x="4803" y="20546"/>
                        <a:pt x="7321" y="21600"/>
                        <a:pt x="9839" y="21600"/>
                      </a:cubicBezTo>
                      <a:cubicBezTo>
                        <a:pt x="12357" y="21600"/>
                        <a:pt x="14875" y="20546"/>
                        <a:pt x="16797" y="18437"/>
                      </a:cubicBezTo>
                      <a:cubicBezTo>
                        <a:pt x="20639" y="14220"/>
                        <a:pt x="20639" y="7380"/>
                        <a:pt x="16797" y="3163"/>
                      </a:cubicBezTo>
                      <a:cubicBezTo>
                        <a:pt x="14875" y="1054"/>
                        <a:pt x="12357" y="0"/>
                        <a:pt x="9839" y="0"/>
                      </a:cubicBez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nvGrpSpPr>
              <p:cNvPr id="425" name="Group"/>
              <p:cNvGrpSpPr/>
              <p:nvPr/>
            </p:nvGrpSpPr>
            <p:grpSpPr>
              <a:xfrm>
                <a:off x="0" y="0"/>
                <a:ext cx="3600801" cy="3363550"/>
                <a:chOff x="0" y="0"/>
                <a:chExt cx="3600800" cy="3363549"/>
              </a:xfrm>
            </p:grpSpPr>
            <p:sp>
              <p:nvSpPr>
                <p:cNvPr id="423" name="Google Shape;143;p29"/>
                <p:cNvSpPr/>
                <p:nvPr/>
              </p:nvSpPr>
              <p:spPr>
                <a:xfrm>
                  <a:off x="0" y="3237342"/>
                  <a:ext cx="360080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Amanda Liu</a:t>
                  </a:r>
                </a:p>
                <a:p>
                  <a:pPr defTabSz="2438400">
                    <a:defRPr b="0" spc="0" sz="3200">
                      <a:solidFill>
                        <a:srgbClr val="595959"/>
                      </a:solidFill>
                      <a:latin typeface="Helvetica"/>
                      <a:ea typeface="Helvetica"/>
                      <a:cs typeface="Helvetica"/>
                      <a:sym typeface="Helvetica"/>
                    </a:defRPr>
                  </a:pPr>
                  <a:r>
                    <a:t>Mobility Innovation Lead</a:t>
                  </a:r>
                </a:p>
              </p:txBody>
            </p:sp>
            <p:pic>
              <p:nvPicPr>
                <p:cNvPr id="424" name="amanda.jpeg" descr="amanda.jpeg"/>
                <p:cNvPicPr>
                  <a:picLocks noChangeAspect="1"/>
                </p:cNvPicPr>
                <p:nvPr/>
              </p:nvPicPr>
              <p:blipFill>
                <a:blip r:embed="rId5">
                  <a:extLst/>
                </a:blip>
                <a:srcRect l="0" t="12407" r="0" b="3514"/>
                <a:stretch>
                  <a:fillRect/>
                </a:stretch>
              </p:blipFill>
              <p:spPr>
                <a:xfrm>
                  <a:off x="520834" y="0"/>
                  <a:ext cx="2667001" cy="3363550"/>
                </a:xfrm>
                <a:custGeom>
                  <a:avLst/>
                  <a:gdLst/>
                  <a:ahLst/>
                  <a:cxnLst>
                    <a:cxn ang="0">
                      <a:pos x="wd2" y="hd2"/>
                    </a:cxn>
                    <a:cxn ang="5400000">
                      <a:pos x="wd2" y="hd2"/>
                    </a:cxn>
                    <a:cxn ang="10800000">
                      <a:pos x="wd2" y="hd2"/>
                    </a:cxn>
                    <a:cxn ang="16200000">
                      <a:pos x="wd2" y="hd2"/>
                    </a:cxn>
                  </a:cxnLst>
                  <a:rect l="0" t="0" r="r" b="b"/>
                  <a:pathLst>
                    <a:path w="21600" h="20595" fill="norm" stroke="1" extrusionOk="0">
                      <a:moveTo>
                        <a:pt x="10800" y="0"/>
                      </a:moveTo>
                      <a:cubicBezTo>
                        <a:pt x="8036" y="0"/>
                        <a:pt x="5272" y="1005"/>
                        <a:pt x="3163" y="3016"/>
                      </a:cubicBezTo>
                      <a:cubicBezTo>
                        <a:pt x="1054" y="5026"/>
                        <a:pt x="0" y="7661"/>
                        <a:pt x="0" y="10296"/>
                      </a:cubicBezTo>
                      <a:cubicBezTo>
                        <a:pt x="0" y="12931"/>
                        <a:pt x="1054" y="15568"/>
                        <a:pt x="3163" y="17579"/>
                      </a:cubicBezTo>
                      <a:cubicBezTo>
                        <a:pt x="7381" y="21600"/>
                        <a:pt x="14219" y="21600"/>
                        <a:pt x="18437" y="17579"/>
                      </a:cubicBezTo>
                      <a:cubicBezTo>
                        <a:pt x="20546" y="15568"/>
                        <a:pt x="21600" y="12931"/>
                        <a:pt x="21600" y="10296"/>
                      </a:cubicBezTo>
                      <a:cubicBezTo>
                        <a:pt x="21600" y="7661"/>
                        <a:pt x="20546" y="5026"/>
                        <a:pt x="18437" y="3016"/>
                      </a:cubicBezTo>
                      <a:cubicBezTo>
                        <a:pt x="16328" y="1005"/>
                        <a:pt x="13564" y="0"/>
                        <a:pt x="10800" y="0"/>
                      </a:cubicBez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grpSp>
          <p:nvGrpSpPr>
            <p:cNvPr id="429" name="Group"/>
            <p:cNvGrpSpPr/>
            <p:nvPr/>
          </p:nvGrpSpPr>
          <p:grpSpPr>
            <a:xfrm>
              <a:off x="0" y="7586"/>
              <a:ext cx="3390034" cy="3348212"/>
              <a:chOff x="0" y="7586"/>
              <a:chExt cx="3390033" cy="3348211"/>
            </a:xfrm>
          </p:grpSpPr>
          <p:sp>
            <p:nvSpPr>
              <p:cNvPr id="427" name="Google Shape;157;p29"/>
              <p:cNvSpPr/>
              <p:nvPr/>
            </p:nvSpPr>
            <p:spPr>
              <a:xfrm>
                <a:off x="0" y="3307059"/>
                <a:ext cx="3390034"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p>
                <a:pPr defTabSz="2438400">
                  <a:defRPr spc="0" sz="3200">
                    <a:solidFill>
                      <a:srgbClr val="595959"/>
                    </a:solidFill>
                    <a:latin typeface="Helvetica"/>
                    <a:ea typeface="Helvetica"/>
                    <a:cs typeface="Helvetica"/>
                    <a:sym typeface="Helvetica"/>
                  </a:defRPr>
                </a:pPr>
                <a:r>
                  <a:t>Chad Paik</a:t>
                </a:r>
                <a:r>
                  <a:rPr b="0"/>
                  <a:t xml:space="preserve"> </a:t>
                </a:r>
              </a:p>
              <a:p>
                <a:pPr defTabSz="2438400">
                  <a:defRPr b="0" spc="0" sz="3200">
                    <a:solidFill>
                      <a:srgbClr val="595959"/>
                    </a:solidFill>
                    <a:latin typeface="Helvetica"/>
                    <a:ea typeface="Helvetica"/>
                    <a:cs typeface="Helvetica"/>
                    <a:sym typeface="Helvetica"/>
                  </a:defRPr>
                </a:pPr>
                <a:r>
                  <a:t>Team Principal</a:t>
                </a:r>
              </a:p>
            </p:txBody>
          </p:sp>
          <p:pic>
            <p:nvPicPr>
              <p:cNvPr id="428" name="Google Shape;158;p29" descr="Google Shape;158;p29"/>
              <p:cNvPicPr>
                <a:picLocks noChangeAspect="1"/>
              </p:cNvPicPr>
              <p:nvPr/>
            </p:nvPicPr>
            <p:blipFill>
              <a:blip r:embed="rId6">
                <a:extLst/>
              </a:blip>
              <a:srcRect l="17488" t="0" r="17488" b="0"/>
              <a:stretch>
                <a:fillRect/>
              </a:stretch>
            </p:blipFill>
            <p:spPr>
              <a:xfrm>
                <a:off x="361467" y="7586"/>
                <a:ext cx="2667100" cy="3348212"/>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8896" y="0"/>
                    </a:moveTo>
                    <a:cubicBezTo>
                      <a:pt x="6701" y="232"/>
                      <a:pt x="4562" y="1275"/>
                      <a:pt x="2881" y="3129"/>
                    </a:cubicBezTo>
                    <a:cubicBezTo>
                      <a:pt x="-961" y="7365"/>
                      <a:pt x="-961" y="14235"/>
                      <a:pt x="2881" y="18471"/>
                    </a:cubicBezTo>
                    <a:cubicBezTo>
                      <a:pt x="4574" y="20338"/>
                      <a:pt x="6731" y="21378"/>
                      <a:pt x="8943" y="21600"/>
                    </a:cubicBezTo>
                    <a:lnTo>
                      <a:pt x="10735" y="21600"/>
                    </a:lnTo>
                    <a:cubicBezTo>
                      <a:pt x="12947" y="21378"/>
                      <a:pt x="15104" y="20338"/>
                      <a:pt x="16797" y="18471"/>
                    </a:cubicBezTo>
                    <a:cubicBezTo>
                      <a:pt x="20639" y="14235"/>
                      <a:pt x="20639" y="7365"/>
                      <a:pt x="16797" y="3129"/>
                    </a:cubicBezTo>
                    <a:cubicBezTo>
                      <a:pt x="15116" y="1275"/>
                      <a:pt x="12977" y="232"/>
                      <a:pt x="10782" y="0"/>
                    </a:cubicBezTo>
                    <a:lnTo>
                      <a:pt x="8896" y="0"/>
                    </a:lnTo>
                    <a:close/>
                  </a:path>
                </a:pathLst>
              </a:custGeom>
              <a:ln w="25400" cap="flat">
                <a:solidFill>
                  <a:srgbClr val="1A1A1A"/>
                </a:solidFill>
                <a:prstDash val="solid"/>
                <a:miter lim="400000"/>
              </a:ln>
              <a:effectLst>
                <a:outerShdw sx="100000" sy="100000" kx="0" ky="0" algn="b" rotWithShape="0" blurRad="165100" dist="63500" dir="5400000">
                  <a:srgbClr val="000000">
                    <a:alpha val="50000"/>
                  </a:srgbClr>
                </a:outerShdw>
              </a:effectLst>
            </p:spPr>
          </p:pic>
        </p:gr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Google Shape;182;p32"/>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5" name="Google Shape;183;p32"/>
          <p:cNvSpPr txBox="1"/>
          <p:nvPr>
            <p:ph type="title"/>
          </p:nvPr>
        </p:nvSpPr>
        <p:spPr>
          <a:xfrm>
            <a:off x="831199" y="277666"/>
            <a:ext cx="4924284" cy="1527201"/>
          </a:xfrm>
          <a:prstGeom prst="rect">
            <a:avLst/>
          </a:prstGeom>
        </p:spPr>
        <p:txBody>
          <a:bodyPr/>
          <a:lstStyle>
            <a:lvl1pPr defTabSz="2145791">
              <a:defRPr spc="211" sz="7040"/>
            </a:lvl1pPr>
          </a:lstStyle>
          <a:p>
            <a:pPr/>
            <a:r>
              <a:t>Agenda</a:t>
            </a:r>
          </a:p>
        </p:txBody>
      </p:sp>
      <p:sp>
        <p:nvSpPr>
          <p:cNvPr id="436" name="1."/>
          <p:cNvSpPr/>
          <p:nvPr/>
        </p:nvSpPr>
        <p:spPr>
          <a:xfrm>
            <a:off x="2356124" y="3041366"/>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1. </a:t>
            </a:r>
          </a:p>
        </p:txBody>
      </p:sp>
      <p:sp>
        <p:nvSpPr>
          <p:cNvPr id="437" name="2."/>
          <p:cNvSpPr/>
          <p:nvPr/>
        </p:nvSpPr>
        <p:spPr>
          <a:xfrm>
            <a:off x="2356124" y="4616458"/>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2. </a:t>
            </a:r>
          </a:p>
        </p:txBody>
      </p:sp>
      <p:sp>
        <p:nvSpPr>
          <p:cNvPr id="438" name="3."/>
          <p:cNvSpPr/>
          <p:nvPr/>
        </p:nvSpPr>
        <p:spPr>
          <a:xfrm>
            <a:off x="2356124" y="6191550"/>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3. </a:t>
            </a:r>
          </a:p>
        </p:txBody>
      </p:sp>
      <p:sp>
        <p:nvSpPr>
          <p:cNvPr id="439" name="4."/>
          <p:cNvSpPr/>
          <p:nvPr/>
        </p:nvSpPr>
        <p:spPr>
          <a:xfrm>
            <a:off x="2356124" y="7766642"/>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4. </a:t>
            </a:r>
          </a:p>
        </p:txBody>
      </p:sp>
      <p:sp>
        <p:nvSpPr>
          <p:cNvPr id="440" name="5."/>
          <p:cNvSpPr/>
          <p:nvPr/>
        </p:nvSpPr>
        <p:spPr>
          <a:xfrm>
            <a:off x="2356124" y="9341734"/>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5. </a:t>
            </a:r>
          </a:p>
        </p:txBody>
      </p:sp>
      <p:sp>
        <p:nvSpPr>
          <p:cNvPr id="441" name="Problem Statement"/>
          <p:cNvSpPr txBox="1"/>
          <p:nvPr/>
        </p:nvSpPr>
        <p:spPr>
          <a:xfrm>
            <a:off x="4145802" y="3331187"/>
            <a:ext cx="4458578" cy="69035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Problem Statement</a:t>
            </a:r>
          </a:p>
        </p:txBody>
      </p:sp>
      <p:sp>
        <p:nvSpPr>
          <p:cNvPr id="442" name="Stakeholders &amp; Impacts"/>
          <p:cNvSpPr txBox="1"/>
          <p:nvPr/>
        </p:nvSpPr>
        <p:spPr>
          <a:xfrm>
            <a:off x="4145802" y="4906279"/>
            <a:ext cx="5497222" cy="69035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Stakeholders &amp; Impacts</a:t>
            </a:r>
          </a:p>
        </p:txBody>
      </p:sp>
      <p:sp>
        <p:nvSpPr>
          <p:cNvPr id="443" name="Benchmarking &amp; Market Assessment"/>
          <p:cNvSpPr txBox="1"/>
          <p:nvPr/>
        </p:nvSpPr>
        <p:spPr>
          <a:xfrm>
            <a:off x="4145802" y="6481371"/>
            <a:ext cx="8335786" cy="69035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Benchmarking &amp; Market Assessment</a:t>
            </a:r>
          </a:p>
        </p:txBody>
      </p:sp>
      <p:sp>
        <p:nvSpPr>
          <p:cNvPr id="444" name="Our Solution"/>
          <p:cNvSpPr txBox="1"/>
          <p:nvPr/>
        </p:nvSpPr>
        <p:spPr>
          <a:xfrm>
            <a:off x="4145802" y="8056463"/>
            <a:ext cx="2972678" cy="69035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Our Solution</a:t>
            </a:r>
          </a:p>
        </p:txBody>
      </p:sp>
      <p:sp>
        <p:nvSpPr>
          <p:cNvPr id="445" name="System Integration"/>
          <p:cNvSpPr txBox="1"/>
          <p:nvPr/>
        </p:nvSpPr>
        <p:spPr>
          <a:xfrm>
            <a:off x="4145802" y="9631554"/>
            <a:ext cx="4393693" cy="69035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System Integration</a:t>
            </a:r>
          </a:p>
        </p:txBody>
      </p:sp>
      <p:sp>
        <p:nvSpPr>
          <p:cNvPr id="446" name="6."/>
          <p:cNvSpPr/>
          <p:nvPr/>
        </p:nvSpPr>
        <p:spPr>
          <a:xfrm>
            <a:off x="2347532" y="10916826"/>
            <a:ext cx="1270001" cy="1270001"/>
          </a:xfrm>
          <a:prstGeom prst="roundRect">
            <a:avLst>
              <a:gd name="adj" fmla="val 15000"/>
            </a:avLst>
          </a:prstGeom>
          <a:solidFill>
            <a:srgbClr val="22316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solidFill>
                  <a:srgbClr val="FFFFFF"/>
                </a:solidFill>
              </a:defRPr>
            </a:lvl1pPr>
          </a:lstStyle>
          <a:p>
            <a:pPr/>
            <a:r>
              <a:t xml:space="preserve">6. </a:t>
            </a:r>
          </a:p>
        </p:txBody>
      </p:sp>
      <p:sp>
        <p:nvSpPr>
          <p:cNvPr id="447" name="Business Plan"/>
          <p:cNvSpPr txBox="1"/>
          <p:nvPr/>
        </p:nvSpPr>
        <p:spPr>
          <a:xfrm>
            <a:off x="4137210" y="11206646"/>
            <a:ext cx="3218346" cy="69035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lgn="l"/>
          </a:lstStyle>
          <a:p>
            <a:pPr/>
            <a:r>
              <a:t>Business Plan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9" name="Problem Statement"/>
          <p:cNvSpPr txBox="1"/>
          <p:nvPr>
            <p:ph type="title"/>
          </p:nvPr>
        </p:nvSpPr>
        <p:spPr>
          <a:xfrm>
            <a:off x="947981" y="6046993"/>
            <a:ext cx="17713769" cy="4922293"/>
          </a:xfrm>
          <a:prstGeom prst="rect">
            <a:avLst/>
          </a:prstGeom>
        </p:spPr>
        <p:txBody>
          <a:bodyPr/>
          <a:lstStyle>
            <a:lvl1pPr algn="l">
              <a:defRPr b="0" sz="13600"/>
            </a:lvl1pPr>
          </a:lstStyle>
          <a:p>
            <a:pPr/>
            <a:r>
              <a:t>Problem Statement</a:t>
            </a:r>
          </a:p>
        </p:txBody>
      </p:sp>
      <p:sp>
        <p:nvSpPr>
          <p:cNvPr id="450" name="01"/>
          <p:cNvSpPr txBox="1"/>
          <p:nvPr>
            <p:ph type="sldNum" sz="quarter" idx="2"/>
          </p:nvPr>
        </p:nvSpPr>
        <p:spPr>
          <a:xfrm>
            <a:off x="23545659" y="12666270"/>
            <a:ext cx="735632" cy="9950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lstStyle/>
          <a:p>
            <a:pPr/>
            <a:r>
              <a:t>Urban parking is time-consuming, inefficient, and stressful.</a:t>
            </a:r>
          </a:p>
          <a:p>
            <a:pPr/>
            <a:r>
              <a:t xml:space="preserve">Drivers spend an average of </a:t>
            </a:r>
            <a:r>
              <a:rPr b="1"/>
              <a:t>107 hours/year</a:t>
            </a:r>
            <a:r>
              <a:t xml:space="preserve"> (over 4.4 days) in New York City searching for parking.</a:t>
            </a:r>
          </a:p>
          <a:p>
            <a:pPr/>
            <a:r>
              <a:t>This wastes time, fuel, and creates an estimated</a:t>
            </a:r>
            <a:r>
              <a:rPr b="1"/>
              <a:t xml:space="preserve"> $72.7 billion</a:t>
            </a:r>
            <a:r>
              <a:t xml:space="preserve"> in annual costs from wasted time and fuel in the US alone.</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What is the problem we are solving?</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456" name="Google Shape;165;p30"/>
          <p:cNvSpPr txBox="1"/>
          <p:nvPr>
            <p:ph type="title"/>
          </p:nvPr>
        </p:nvSpPr>
        <p:spPr>
          <a:xfrm>
            <a:off x="831199" y="277666"/>
            <a:ext cx="22721602" cy="1527201"/>
          </a:xfrm>
          <a:prstGeom prst="rect">
            <a:avLst/>
          </a:prstGeom>
        </p:spPr>
        <p:txBody>
          <a:bodyPr/>
          <a:lstStyle>
            <a:lvl1pPr defTabSz="2145791">
              <a:defRPr spc="211" sz="7040"/>
            </a:lvl1pPr>
          </a:lstStyle>
          <a:p>
            <a:pPr/>
            <a:r>
              <a:t>Artemis</a:t>
            </a:r>
          </a:p>
        </p:txBody>
      </p:sp>
      <p:sp>
        <p:nvSpPr>
          <p:cNvPr id="457" name="Google Shape;166;p30"/>
          <p:cNvSpPr txBox="1"/>
          <p:nvPr>
            <p:ph type="sldNum" sz="quarter" idx="2"/>
          </p:nvPr>
        </p:nvSpPr>
        <p:spPr>
          <a:xfrm>
            <a:off x="1000346" y="12524796"/>
            <a:ext cx="7205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58" name="Google Shape;167;p30" descr="Google Shape;167;p30"/>
          <p:cNvPicPr>
            <a:picLocks noChangeAspect="1"/>
          </p:cNvPicPr>
          <p:nvPr/>
        </p:nvPicPr>
        <p:blipFill>
          <a:blip r:embed="rId3">
            <a:extLst/>
          </a:blip>
          <a:srcRect l="34640" t="13995" r="7344" b="12673"/>
          <a:stretch>
            <a:fillRect/>
          </a:stretch>
        </p:blipFill>
        <p:spPr>
          <a:xfrm>
            <a:off x="668297" y="3252607"/>
            <a:ext cx="9886785" cy="8331350"/>
          </a:xfrm>
          <a:custGeom>
            <a:avLst/>
            <a:gdLst/>
            <a:ahLst/>
            <a:cxnLst>
              <a:cxn ang="0">
                <a:pos x="wd2" y="hd2"/>
              </a:cxn>
              <a:cxn ang="5400000">
                <a:pos x="wd2" y="hd2"/>
              </a:cxn>
              <a:cxn ang="10800000">
                <a:pos x="wd2" y="hd2"/>
              </a:cxn>
              <a:cxn ang="16200000">
                <a:pos x="wd2" y="hd2"/>
              </a:cxn>
            </a:cxnLst>
            <a:rect l="0" t="0" r="r" b="b"/>
            <a:pathLst>
              <a:path w="21572" h="21587" fill="norm" stroke="1" extrusionOk="0">
                <a:moveTo>
                  <a:pt x="11470" y="3"/>
                </a:moveTo>
                <a:cubicBezTo>
                  <a:pt x="11446" y="4"/>
                  <a:pt x="11425" y="10"/>
                  <a:pt x="11415" y="20"/>
                </a:cubicBezTo>
                <a:cubicBezTo>
                  <a:pt x="11394" y="40"/>
                  <a:pt x="11326" y="75"/>
                  <a:pt x="11263" y="99"/>
                </a:cubicBezTo>
                <a:cubicBezTo>
                  <a:pt x="11201" y="123"/>
                  <a:pt x="11149" y="166"/>
                  <a:pt x="11149" y="195"/>
                </a:cubicBezTo>
                <a:cubicBezTo>
                  <a:pt x="11149" y="224"/>
                  <a:pt x="11128" y="257"/>
                  <a:pt x="11103" y="269"/>
                </a:cubicBezTo>
                <a:cubicBezTo>
                  <a:pt x="11078" y="280"/>
                  <a:pt x="11058" y="310"/>
                  <a:pt x="11058" y="335"/>
                </a:cubicBezTo>
                <a:cubicBezTo>
                  <a:pt x="11058" y="360"/>
                  <a:pt x="11024" y="440"/>
                  <a:pt x="10982" y="513"/>
                </a:cubicBezTo>
                <a:cubicBezTo>
                  <a:pt x="10940" y="586"/>
                  <a:pt x="10906" y="670"/>
                  <a:pt x="10906" y="700"/>
                </a:cubicBezTo>
                <a:cubicBezTo>
                  <a:pt x="10906" y="730"/>
                  <a:pt x="10871" y="795"/>
                  <a:pt x="10828" y="846"/>
                </a:cubicBezTo>
                <a:cubicBezTo>
                  <a:pt x="10757" y="930"/>
                  <a:pt x="10755" y="944"/>
                  <a:pt x="10798" y="1001"/>
                </a:cubicBezTo>
                <a:cubicBezTo>
                  <a:pt x="10868" y="1093"/>
                  <a:pt x="10857" y="1207"/>
                  <a:pt x="10777" y="1232"/>
                </a:cubicBezTo>
                <a:cubicBezTo>
                  <a:pt x="10688" y="1261"/>
                  <a:pt x="10498" y="1261"/>
                  <a:pt x="10437" y="1233"/>
                </a:cubicBezTo>
                <a:cubicBezTo>
                  <a:pt x="10384" y="1209"/>
                  <a:pt x="10372" y="1092"/>
                  <a:pt x="10420" y="1058"/>
                </a:cubicBezTo>
                <a:cubicBezTo>
                  <a:pt x="10484" y="1010"/>
                  <a:pt x="10445" y="878"/>
                  <a:pt x="10327" y="745"/>
                </a:cubicBezTo>
                <a:cubicBezTo>
                  <a:pt x="10183" y="582"/>
                  <a:pt x="10059" y="563"/>
                  <a:pt x="9892" y="680"/>
                </a:cubicBezTo>
                <a:cubicBezTo>
                  <a:pt x="9808" y="738"/>
                  <a:pt x="9772" y="747"/>
                  <a:pt x="9724" y="717"/>
                </a:cubicBezTo>
                <a:cubicBezTo>
                  <a:pt x="9691" y="696"/>
                  <a:pt x="9581" y="678"/>
                  <a:pt x="9478" y="678"/>
                </a:cubicBezTo>
                <a:cubicBezTo>
                  <a:pt x="9150" y="678"/>
                  <a:pt x="8962" y="864"/>
                  <a:pt x="8962" y="1189"/>
                </a:cubicBezTo>
                <a:cubicBezTo>
                  <a:pt x="8962" y="1296"/>
                  <a:pt x="8950" y="1328"/>
                  <a:pt x="8909" y="1330"/>
                </a:cubicBezTo>
                <a:cubicBezTo>
                  <a:pt x="8630" y="1344"/>
                  <a:pt x="8549" y="1384"/>
                  <a:pt x="8357" y="1601"/>
                </a:cubicBezTo>
                <a:cubicBezTo>
                  <a:pt x="8192" y="1787"/>
                  <a:pt x="8174" y="1879"/>
                  <a:pt x="8151" y="2672"/>
                </a:cubicBezTo>
                <a:cubicBezTo>
                  <a:pt x="8132" y="3311"/>
                  <a:pt x="8132" y="3314"/>
                  <a:pt x="8059" y="3335"/>
                </a:cubicBezTo>
                <a:cubicBezTo>
                  <a:pt x="8019" y="3347"/>
                  <a:pt x="7939" y="3347"/>
                  <a:pt x="7882" y="3336"/>
                </a:cubicBezTo>
                <a:cubicBezTo>
                  <a:pt x="7815" y="3324"/>
                  <a:pt x="7777" y="3331"/>
                  <a:pt x="7777" y="3356"/>
                </a:cubicBezTo>
                <a:cubicBezTo>
                  <a:pt x="7777" y="3378"/>
                  <a:pt x="7769" y="3387"/>
                  <a:pt x="7759" y="3374"/>
                </a:cubicBezTo>
                <a:cubicBezTo>
                  <a:pt x="7749" y="3362"/>
                  <a:pt x="7690" y="3383"/>
                  <a:pt x="7630" y="3422"/>
                </a:cubicBezTo>
                <a:cubicBezTo>
                  <a:pt x="7569" y="3460"/>
                  <a:pt x="7489" y="3493"/>
                  <a:pt x="7450" y="3493"/>
                </a:cubicBezTo>
                <a:cubicBezTo>
                  <a:pt x="7412" y="3493"/>
                  <a:pt x="7327" y="3533"/>
                  <a:pt x="7261" y="3582"/>
                </a:cubicBezTo>
                <a:cubicBezTo>
                  <a:pt x="7195" y="3632"/>
                  <a:pt x="7126" y="3673"/>
                  <a:pt x="7108" y="3673"/>
                </a:cubicBezTo>
                <a:cubicBezTo>
                  <a:pt x="7091" y="3673"/>
                  <a:pt x="7031" y="3709"/>
                  <a:pt x="6974" y="3753"/>
                </a:cubicBezTo>
                <a:cubicBezTo>
                  <a:pt x="6880" y="3826"/>
                  <a:pt x="6871" y="3851"/>
                  <a:pt x="6859" y="4044"/>
                </a:cubicBezTo>
                <a:cubicBezTo>
                  <a:pt x="6844" y="4285"/>
                  <a:pt x="6843" y="4288"/>
                  <a:pt x="6546" y="4402"/>
                </a:cubicBezTo>
                <a:cubicBezTo>
                  <a:pt x="6272" y="4507"/>
                  <a:pt x="6103" y="4642"/>
                  <a:pt x="5990" y="4845"/>
                </a:cubicBezTo>
                <a:cubicBezTo>
                  <a:pt x="5979" y="4865"/>
                  <a:pt x="5868" y="4962"/>
                  <a:pt x="5745" y="5061"/>
                </a:cubicBezTo>
                <a:cubicBezTo>
                  <a:pt x="5622" y="5160"/>
                  <a:pt x="5506" y="5266"/>
                  <a:pt x="5487" y="5296"/>
                </a:cubicBezTo>
                <a:cubicBezTo>
                  <a:pt x="5468" y="5327"/>
                  <a:pt x="5412" y="5381"/>
                  <a:pt x="5362" y="5418"/>
                </a:cubicBezTo>
                <a:cubicBezTo>
                  <a:pt x="5257" y="5495"/>
                  <a:pt x="5156" y="5617"/>
                  <a:pt x="4805" y="6090"/>
                </a:cubicBezTo>
                <a:cubicBezTo>
                  <a:pt x="4666" y="6278"/>
                  <a:pt x="4525" y="6467"/>
                  <a:pt x="4493" y="6510"/>
                </a:cubicBezTo>
                <a:cubicBezTo>
                  <a:pt x="4461" y="6552"/>
                  <a:pt x="4434" y="6601"/>
                  <a:pt x="4434" y="6618"/>
                </a:cubicBezTo>
                <a:cubicBezTo>
                  <a:pt x="4433" y="6635"/>
                  <a:pt x="4371" y="6722"/>
                  <a:pt x="4297" y="6811"/>
                </a:cubicBezTo>
                <a:cubicBezTo>
                  <a:pt x="4159" y="6976"/>
                  <a:pt x="4010" y="7278"/>
                  <a:pt x="4010" y="7393"/>
                </a:cubicBezTo>
                <a:cubicBezTo>
                  <a:pt x="4010" y="7428"/>
                  <a:pt x="3997" y="7466"/>
                  <a:pt x="3980" y="7478"/>
                </a:cubicBezTo>
                <a:cubicBezTo>
                  <a:pt x="3963" y="7491"/>
                  <a:pt x="3950" y="7530"/>
                  <a:pt x="3950" y="7566"/>
                </a:cubicBezTo>
                <a:cubicBezTo>
                  <a:pt x="3950" y="7601"/>
                  <a:pt x="3915" y="7674"/>
                  <a:pt x="3873" y="7727"/>
                </a:cubicBezTo>
                <a:cubicBezTo>
                  <a:pt x="3832" y="7781"/>
                  <a:pt x="3797" y="7832"/>
                  <a:pt x="3797" y="7841"/>
                </a:cubicBezTo>
                <a:cubicBezTo>
                  <a:pt x="3797" y="7887"/>
                  <a:pt x="3546" y="8281"/>
                  <a:pt x="3478" y="8344"/>
                </a:cubicBezTo>
                <a:cubicBezTo>
                  <a:pt x="3342" y="8469"/>
                  <a:pt x="3216" y="8628"/>
                  <a:pt x="3133" y="8777"/>
                </a:cubicBezTo>
                <a:cubicBezTo>
                  <a:pt x="3009" y="9002"/>
                  <a:pt x="2977" y="9034"/>
                  <a:pt x="2977" y="8931"/>
                </a:cubicBezTo>
                <a:cubicBezTo>
                  <a:pt x="2977" y="8830"/>
                  <a:pt x="2933" y="8759"/>
                  <a:pt x="2815" y="8672"/>
                </a:cubicBezTo>
                <a:cubicBezTo>
                  <a:pt x="2747" y="8622"/>
                  <a:pt x="2683" y="8613"/>
                  <a:pt x="2496" y="8626"/>
                </a:cubicBezTo>
                <a:cubicBezTo>
                  <a:pt x="2195" y="8647"/>
                  <a:pt x="2064" y="8686"/>
                  <a:pt x="1823" y="8828"/>
                </a:cubicBezTo>
                <a:cubicBezTo>
                  <a:pt x="1453" y="9044"/>
                  <a:pt x="1305" y="9203"/>
                  <a:pt x="1216" y="9481"/>
                </a:cubicBezTo>
                <a:cubicBezTo>
                  <a:pt x="1193" y="9550"/>
                  <a:pt x="1157" y="9632"/>
                  <a:pt x="1134" y="9664"/>
                </a:cubicBezTo>
                <a:cubicBezTo>
                  <a:pt x="1112" y="9695"/>
                  <a:pt x="1094" y="9748"/>
                  <a:pt x="1094" y="9782"/>
                </a:cubicBezTo>
                <a:cubicBezTo>
                  <a:pt x="1094" y="9815"/>
                  <a:pt x="1078" y="9872"/>
                  <a:pt x="1059" y="9908"/>
                </a:cubicBezTo>
                <a:cubicBezTo>
                  <a:pt x="944" y="10128"/>
                  <a:pt x="1427" y="10454"/>
                  <a:pt x="1866" y="10454"/>
                </a:cubicBezTo>
                <a:cubicBezTo>
                  <a:pt x="1959" y="10454"/>
                  <a:pt x="2035" y="10462"/>
                  <a:pt x="2035" y="10471"/>
                </a:cubicBezTo>
                <a:cubicBezTo>
                  <a:pt x="2035" y="10514"/>
                  <a:pt x="1962" y="10671"/>
                  <a:pt x="1942" y="10671"/>
                </a:cubicBezTo>
                <a:cubicBezTo>
                  <a:pt x="1930" y="10671"/>
                  <a:pt x="1905" y="10721"/>
                  <a:pt x="1888" y="10781"/>
                </a:cubicBezTo>
                <a:cubicBezTo>
                  <a:pt x="1835" y="10961"/>
                  <a:pt x="1526" y="11380"/>
                  <a:pt x="1318" y="11555"/>
                </a:cubicBezTo>
                <a:cubicBezTo>
                  <a:pt x="1113" y="11726"/>
                  <a:pt x="838" y="12050"/>
                  <a:pt x="772" y="12195"/>
                </a:cubicBezTo>
                <a:cubicBezTo>
                  <a:pt x="748" y="12250"/>
                  <a:pt x="714" y="12294"/>
                  <a:pt x="698" y="12294"/>
                </a:cubicBezTo>
                <a:cubicBezTo>
                  <a:pt x="682" y="12294"/>
                  <a:pt x="669" y="12360"/>
                  <a:pt x="669" y="12439"/>
                </a:cubicBezTo>
                <a:cubicBezTo>
                  <a:pt x="669" y="12518"/>
                  <a:pt x="655" y="12583"/>
                  <a:pt x="638" y="12583"/>
                </a:cubicBezTo>
                <a:cubicBezTo>
                  <a:pt x="621" y="12583"/>
                  <a:pt x="608" y="12616"/>
                  <a:pt x="608" y="12656"/>
                </a:cubicBezTo>
                <a:cubicBezTo>
                  <a:pt x="608" y="12696"/>
                  <a:pt x="587" y="12739"/>
                  <a:pt x="562" y="12751"/>
                </a:cubicBezTo>
                <a:cubicBezTo>
                  <a:pt x="537" y="12762"/>
                  <a:pt x="516" y="12801"/>
                  <a:pt x="516" y="12837"/>
                </a:cubicBezTo>
                <a:cubicBezTo>
                  <a:pt x="516" y="12873"/>
                  <a:pt x="502" y="12913"/>
                  <a:pt x="486" y="12926"/>
                </a:cubicBezTo>
                <a:cubicBezTo>
                  <a:pt x="469" y="12938"/>
                  <a:pt x="455" y="12987"/>
                  <a:pt x="455" y="13035"/>
                </a:cubicBezTo>
                <a:cubicBezTo>
                  <a:pt x="455" y="13082"/>
                  <a:pt x="442" y="13130"/>
                  <a:pt x="425" y="13142"/>
                </a:cubicBezTo>
                <a:cubicBezTo>
                  <a:pt x="408" y="13155"/>
                  <a:pt x="395" y="13202"/>
                  <a:pt x="395" y="13248"/>
                </a:cubicBezTo>
                <a:cubicBezTo>
                  <a:pt x="395" y="13294"/>
                  <a:pt x="374" y="13352"/>
                  <a:pt x="349" y="13377"/>
                </a:cubicBezTo>
                <a:cubicBezTo>
                  <a:pt x="324" y="13402"/>
                  <a:pt x="304" y="13476"/>
                  <a:pt x="304" y="13541"/>
                </a:cubicBezTo>
                <a:cubicBezTo>
                  <a:pt x="304" y="13607"/>
                  <a:pt x="290" y="13671"/>
                  <a:pt x="274" y="13683"/>
                </a:cubicBezTo>
                <a:cubicBezTo>
                  <a:pt x="257" y="13696"/>
                  <a:pt x="243" y="13749"/>
                  <a:pt x="242" y="13803"/>
                </a:cubicBezTo>
                <a:cubicBezTo>
                  <a:pt x="242" y="13856"/>
                  <a:pt x="221" y="13932"/>
                  <a:pt x="197" y="13970"/>
                </a:cubicBezTo>
                <a:cubicBezTo>
                  <a:pt x="138" y="14061"/>
                  <a:pt x="139" y="14293"/>
                  <a:pt x="197" y="14351"/>
                </a:cubicBezTo>
                <a:cubicBezTo>
                  <a:pt x="255" y="14407"/>
                  <a:pt x="255" y="14460"/>
                  <a:pt x="197" y="14590"/>
                </a:cubicBezTo>
                <a:cubicBezTo>
                  <a:pt x="163" y="14668"/>
                  <a:pt x="152" y="14828"/>
                  <a:pt x="151" y="15235"/>
                </a:cubicBezTo>
                <a:cubicBezTo>
                  <a:pt x="149" y="15757"/>
                  <a:pt x="120" y="16004"/>
                  <a:pt x="37" y="16179"/>
                </a:cubicBezTo>
                <a:cubicBezTo>
                  <a:pt x="10" y="16237"/>
                  <a:pt x="0" y="16581"/>
                  <a:pt x="0" y="17465"/>
                </a:cubicBezTo>
                <a:cubicBezTo>
                  <a:pt x="0" y="18493"/>
                  <a:pt x="7" y="18678"/>
                  <a:pt x="46" y="18716"/>
                </a:cubicBezTo>
                <a:cubicBezTo>
                  <a:pt x="80" y="18750"/>
                  <a:pt x="91" y="18843"/>
                  <a:pt x="91" y="19098"/>
                </a:cubicBezTo>
                <a:cubicBezTo>
                  <a:pt x="91" y="19283"/>
                  <a:pt x="104" y="19443"/>
                  <a:pt x="121" y="19455"/>
                </a:cubicBezTo>
                <a:cubicBezTo>
                  <a:pt x="138" y="19468"/>
                  <a:pt x="152" y="19572"/>
                  <a:pt x="152" y="19688"/>
                </a:cubicBezTo>
                <a:cubicBezTo>
                  <a:pt x="152" y="19830"/>
                  <a:pt x="166" y="19912"/>
                  <a:pt x="197" y="19943"/>
                </a:cubicBezTo>
                <a:cubicBezTo>
                  <a:pt x="222" y="19967"/>
                  <a:pt x="243" y="20022"/>
                  <a:pt x="243" y="20064"/>
                </a:cubicBezTo>
                <a:cubicBezTo>
                  <a:pt x="244" y="20149"/>
                  <a:pt x="300" y="20350"/>
                  <a:pt x="358" y="20472"/>
                </a:cubicBezTo>
                <a:cubicBezTo>
                  <a:pt x="378" y="20516"/>
                  <a:pt x="395" y="20576"/>
                  <a:pt x="395" y="20606"/>
                </a:cubicBezTo>
                <a:cubicBezTo>
                  <a:pt x="395" y="20662"/>
                  <a:pt x="492" y="20889"/>
                  <a:pt x="559" y="20989"/>
                </a:cubicBezTo>
                <a:cubicBezTo>
                  <a:pt x="578" y="21018"/>
                  <a:pt x="613" y="21087"/>
                  <a:pt x="636" y="21142"/>
                </a:cubicBezTo>
                <a:cubicBezTo>
                  <a:pt x="659" y="21196"/>
                  <a:pt x="696" y="21242"/>
                  <a:pt x="719" y="21242"/>
                </a:cubicBezTo>
                <a:cubicBezTo>
                  <a:pt x="741" y="21242"/>
                  <a:pt x="759" y="21257"/>
                  <a:pt x="759" y="21277"/>
                </a:cubicBezTo>
                <a:cubicBezTo>
                  <a:pt x="759" y="21332"/>
                  <a:pt x="974" y="21479"/>
                  <a:pt x="1140" y="21539"/>
                </a:cubicBezTo>
                <a:cubicBezTo>
                  <a:pt x="1253" y="21579"/>
                  <a:pt x="1426" y="21591"/>
                  <a:pt x="1823" y="21586"/>
                </a:cubicBezTo>
                <a:cubicBezTo>
                  <a:pt x="2809" y="21574"/>
                  <a:pt x="3219" y="21478"/>
                  <a:pt x="3458" y="21202"/>
                </a:cubicBezTo>
                <a:cubicBezTo>
                  <a:pt x="3531" y="21118"/>
                  <a:pt x="3602" y="21016"/>
                  <a:pt x="3618" y="20974"/>
                </a:cubicBezTo>
                <a:cubicBezTo>
                  <a:pt x="3633" y="20933"/>
                  <a:pt x="3673" y="20850"/>
                  <a:pt x="3704" y="20790"/>
                </a:cubicBezTo>
                <a:cubicBezTo>
                  <a:pt x="3736" y="20731"/>
                  <a:pt x="3764" y="20640"/>
                  <a:pt x="3765" y="20588"/>
                </a:cubicBezTo>
                <a:cubicBezTo>
                  <a:pt x="3766" y="20535"/>
                  <a:pt x="3787" y="20473"/>
                  <a:pt x="3811" y="20450"/>
                </a:cubicBezTo>
                <a:cubicBezTo>
                  <a:pt x="3835" y="20426"/>
                  <a:pt x="3859" y="20373"/>
                  <a:pt x="3864" y="20331"/>
                </a:cubicBezTo>
                <a:cubicBezTo>
                  <a:pt x="3873" y="20258"/>
                  <a:pt x="3887" y="20257"/>
                  <a:pt x="4709" y="20252"/>
                </a:cubicBezTo>
                <a:cubicBezTo>
                  <a:pt x="5387" y="20249"/>
                  <a:pt x="5558" y="20238"/>
                  <a:pt x="5620" y="20195"/>
                </a:cubicBezTo>
                <a:cubicBezTo>
                  <a:pt x="5683" y="20151"/>
                  <a:pt x="5885" y="20140"/>
                  <a:pt x="6774" y="20134"/>
                </a:cubicBezTo>
                <a:cubicBezTo>
                  <a:pt x="8650" y="20122"/>
                  <a:pt x="9127" y="20112"/>
                  <a:pt x="9160" y="20083"/>
                </a:cubicBezTo>
                <a:cubicBezTo>
                  <a:pt x="9259" y="19994"/>
                  <a:pt x="13344" y="19988"/>
                  <a:pt x="13518" y="20076"/>
                </a:cubicBezTo>
                <a:cubicBezTo>
                  <a:pt x="13543" y="20089"/>
                  <a:pt x="13596" y="20104"/>
                  <a:pt x="13634" y="20109"/>
                </a:cubicBezTo>
                <a:cubicBezTo>
                  <a:pt x="13713" y="20120"/>
                  <a:pt x="13820" y="20255"/>
                  <a:pt x="13821" y="20346"/>
                </a:cubicBezTo>
                <a:cubicBezTo>
                  <a:pt x="13822" y="20379"/>
                  <a:pt x="13836" y="20417"/>
                  <a:pt x="13852" y="20429"/>
                </a:cubicBezTo>
                <a:cubicBezTo>
                  <a:pt x="13869" y="20441"/>
                  <a:pt x="13883" y="20476"/>
                  <a:pt x="13883" y="20506"/>
                </a:cubicBezTo>
                <a:cubicBezTo>
                  <a:pt x="13883" y="20536"/>
                  <a:pt x="13917" y="20614"/>
                  <a:pt x="13959" y="20679"/>
                </a:cubicBezTo>
                <a:cubicBezTo>
                  <a:pt x="14001" y="20744"/>
                  <a:pt x="14035" y="20816"/>
                  <a:pt x="14035" y="20838"/>
                </a:cubicBezTo>
                <a:cubicBezTo>
                  <a:pt x="14035" y="20957"/>
                  <a:pt x="14464" y="21282"/>
                  <a:pt x="14651" y="21303"/>
                </a:cubicBezTo>
                <a:cubicBezTo>
                  <a:pt x="14721" y="21311"/>
                  <a:pt x="14792" y="21333"/>
                  <a:pt x="14808" y="21352"/>
                </a:cubicBezTo>
                <a:cubicBezTo>
                  <a:pt x="14844" y="21393"/>
                  <a:pt x="16381" y="21397"/>
                  <a:pt x="16422" y="21356"/>
                </a:cubicBezTo>
                <a:cubicBezTo>
                  <a:pt x="16437" y="21339"/>
                  <a:pt x="16533" y="21296"/>
                  <a:pt x="16634" y="21259"/>
                </a:cubicBezTo>
                <a:cubicBezTo>
                  <a:pt x="16834" y="21186"/>
                  <a:pt x="16982" y="21015"/>
                  <a:pt x="16982" y="20856"/>
                </a:cubicBezTo>
                <a:cubicBezTo>
                  <a:pt x="16982" y="20809"/>
                  <a:pt x="17002" y="20760"/>
                  <a:pt x="17027" y="20749"/>
                </a:cubicBezTo>
                <a:cubicBezTo>
                  <a:pt x="17053" y="20737"/>
                  <a:pt x="17073" y="20684"/>
                  <a:pt x="17073" y="20627"/>
                </a:cubicBezTo>
                <a:cubicBezTo>
                  <a:pt x="17073" y="20570"/>
                  <a:pt x="17086" y="20514"/>
                  <a:pt x="17103" y="20502"/>
                </a:cubicBezTo>
                <a:cubicBezTo>
                  <a:pt x="17120" y="20490"/>
                  <a:pt x="17133" y="20417"/>
                  <a:pt x="17133" y="20341"/>
                </a:cubicBezTo>
                <a:cubicBezTo>
                  <a:pt x="17133" y="20251"/>
                  <a:pt x="17150" y="20196"/>
                  <a:pt x="17179" y="20182"/>
                </a:cubicBezTo>
                <a:cubicBezTo>
                  <a:pt x="17208" y="20169"/>
                  <a:pt x="17224" y="20114"/>
                  <a:pt x="17224" y="20036"/>
                </a:cubicBezTo>
                <a:cubicBezTo>
                  <a:pt x="17224" y="19967"/>
                  <a:pt x="17239" y="19901"/>
                  <a:pt x="17255" y="19888"/>
                </a:cubicBezTo>
                <a:cubicBezTo>
                  <a:pt x="17272" y="19876"/>
                  <a:pt x="17286" y="19778"/>
                  <a:pt x="17286" y="19670"/>
                </a:cubicBezTo>
                <a:cubicBezTo>
                  <a:pt x="17286" y="19562"/>
                  <a:pt x="17299" y="19474"/>
                  <a:pt x="17316" y="19474"/>
                </a:cubicBezTo>
                <a:cubicBezTo>
                  <a:pt x="17333" y="19474"/>
                  <a:pt x="17346" y="19385"/>
                  <a:pt x="17346" y="19277"/>
                </a:cubicBezTo>
                <a:cubicBezTo>
                  <a:pt x="17346" y="19165"/>
                  <a:pt x="17363" y="19061"/>
                  <a:pt x="17386" y="19034"/>
                </a:cubicBezTo>
                <a:cubicBezTo>
                  <a:pt x="17408" y="19008"/>
                  <a:pt x="17435" y="18958"/>
                  <a:pt x="17446" y="18923"/>
                </a:cubicBezTo>
                <a:cubicBezTo>
                  <a:pt x="17457" y="18888"/>
                  <a:pt x="17491" y="18850"/>
                  <a:pt x="17520" y="18839"/>
                </a:cubicBezTo>
                <a:cubicBezTo>
                  <a:pt x="17550" y="18829"/>
                  <a:pt x="17625" y="18789"/>
                  <a:pt x="17687" y="18750"/>
                </a:cubicBezTo>
                <a:cubicBezTo>
                  <a:pt x="17748" y="18711"/>
                  <a:pt x="17833" y="18680"/>
                  <a:pt x="17875" y="18680"/>
                </a:cubicBezTo>
                <a:cubicBezTo>
                  <a:pt x="17916" y="18680"/>
                  <a:pt x="17959" y="18664"/>
                  <a:pt x="17969" y="18644"/>
                </a:cubicBezTo>
                <a:cubicBezTo>
                  <a:pt x="17979" y="18624"/>
                  <a:pt x="18024" y="18607"/>
                  <a:pt x="18069" y="18606"/>
                </a:cubicBezTo>
                <a:cubicBezTo>
                  <a:pt x="18114" y="18605"/>
                  <a:pt x="18185" y="18582"/>
                  <a:pt x="18227" y="18554"/>
                </a:cubicBezTo>
                <a:cubicBezTo>
                  <a:pt x="18269" y="18525"/>
                  <a:pt x="18353" y="18502"/>
                  <a:pt x="18415" y="18501"/>
                </a:cubicBezTo>
                <a:cubicBezTo>
                  <a:pt x="18477" y="18500"/>
                  <a:pt x="18535" y="18483"/>
                  <a:pt x="18546" y="18463"/>
                </a:cubicBezTo>
                <a:cubicBezTo>
                  <a:pt x="18578" y="18401"/>
                  <a:pt x="18744" y="18420"/>
                  <a:pt x="18744" y="18485"/>
                </a:cubicBezTo>
                <a:cubicBezTo>
                  <a:pt x="18744" y="18516"/>
                  <a:pt x="18766" y="18594"/>
                  <a:pt x="18793" y="18656"/>
                </a:cubicBezTo>
                <a:cubicBezTo>
                  <a:pt x="18886" y="18867"/>
                  <a:pt x="18895" y="18895"/>
                  <a:pt x="18896" y="18959"/>
                </a:cubicBezTo>
                <a:cubicBezTo>
                  <a:pt x="18898" y="19034"/>
                  <a:pt x="18965" y="19149"/>
                  <a:pt x="19008" y="19149"/>
                </a:cubicBezTo>
                <a:cubicBezTo>
                  <a:pt x="19025" y="19149"/>
                  <a:pt x="19063" y="19181"/>
                  <a:pt x="19093" y="19221"/>
                </a:cubicBezTo>
                <a:cubicBezTo>
                  <a:pt x="19123" y="19261"/>
                  <a:pt x="19243" y="19327"/>
                  <a:pt x="19358" y="19368"/>
                </a:cubicBezTo>
                <a:cubicBezTo>
                  <a:pt x="19545" y="19434"/>
                  <a:pt x="19626" y="19440"/>
                  <a:pt x="20120" y="19426"/>
                </a:cubicBezTo>
                <a:cubicBezTo>
                  <a:pt x="20794" y="19406"/>
                  <a:pt x="21054" y="19361"/>
                  <a:pt x="21209" y="19239"/>
                </a:cubicBezTo>
                <a:cubicBezTo>
                  <a:pt x="21326" y="19147"/>
                  <a:pt x="21417" y="18959"/>
                  <a:pt x="21417" y="18806"/>
                </a:cubicBezTo>
                <a:cubicBezTo>
                  <a:pt x="21417" y="18762"/>
                  <a:pt x="21436" y="18705"/>
                  <a:pt x="21460" y="18682"/>
                </a:cubicBezTo>
                <a:cubicBezTo>
                  <a:pt x="21523" y="18619"/>
                  <a:pt x="21542" y="18313"/>
                  <a:pt x="21557" y="17078"/>
                </a:cubicBezTo>
                <a:cubicBezTo>
                  <a:pt x="21566" y="16341"/>
                  <a:pt x="21560" y="15950"/>
                  <a:pt x="21539" y="15925"/>
                </a:cubicBezTo>
                <a:cubicBezTo>
                  <a:pt x="21522" y="15904"/>
                  <a:pt x="21508" y="15717"/>
                  <a:pt x="21508" y="15500"/>
                </a:cubicBezTo>
                <a:cubicBezTo>
                  <a:pt x="21508" y="15204"/>
                  <a:pt x="21497" y="15101"/>
                  <a:pt x="21462" y="15059"/>
                </a:cubicBezTo>
                <a:cubicBezTo>
                  <a:pt x="21429" y="15020"/>
                  <a:pt x="21417" y="14923"/>
                  <a:pt x="21417" y="14699"/>
                </a:cubicBezTo>
                <a:cubicBezTo>
                  <a:pt x="21417" y="14440"/>
                  <a:pt x="21428" y="14371"/>
                  <a:pt x="21492" y="14238"/>
                </a:cubicBezTo>
                <a:cubicBezTo>
                  <a:pt x="21571" y="14073"/>
                  <a:pt x="21600" y="13729"/>
                  <a:pt x="21538" y="13683"/>
                </a:cubicBezTo>
                <a:cubicBezTo>
                  <a:pt x="21522" y="13671"/>
                  <a:pt x="21508" y="13600"/>
                  <a:pt x="21508" y="13526"/>
                </a:cubicBezTo>
                <a:cubicBezTo>
                  <a:pt x="21508" y="13452"/>
                  <a:pt x="21491" y="13371"/>
                  <a:pt x="21470" y="13346"/>
                </a:cubicBezTo>
                <a:cubicBezTo>
                  <a:pt x="21444" y="13315"/>
                  <a:pt x="21426" y="13080"/>
                  <a:pt x="21412" y="12573"/>
                </a:cubicBezTo>
                <a:cubicBezTo>
                  <a:pt x="21389" y="11752"/>
                  <a:pt x="21368" y="11515"/>
                  <a:pt x="21307" y="11412"/>
                </a:cubicBezTo>
                <a:cubicBezTo>
                  <a:pt x="21283" y="11371"/>
                  <a:pt x="21265" y="11251"/>
                  <a:pt x="21265" y="11134"/>
                </a:cubicBezTo>
                <a:cubicBezTo>
                  <a:pt x="21265" y="11021"/>
                  <a:pt x="21251" y="10918"/>
                  <a:pt x="21234" y="10906"/>
                </a:cubicBezTo>
                <a:cubicBezTo>
                  <a:pt x="21218" y="10894"/>
                  <a:pt x="21204" y="10829"/>
                  <a:pt x="21204" y="10763"/>
                </a:cubicBezTo>
                <a:cubicBezTo>
                  <a:pt x="21204" y="10697"/>
                  <a:pt x="21184" y="10597"/>
                  <a:pt x="21159" y="10540"/>
                </a:cubicBezTo>
                <a:cubicBezTo>
                  <a:pt x="21134" y="10483"/>
                  <a:pt x="21113" y="10384"/>
                  <a:pt x="21113" y="10320"/>
                </a:cubicBezTo>
                <a:cubicBezTo>
                  <a:pt x="21113" y="10255"/>
                  <a:pt x="21100" y="10203"/>
                  <a:pt x="21083" y="10203"/>
                </a:cubicBezTo>
                <a:cubicBezTo>
                  <a:pt x="21066" y="10203"/>
                  <a:pt x="21053" y="10146"/>
                  <a:pt x="21053" y="10078"/>
                </a:cubicBezTo>
                <a:cubicBezTo>
                  <a:pt x="21053" y="10010"/>
                  <a:pt x="21039" y="9944"/>
                  <a:pt x="21022" y="9932"/>
                </a:cubicBezTo>
                <a:cubicBezTo>
                  <a:pt x="21006" y="9920"/>
                  <a:pt x="20992" y="9878"/>
                  <a:pt x="20992" y="9838"/>
                </a:cubicBezTo>
                <a:cubicBezTo>
                  <a:pt x="20992" y="9799"/>
                  <a:pt x="20973" y="9731"/>
                  <a:pt x="20950" y="9687"/>
                </a:cubicBezTo>
                <a:cubicBezTo>
                  <a:pt x="20928" y="9643"/>
                  <a:pt x="20892" y="9525"/>
                  <a:pt x="20872" y="9426"/>
                </a:cubicBezTo>
                <a:cubicBezTo>
                  <a:pt x="20833" y="9241"/>
                  <a:pt x="20740" y="9000"/>
                  <a:pt x="20669" y="8904"/>
                </a:cubicBezTo>
                <a:cubicBezTo>
                  <a:pt x="20515" y="8694"/>
                  <a:pt x="20156" y="8289"/>
                  <a:pt x="20108" y="8271"/>
                </a:cubicBezTo>
                <a:cubicBezTo>
                  <a:pt x="20076" y="8259"/>
                  <a:pt x="20050" y="8229"/>
                  <a:pt x="20050" y="8203"/>
                </a:cubicBezTo>
                <a:cubicBezTo>
                  <a:pt x="20050" y="8178"/>
                  <a:pt x="20015" y="8136"/>
                  <a:pt x="19974" y="8110"/>
                </a:cubicBezTo>
                <a:cubicBezTo>
                  <a:pt x="19932" y="8083"/>
                  <a:pt x="19898" y="8032"/>
                  <a:pt x="19898" y="7996"/>
                </a:cubicBezTo>
                <a:cubicBezTo>
                  <a:pt x="19898" y="7959"/>
                  <a:pt x="19885" y="7930"/>
                  <a:pt x="19870" y="7930"/>
                </a:cubicBezTo>
                <a:cubicBezTo>
                  <a:pt x="19854" y="7930"/>
                  <a:pt x="19833" y="7900"/>
                  <a:pt x="19824" y="7865"/>
                </a:cubicBezTo>
                <a:cubicBezTo>
                  <a:pt x="19814" y="7830"/>
                  <a:pt x="19766" y="7748"/>
                  <a:pt x="19716" y="7683"/>
                </a:cubicBezTo>
                <a:cubicBezTo>
                  <a:pt x="19665" y="7618"/>
                  <a:pt x="19625" y="7546"/>
                  <a:pt x="19625" y="7524"/>
                </a:cubicBezTo>
                <a:cubicBezTo>
                  <a:pt x="19625" y="7502"/>
                  <a:pt x="19606" y="7458"/>
                  <a:pt x="19584" y="7427"/>
                </a:cubicBezTo>
                <a:cubicBezTo>
                  <a:pt x="19562" y="7396"/>
                  <a:pt x="19525" y="7313"/>
                  <a:pt x="19503" y="7244"/>
                </a:cubicBezTo>
                <a:cubicBezTo>
                  <a:pt x="19480" y="7175"/>
                  <a:pt x="19429" y="7068"/>
                  <a:pt x="19391" y="7006"/>
                </a:cubicBezTo>
                <a:cubicBezTo>
                  <a:pt x="19352" y="6945"/>
                  <a:pt x="19321" y="6882"/>
                  <a:pt x="19321" y="6866"/>
                </a:cubicBezTo>
                <a:cubicBezTo>
                  <a:pt x="19321" y="6849"/>
                  <a:pt x="19289" y="6786"/>
                  <a:pt x="19251" y="6725"/>
                </a:cubicBezTo>
                <a:cubicBezTo>
                  <a:pt x="19213" y="6663"/>
                  <a:pt x="19163" y="6565"/>
                  <a:pt x="19138" y="6507"/>
                </a:cubicBezTo>
                <a:cubicBezTo>
                  <a:pt x="19113" y="6448"/>
                  <a:pt x="19062" y="6360"/>
                  <a:pt x="19025" y="6311"/>
                </a:cubicBezTo>
                <a:cubicBezTo>
                  <a:pt x="18987" y="6263"/>
                  <a:pt x="18956" y="6199"/>
                  <a:pt x="18956" y="6168"/>
                </a:cubicBezTo>
                <a:cubicBezTo>
                  <a:pt x="18956" y="6138"/>
                  <a:pt x="18935" y="6088"/>
                  <a:pt x="18909" y="6056"/>
                </a:cubicBezTo>
                <a:cubicBezTo>
                  <a:pt x="18884" y="6025"/>
                  <a:pt x="18789" y="5878"/>
                  <a:pt x="18698" y="5729"/>
                </a:cubicBezTo>
                <a:cubicBezTo>
                  <a:pt x="18607" y="5580"/>
                  <a:pt x="18509" y="5426"/>
                  <a:pt x="18478" y="5386"/>
                </a:cubicBezTo>
                <a:cubicBezTo>
                  <a:pt x="18414" y="5302"/>
                  <a:pt x="18146" y="5079"/>
                  <a:pt x="18109" y="5079"/>
                </a:cubicBezTo>
                <a:cubicBezTo>
                  <a:pt x="18096" y="5079"/>
                  <a:pt x="18060" y="5047"/>
                  <a:pt x="18030" y="5007"/>
                </a:cubicBezTo>
                <a:cubicBezTo>
                  <a:pt x="17999" y="4968"/>
                  <a:pt x="17960" y="4935"/>
                  <a:pt x="17941" y="4935"/>
                </a:cubicBezTo>
                <a:cubicBezTo>
                  <a:pt x="17923" y="4935"/>
                  <a:pt x="17870" y="4895"/>
                  <a:pt x="17825" y="4845"/>
                </a:cubicBezTo>
                <a:cubicBezTo>
                  <a:pt x="17780" y="4795"/>
                  <a:pt x="17718" y="4754"/>
                  <a:pt x="17686" y="4754"/>
                </a:cubicBezTo>
                <a:cubicBezTo>
                  <a:pt x="17654" y="4754"/>
                  <a:pt x="17595" y="4724"/>
                  <a:pt x="17555" y="4687"/>
                </a:cubicBezTo>
                <a:cubicBezTo>
                  <a:pt x="17515" y="4649"/>
                  <a:pt x="17434" y="4595"/>
                  <a:pt x="17376" y="4565"/>
                </a:cubicBezTo>
                <a:cubicBezTo>
                  <a:pt x="17318" y="4536"/>
                  <a:pt x="17195" y="4426"/>
                  <a:pt x="17104" y="4322"/>
                </a:cubicBezTo>
                <a:cubicBezTo>
                  <a:pt x="16935" y="4127"/>
                  <a:pt x="16723" y="3991"/>
                  <a:pt x="16519" y="3946"/>
                </a:cubicBezTo>
                <a:cubicBezTo>
                  <a:pt x="16449" y="3931"/>
                  <a:pt x="16404" y="3901"/>
                  <a:pt x="16404" y="3869"/>
                </a:cubicBezTo>
                <a:cubicBezTo>
                  <a:pt x="16404" y="3840"/>
                  <a:pt x="16391" y="3817"/>
                  <a:pt x="16374" y="3817"/>
                </a:cubicBezTo>
                <a:cubicBezTo>
                  <a:pt x="16357" y="3817"/>
                  <a:pt x="16344" y="3776"/>
                  <a:pt x="16344" y="3726"/>
                </a:cubicBezTo>
                <a:cubicBezTo>
                  <a:pt x="16344" y="3543"/>
                  <a:pt x="16223" y="3389"/>
                  <a:pt x="15973" y="3251"/>
                </a:cubicBezTo>
                <a:cubicBezTo>
                  <a:pt x="15893" y="3207"/>
                  <a:pt x="15828" y="3177"/>
                  <a:pt x="15828" y="3184"/>
                </a:cubicBezTo>
                <a:cubicBezTo>
                  <a:pt x="15828" y="3192"/>
                  <a:pt x="15746" y="3159"/>
                  <a:pt x="15646" y="3111"/>
                </a:cubicBezTo>
                <a:cubicBezTo>
                  <a:pt x="15529" y="3055"/>
                  <a:pt x="15404" y="3023"/>
                  <a:pt x="15297" y="3023"/>
                </a:cubicBezTo>
                <a:cubicBezTo>
                  <a:pt x="15205" y="3023"/>
                  <a:pt x="15050" y="2992"/>
                  <a:pt x="14954" y="2953"/>
                </a:cubicBezTo>
                <a:cubicBezTo>
                  <a:pt x="14858" y="2914"/>
                  <a:pt x="14717" y="2874"/>
                  <a:pt x="14641" y="2864"/>
                </a:cubicBezTo>
                <a:cubicBezTo>
                  <a:pt x="14429" y="2837"/>
                  <a:pt x="14400" y="2814"/>
                  <a:pt x="14400" y="2678"/>
                </a:cubicBezTo>
                <a:cubicBezTo>
                  <a:pt x="14400" y="2612"/>
                  <a:pt x="14413" y="2549"/>
                  <a:pt x="14430" y="2536"/>
                </a:cubicBezTo>
                <a:cubicBezTo>
                  <a:pt x="14479" y="2500"/>
                  <a:pt x="14466" y="1967"/>
                  <a:pt x="14413" y="1813"/>
                </a:cubicBezTo>
                <a:cubicBezTo>
                  <a:pt x="14355" y="1649"/>
                  <a:pt x="14216" y="1436"/>
                  <a:pt x="14167" y="1436"/>
                </a:cubicBezTo>
                <a:cubicBezTo>
                  <a:pt x="14147" y="1436"/>
                  <a:pt x="14063" y="1395"/>
                  <a:pt x="13980" y="1346"/>
                </a:cubicBezTo>
                <a:cubicBezTo>
                  <a:pt x="13896" y="1296"/>
                  <a:pt x="13815" y="1255"/>
                  <a:pt x="13799" y="1255"/>
                </a:cubicBezTo>
                <a:cubicBezTo>
                  <a:pt x="13782" y="1255"/>
                  <a:pt x="13730" y="1231"/>
                  <a:pt x="13682" y="1202"/>
                </a:cubicBezTo>
                <a:cubicBezTo>
                  <a:pt x="13634" y="1172"/>
                  <a:pt x="13563" y="1147"/>
                  <a:pt x="13526" y="1147"/>
                </a:cubicBezTo>
                <a:cubicBezTo>
                  <a:pt x="13461" y="1147"/>
                  <a:pt x="13457" y="1133"/>
                  <a:pt x="13457" y="886"/>
                </a:cubicBezTo>
                <a:cubicBezTo>
                  <a:pt x="13457" y="656"/>
                  <a:pt x="13449" y="611"/>
                  <a:pt x="13382" y="526"/>
                </a:cubicBezTo>
                <a:cubicBezTo>
                  <a:pt x="13340" y="472"/>
                  <a:pt x="13306" y="419"/>
                  <a:pt x="13306" y="406"/>
                </a:cubicBezTo>
                <a:cubicBezTo>
                  <a:pt x="13306" y="351"/>
                  <a:pt x="13068" y="124"/>
                  <a:pt x="12942" y="59"/>
                </a:cubicBezTo>
                <a:cubicBezTo>
                  <a:pt x="12823" y="-3"/>
                  <a:pt x="12761" y="-9"/>
                  <a:pt x="12426" y="9"/>
                </a:cubicBezTo>
                <a:cubicBezTo>
                  <a:pt x="11844" y="40"/>
                  <a:pt x="11660" y="41"/>
                  <a:pt x="11552" y="12"/>
                </a:cubicBezTo>
                <a:cubicBezTo>
                  <a:pt x="11523" y="4"/>
                  <a:pt x="11495" y="1"/>
                  <a:pt x="11470" y="3"/>
                </a:cubicBezTo>
                <a:close/>
              </a:path>
            </a:pathLst>
          </a:custGeom>
          <a:ln w="12700">
            <a:miter lim="400000"/>
          </a:ln>
        </p:spPr>
      </p:pic>
      <p:pic>
        <p:nvPicPr>
          <p:cNvPr id="459" name="pasted-movie.png" descr="pasted-movie.png"/>
          <p:cNvPicPr>
            <a:picLocks noChangeAspect="1"/>
          </p:cNvPicPr>
          <p:nvPr/>
        </p:nvPicPr>
        <p:blipFill>
          <a:blip r:embed="rId4">
            <a:extLst/>
          </a:blip>
          <a:srcRect l="34150" t="24566" r="15962" b="33097"/>
          <a:stretch>
            <a:fillRect/>
          </a:stretch>
        </p:blipFill>
        <p:spPr>
          <a:xfrm>
            <a:off x="11302407" y="3728729"/>
            <a:ext cx="13041161" cy="7379426"/>
          </a:xfrm>
          <a:custGeom>
            <a:avLst/>
            <a:gdLst/>
            <a:ahLst/>
            <a:cxnLst>
              <a:cxn ang="0">
                <a:pos x="wd2" y="hd2"/>
              </a:cxn>
              <a:cxn ang="5400000">
                <a:pos x="wd2" y="hd2"/>
              </a:cxn>
              <a:cxn ang="10800000">
                <a:pos x="wd2" y="hd2"/>
              </a:cxn>
              <a:cxn ang="16200000">
                <a:pos x="wd2" y="hd2"/>
              </a:cxn>
            </a:cxnLst>
            <a:rect l="0" t="0" r="r" b="b"/>
            <a:pathLst>
              <a:path w="21593" h="21579" fill="norm" stroke="1" extrusionOk="0">
                <a:moveTo>
                  <a:pt x="16195" y="0"/>
                </a:moveTo>
                <a:cubicBezTo>
                  <a:pt x="16062" y="-15"/>
                  <a:pt x="15506" y="242"/>
                  <a:pt x="15429" y="354"/>
                </a:cubicBezTo>
                <a:cubicBezTo>
                  <a:pt x="15344" y="479"/>
                  <a:pt x="15376" y="681"/>
                  <a:pt x="15506" y="837"/>
                </a:cubicBezTo>
                <a:cubicBezTo>
                  <a:pt x="15606" y="957"/>
                  <a:pt x="15630" y="1026"/>
                  <a:pt x="15630" y="1197"/>
                </a:cubicBezTo>
                <a:cubicBezTo>
                  <a:pt x="15630" y="1394"/>
                  <a:pt x="15623" y="1407"/>
                  <a:pt x="15511" y="1407"/>
                </a:cubicBezTo>
                <a:cubicBezTo>
                  <a:pt x="15445" y="1407"/>
                  <a:pt x="15370" y="1363"/>
                  <a:pt x="15345" y="1309"/>
                </a:cubicBezTo>
                <a:cubicBezTo>
                  <a:pt x="15279" y="1169"/>
                  <a:pt x="15139" y="1054"/>
                  <a:pt x="14976" y="1007"/>
                </a:cubicBezTo>
                <a:cubicBezTo>
                  <a:pt x="14772" y="948"/>
                  <a:pt x="14295" y="1121"/>
                  <a:pt x="14192" y="1292"/>
                </a:cubicBezTo>
                <a:cubicBezTo>
                  <a:pt x="14103" y="1439"/>
                  <a:pt x="14080" y="1753"/>
                  <a:pt x="14154" y="1799"/>
                </a:cubicBezTo>
                <a:cubicBezTo>
                  <a:pt x="14300" y="1891"/>
                  <a:pt x="14040" y="1941"/>
                  <a:pt x="13311" y="1958"/>
                </a:cubicBezTo>
                <a:cubicBezTo>
                  <a:pt x="12590" y="1976"/>
                  <a:pt x="12483" y="1966"/>
                  <a:pt x="12483" y="1884"/>
                </a:cubicBezTo>
                <a:cubicBezTo>
                  <a:pt x="12483" y="1832"/>
                  <a:pt x="12499" y="1772"/>
                  <a:pt x="12518" y="1750"/>
                </a:cubicBezTo>
                <a:cubicBezTo>
                  <a:pt x="12538" y="1729"/>
                  <a:pt x="12554" y="1617"/>
                  <a:pt x="12554" y="1501"/>
                </a:cubicBezTo>
                <a:cubicBezTo>
                  <a:pt x="12554" y="1335"/>
                  <a:pt x="12529" y="1260"/>
                  <a:pt x="12439" y="1146"/>
                </a:cubicBezTo>
                <a:cubicBezTo>
                  <a:pt x="12334" y="1014"/>
                  <a:pt x="12287" y="1001"/>
                  <a:pt x="11899" y="1002"/>
                </a:cubicBezTo>
                <a:cubicBezTo>
                  <a:pt x="11496" y="1003"/>
                  <a:pt x="11468" y="1011"/>
                  <a:pt x="11324" y="1176"/>
                </a:cubicBezTo>
                <a:cubicBezTo>
                  <a:pt x="11240" y="1271"/>
                  <a:pt x="11156" y="1419"/>
                  <a:pt x="11138" y="1503"/>
                </a:cubicBezTo>
                <a:cubicBezTo>
                  <a:pt x="11115" y="1611"/>
                  <a:pt x="11078" y="1658"/>
                  <a:pt x="11016" y="1658"/>
                </a:cubicBezTo>
                <a:cubicBezTo>
                  <a:pt x="10940" y="1658"/>
                  <a:pt x="10927" y="1629"/>
                  <a:pt x="10927" y="1471"/>
                </a:cubicBezTo>
                <a:cubicBezTo>
                  <a:pt x="10927" y="1321"/>
                  <a:pt x="10949" y="1266"/>
                  <a:pt x="11042" y="1192"/>
                </a:cubicBezTo>
                <a:cubicBezTo>
                  <a:pt x="11244" y="1032"/>
                  <a:pt x="11292" y="937"/>
                  <a:pt x="11241" y="794"/>
                </a:cubicBezTo>
                <a:cubicBezTo>
                  <a:pt x="11189" y="645"/>
                  <a:pt x="11051" y="524"/>
                  <a:pt x="10774" y="382"/>
                </a:cubicBezTo>
                <a:cubicBezTo>
                  <a:pt x="10570" y="278"/>
                  <a:pt x="10564" y="279"/>
                  <a:pt x="10243" y="441"/>
                </a:cubicBezTo>
                <a:cubicBezTo>
                  <a:pt x="9958" y="586"/>
                  <a:pt x="9795" y="747"/>
                  <a:pt x="9795" y="882"/>
                </a:cubicBezTo>
                <a:cubicBezTo>
                  <a:pt x="9795" y="936"/>
                  <a:pt x="9981" y="1220"/>
                  <a:pt x="10016" y="1220"/>
                </a:cubicBezTo>
                <a:cubicBezTo>
                  <a:pt x="10031" y="1220"/>
                  <a:pt x="10043" y="1344"/>
                  <a:pt x="10043" y="1495"/>
                </a:cubicBezTo>
                <a:lnTo>
                  <a:pt x="10043" y="1770"/>
                </a:lnTo>
                <a:lnTo>
                  <a:pt x="9693" y="1792"/>
                </a:lnTo>
                <a:cubicBezTo>
                  <a:pt x="9209" y="1822"/>
                  <a:pt x="9194" y="1848"/>
                  <a:pt x="9194" y="2689"/>
                </a:cubicBezTo>
                <a:cubicBezTo>
                  <a:pt x="9194" y="3189"/>
                  <a:pt x="9206" y="3346"/>
                  <a:pt x="9249" y="3409"/>
                </a:cubicBezTo>
                <a:cubicBezTo>
                  <a:pt x="9279" y="3453"/>
                  <a:pt x="9296" y="3522"/>
                  <a:pt x="9287" y="3564"/>
                </a:cubicBezTo>
                <a:cubicBezTo>
                  <a:pt x="9278" y="3606"/>
                  <a:pt x="9308" y="3741"/>
                  <a:pt x="9355" y="3862"/>
                </a:cubicBezTo>
                <a:lnTo>
                  <a:pt x="9440" y="4081"/>
                </a:lnTo>
                <a:lnTo>
                  <a:pt x="9353" y="4181"/>
                </a:lnTo>
                <a:cubicBezTo>
                  <a:pt x="9306" y="4236"/>
                  <a:pt x="9240" y="4281"/>
                  <a:pt x="9206" y="4281"/>
                </a:cubicBezTo>
                <a:cubicBezTo>
                  <a:pt x="9025" y="4281"/>
                  <a:pt x="8551" y="4944"/>
                  <a:pt x="8517" y="5245"/>
                </a:cubicBezTo>
                <a:cubicBezTo>
                  <a:pt x="8508" y="5327"/>
                  <a:pt x="8436" y="5390"/>
                  <a:pt x="8257" y="5472"/>
                </a:cubicBezTo>
                <a:cubicBezTo>
                  <a:pt x="8121" y="5535"/>
                  <a:pt x="7866" y="5713"/>
                  <a:pt x="7691" y="5869"/>
                </a:cubicBezTo>
                <a:cubicBezTo>
                  <a:pt x="7516" y="6025"/>
                  <a:pt x="7355" y="6153"/>
                  <a:pt x="7334" y="6154"/>
                </a:cubicBezTo>
                <a:cubicBezTo>
                  <a:pt x="7134" y="6158"/>
                  <a:pt x="5011" y="8471"/>
                  <a:pt x="4557" y="9179"/>
                </a:cubicBezTo>
                <a:cubicBezTo>
                  <a:pt x="4337" y="9523"/>
                  <a:pt x="4186" y="9735"/>
                  <a:pt x="3996" y="9971"/>
                </a:cubicBezTo>
                <a:cubicBezTo>
                  <a:pt x="3908" y="10079"/>
                  <a:pt x="3797" y="10233"/>
                  <a:pt x="3748" y="10312"/>
                </a:cubicBezTo>
                <a:cubicBezTo>
                  <a:pt x="3646" y="10478"/>
                  <a:pt x="3427" y="10621"/>
                  <a:pt x="2741" y="10971"/>
                </a:cubicBezTo>
                <a:cubicBezTo>
                  <a:pt x="2216" y="11239"/>
                  <a:pt x="1785" y="11487"/>
                  <a:pt x="1609" y="11623"/>
                </a:cubicBezTo>
                <a:cubicBezTo>
                  <a:pt x="1550" y="11669"/>
                  <a:pt x="1462" y="11733"/>
                  <a:pt x="1414" y="11765"/>
                </a:cubicBezTo>
                <a:cubicBezTo>
                  <a:pt x="1268" y="11863"/>
                  <a:pt x="758" y="12509"/>
                  <a:pt x="641" y="12745"/>
                </a:cubicBezTo>
                <a:cubicBezTo>
                  <a:pt x="528" y="12973"/>
                  <a:pt x="389" y="13450"/>
                  <a:pt x="389" y="13613"/>
                </a:cubicBezTo>
                <a:cubicBezTo>
                  <a:pt x="389" y="13664"/>
                  <a:pt x="373" y="13724"/>
                  <a:pt x="354" y="13745"/>
                </a:cubicBezTo>
                <a:cubicBezTo>
                  <a:pt x="334" y="13766"/>
                  <a:pt x="318" y="13851"/>
                  <a:pt x="318" y="13935"/>
                </a:cubicBezTo>
                <a:cubicBezTo>
                  <a:pt x="318" y="14019"/>
                  <a:pt x="304" y="14088"/>
                  <a:pt x="287" y="14088"/>
                </a:cubicBezTo>
                <a:cubicBezTo>
                  <a:pt x="270" y="14088"/>
                  <a:pt x="199" y="14289"/>
                  <a:pt x="128" y="14535"/>
                </a:cubicBezTo>
                <a:cubicBezTo>
                  <a:pt x="7" y="14959"/>
                  <a:pt x="0" y="15015"/>
                  <a:pt x="0" y="15594"/>
                </a:cubicBezTo>
                <a:cubicBezTo>
                  <a:pt x="0" y="15934"/>
                  <a:pt x="16" y="16221"/>
                  <a:pt x="35" y="16242"/>
                </a:cubicBezTo>
                <a:cubicBezTo>
                  <a:pt x="55" y="16264"/>
                  <a:pt x="71" y="16420"/>
                  <a:pt x="71" y="16591"/>
                </a:cubicBezTo>
                <a:cubicBezTo>
                  <a:pt x="71" y="16761"/>
                  <a:pt x="84" y="16950"/>
                  <a:pt x="100" y="17010"/>
                </a:cubicBezTo>
                <a:cubicBezTo>
                  <a:pt x="116" y="17069"/>
                  <a:pt x="156" y="17211"/>
                  <a:pt x="189" y="17325"/>
                </a:cubicBezTo>
                <a:cubicBezTo>
                  <a:pt x="262" y="17582"/>
                  <a:pt x="264" y="18135"/>
                  <a:pt x="193" y="18300"/>
                </a:cubicBezTo>
                <a:cubicBezTo>
                  <a:pt x="165" y="18367"/>
                  <a:pt x="141" y="18496"/>
                  <a:pt x="141" y="18586"/>
                </a:cubicBezTo>
                <a:cubicBezTo>
                  <a:pt x="141" y="18676"/>
                  <a:pt x="165" y="18803"/>
                  <a:pt x="193" y="18870"/>
                </a:cubicBezTo>
                <a:cubicBezTo>
                  <a:pt x="222" y="18937"/>
                  <a:pt x="246" y="19097"/>
                  <a:pt x="246" y="19226"/>
                </a:cubicBezTo>
                <a:cubicBezTo>
                  <a:pt x="249" y="19679"/>
                  <a:pt x="366" y="19904"/>
                  <a:pt x="707" y="20104"/>
                </a:cubicBezTo>
                <a:cubicBezTo>
                  <a:pt x="853" y="20189"/>
                  <a:pt x="1065" y="20332"/>
                  <a:pt x="1177" y="20422"/>
                </a:cubicBezTo>
                <a:cubicBezTo>
                  <a:pt x="1289" y="20511"/>
                  <a:pt x="1396" y="20584"/>
                  <a:pt x="1414" y="20584"/>
                </a:cubicBezTo>
                <a:cubicBezTo>
                  <a:pt x="1432" y="20584"/>
                  <a:pt x="1573" y="20737"/>
                  <a:pt x="1727" y="20922"/>
                </a:cubicBezTo>
                <a:lnTo>
                  <a:pt x="2008" y="21258"/>
                </a:lnTo>
                <a:lnTo>
                  <a:pt x="2416" y="21304"/>
                </a:lnTo>
                <a:cubicBezTo>
                  <a:pt x="2805" y="21347"/>
                  <a:pt x="3438" y="21306"/>
                  <a:pt x="3589" y="21228"/>
                </a:cubicBezTo>
                <a:cubicBezTo>
                  <a:pt x="3714" y="21164"/>
                  <a:pt x="4046" y="20731"/>
                  <a:pt x="4152" y="20494"/>
                </a:cubicBezTo>
                <a:lnTo>
                  <a:pt x="4256" y="20263"/>
                </a:lnTo>
                <a:lnTo>
                  <a:pt x="5513" y="20280"/>
                </a:lnTo>
                <a:cubicBezTo>
                  <a:pt x="6670" y="20295"/>
                  <a:pt x="6787" y="20287"/>
                  <a:pt x="6956" y="20179"/>
                </a:cubicBezTo>
                <a:lnTo>
                  <a:pt x="7141" y="20062"/>
                </a:lnTo>
                <a:lnTo>
                  <a:pt x="7217" y="20214"/>
                </a:lnTo>
                <a:cubicBezTo>
                  <a:pt x="7259" y="20298"/>
                  <a:pt x="7308" y="20441"/>
                  <a:pt x="7326" y="20533"/>
                </a:cubicBezTo>
                <a:cubicBezTo>
                  <a:pt x="7361" y="20706"/>
                  <a:pt x="7859" y="21334"/>
                  <a:pt x="7960" y="21334"/>
                </a:cubicBezTo>
                <a:cubicBezTo>
                  <a:pt x="7989" y="21334"/>
                  <a:pt x="8028" y="21360"/>
                  <a:pt x="8046" y="21392"/>
                </a:cubicBezTo>
                <a:cubicBezTo>
                  <a:pt x="8065" y="21424"/>
                  <a:pt x="8136" y="21478"/>
                  <a:pt x="8204" y="21511"/>
                </a:cubicBezTo>
                <a:cubicBezTo>
                  <a:pt x="8272" y="21545"/>
                  <a:pt x="8519" y="21576"/>
                  <a:pt x="8753" y="21579"/>
                </a:cubicBezTo>
                <a:cubicBezTo>
                  <a:pt x="9223" y="21585"/>
                  <a:pt x="9427" y="21495"/>
                  <a:pt x="9677" y="21175"/>
                </a:cubicBezTo>
                <a:cubicBezTo>
                  <a:pt x="9906" y="20882"/>
                  <a:pt x="10179" y="20347"/>
                  <a:pt x="10191" y="20169"/>
                </a:cubicBezTo>
                <a:cubicBezTo>
                  <a:pt x="10205" y="19953"/>
                  <a:pt x="10247" y="19922"/>
                  <a:pt x="10626" y="19833"/>
                </a:cubicBezTo>
                <a:cubicBezTo>
                  <a:pt x="10801" y="19793"/>
                  <a:pt x="10992" y="19735"/>
                  <a:pt x="11051" y="19707"/>
                </a:cubicBezTo>
                <a:cubicBezTo>
                  <a:pt x="11109" y="19678"/>
                  <a:pt x="11379" y="19637"/>
                  <a:pt x="11651" y="19614"/>
                </a:cubicBezTo>
                <a:lnTo>
                  <a:pt x="12147" y="19572"/>
                </a:lnTo>
                <a:lnTo>
                  <a:pt x="12253" y="19739"/>
                </a:lnTo>
                <a:cubicBezTo>
                  <a:pt x="12425" y="20010"/>
                  <a:pt x="12713" y="20321"/>
                  <a:pt x="12859" y="20393"/>
                </a:cubicBezTo>
                <a:cubicBezTo>
                  <a:pt x="12934" y="20429"/>
                  <a:pt x="13207" y="20459"/>
                  <a:pt x="13465" y="20459"/>
                </a:cubicBezTo>
                <a:cubicBezTo>
                  <a:pt x="14125" y="20459"/>
                  <a:pt x="14282" y="20362"/>
                  <a:pt x="14647" y="19724"/>
                </a:cubicBezTo>
                <a:lnTo>
                  <a:pt x="14921" y="19248"/>
                </a:lnTo>
                <a:lnTo>
                  <a:pt x="15355" y="19229"/>
                </a:lnTo>
                <a:cubicBezTo>
                  <a:pt x="15594" y="19218"/>
                  <a:pt x="15869" y="19181"/>
                  <a:pt x="15966" y="19147"/>
                </a:cubicBezTo>
                <a:cubicBezTo>
                  <a:pt x="16063" y="19114"/>
                  <a:pt x="16246" y="19074"/>
                  <a:pt x="16372" y="19060"/>
                </a:cubicBezTo>
                <a:cubicBezTo>
                  <a:pt x="16499" y="19046"/>
                  <a:pt x="16666" y="19004"/>
                  <a:pt x="16744" y="18967"/>
                </a:cubicBezTo>
                <a:cubicBezTo>
                  <a:pt x="16947" y="18872"/>
                  <a:pt x="17232" y="18882"/>
                  <a:pt x="17350" y="18991"/>
                </a:cubicBezTo>
                <a:cubicBezTo>
                  <a:pt x="17406" y="19042"/>
                  <a:pt x="17510" y="19084"/>
                  <a:pt x="17582" y="19085"/>
                </a:cubicBezTo>
                <a:cubicBezTo>
                  <a:pt x="17695" y="19085"/>
                  <a:pt x="17731" y="19125"/>
                  <a:pt x="17847" y="19378"/>
                </a:cubicBezTo>
                <a:cubicBezTo>
                  <a:pt x="18275" y="20309"/>
                  <a:pt x="18401" y="20469"/>
                  <a:pt x="18795" y="20575"/>
                </a:cubicBezTo>
                <a:cubicBezTo>
                  <a:pt x="19118" y="20662"/>
                  <a:pt x="19799" y="20608"/>
                  <a:pt x="20068" y="20473"/>
                </a:cubicBezTo>
                <a:cubicBezTo>
                  <a:pt x="20246" y="20383"/>
                  <a:pt x="20317" y="20300"/>
                  <a:pt x="20510" y="19960"/>
                </a:cubicBezTo>
                <a:cubicBezTo>
                  <a:pt x="20733" y="19565"/>
                  <a:pt x="20899" y="19118"/>
                  <a:pt x="20899" y="18907"/>
                </a:cubicBezTo>
                <a:cubicBezTo>
                  <a:pt x="20899" y="18850"/>
                  <a:pt x="20923" y="18724"/>
                  <a:pt x="20952" y="18625"/>
                </a:cubicBezTo>
                <a:cubicBezTo>
                  <a:pt x="20981" y="18527"/>
                  <a:pt x="21005" y="18301"/>
                  <a:pt x="21005" y="18125"/>
                </a:cubicBezTo>
                <a:cubicBezTo>
                  <a:pt x="21005" y="17831"/>
                  <a:pt x="21018" y="17780"/>
                  <a:pt x="21164" y="17503"/>
                </a:cubicBezTo>
                <a:cubicBezTo>
                  <a:pt x="21251" y="17337"/>
                  <a:pt x="21333" y="17132"/>
                  <a:pt x="21345" y="17049"/>
                </a:cubicBezTo>
                <a:cubicBezTo>
                  <a:pt x="21356" y="16966"/>
                  <a:pt x="21380" y="16899"/>
                  <a:pt x="21398" y="16899"/>
                </a:cubicBezTo>
                <a:cubicBezTo>
                  <a:pt x="21415" y="16899"/>
                  <a:pt x="21429" y="16814"/>
                  <a:pt x="21429" y="16711"/>
                </a:cubicBezTo>
                <a:cubicBezTo>
                  <a:pt x="21429" y="16608"/>
                  <a:pt x="21445" y="16524"/>
                  <a:pt x="21465" y="16524"/>
                </a:cubicBezTo>
                <a:cubicBezTo>
                  <a:pt x="21484" y="16524"/>
                  <a:pt x="21500" y="16362"/>
                  <a:pt x="21500" y="16165"/>
                </a:cubicBezTo>
                <a:cubicBezTo>
                  <a:pt x="21500" y="15967"/>
                  <a:pt x="21524" y="15727"/>
                  <a:pt x="21552" y="15631"/>
                </a:cubicBezTo>
                <a:cubicBezTo>
                  <a:pt x="21592" y="15497"/>
                  <a:pt x="21600" y="15300"/>
                  <a:pt x="21587" y="14798"/>
                </a:cubicBezTo>
                <a:cubicBezTo>
                  <a:pt x="21578" y="14436"/>
                  <a:pt x="21554" y="14088"/>
                  <a:pt x="21535" y="14025"/>
                </a:cubicBezTo>
                <a:cubicBezTo>
                  <a:pt x="21516" y="13961"/>
                  <a:pt x="21500" y="13837"/>
                  <a:pt x="21500" y="13748"/>
                </a:cubicBezTo>
                <a:cubicBezTo>
                  <a:pt x="21500" y="13660"/>
                  <a:pt x="21484" y="13588"/>
                  <a:pt x="21465" y="13588"/>
                </a:cubicBezTo>
                <a:cubicBezTo>
                  <a:pt x="21445" y="13588"/>
                  <a:pt x="21429" y="13401"/>
                  <a:pt x="21429" y="13151"/>
                </a:cubicBezTo>
                <a:cubicBezTo>
                  <a:pt x="21429" y="12901"/>
                  <a:pt x="21414" y="12713"/>
                  <a:pt x="21394" y="12713"/>
                </a:cubicBezTo>
                <a:cubicBezTo>
                  <a:pt x="21374" y="12713"/>
                  <a:pt x="21358" y="12619"/>
                  <a:pt x="21358" y="12503"/>
                </a:cubicBezTo>
                <a:cubicBezTo>
                  <a:pt x="21358" y="12387"/>
                  <a:pt x="21334" y="12257"/>
                  <a:pt x="21305" y="12214"/>
                </a:cubicBezTo>
                <a:cubicBezTo>
                  <a:pt x="21276" y="12171"/>
                  <a:pt x="21253" y="12059"/>
                  <a:pt x="21253" y="11966"/>
                </a:cubicBezTo>
                <a:cubicBezTo>
                  <a:pt x="21253" y="11789"/>
                  <a:pt x="21166" y="11431"/>
                  <a:pt x="21109" y="11368"/>
                </a:cubicBezTo>
                <a:cubicBezTo>
                  <a:pt x="21090" y="11348"/>
                  <a:pt x="21076" y="10973"/>
                  <a:pt x="21076" y="10534"/>
                </a:cubicBezTo>
                <a:cubicBezTo>
                  <a:pt x="21076" y="9933"/>
                  <a:pt x="21062" y="9685"/>
                  <a:pt x="21020" y="9538"/>
                </a:cubicBezTo>
                <a:cubicBezTo>
                  <a:pt x="20962" y="9334"/>
                  <a:pt x="20782" y="9050"/>
                  <a:pt x="20513" y="8741"/>
                </a:cubicBezTo>
                <a:cubicBezTo>
                  <a:pt x="20427" y="8642"/>
                  <a:pt x="20314" y="8490"/>
                  <a:pt x="20263" y="8404"/>
                </a:cubicBezTo>
                <a:cubicBezTo>
                  <a:pt x="20212" y="8318"/>
                  <a:pt x="20093" y="8135"/>
                  <a:pt x="20000" y="7998"/>
                </a:cubicBezTo>
                <a:cubicBezTo>
                  <a:pt x="19907" y="7860"/>
                  <a:pt x="19789" y="7681"/>
                  <a:pt x="19737" y="7600"/>
                </a:cubicBezTo>
                <a:cubicBezTo>
                  <a:pt x="19686" y="7518"/>
                  <a:pt x="19588" y="7378"/>
                  <a:pt x="19520" y="7288"/>
                </a:cubicBezTo>
                <a:cubicBezTo>
                  <a:pt x="19334" y="7041"/>
                  <a:pt x="19310" y="6964"/>
                  <a:pt x="19309" y="6613"/>
                </a:cubicBezTo>
                <a:cubicBezTo>
                  <a:pt x="19308" y="6327"/>
                  <a:pt x="19294" y="6272"/>
                  <a:pt x="19193" y="6120"/>
                </a:cubicBezTo>
                <a:cubicBezTo>
                  <a:pt x="19129" y="6026"/>
                  <a:pt x="19022" y="5907"/>
                  <a:pt x="18954" y="5857"/>
                </a:cubicBezTo>
                <a:cubicBezTo>
                  <a:pt x="18817" y="5755"/>
                  <a:pt x="18334" y="5570"/>
                  <a:pt x="18034" y="5504"/>
                </a:cubicBezTo>
                <a:cubicBezTo>
                  <a:pt x="17557" y="5399"/>
                  <a:pt x="17459" y="5340"/>
                  <a:pt x="17328" y="5080"/>
                </a:cubicBezTo>
                <a:cubicBezTo>
                  <a:pt x="17208" y="4842"/>
                  <a:pt x="17194" y="4831"/>
                  <a:pt x="16952" y="4807"/>
                </a:cubicBezTo>
                <a:cubicBezTo>
                  <a:pt x="16813" y="4794"/>
                  <a:pt x="16656" y="4754"/>
                  <a:pt x="16604" y="4719"/>
                </a:cubicBezTo>
                <a:cubicBezTo>
                  <a:pt x="16552" y="4684"/>
                  <a:pt x="16375" y="4655"/>
                  <a:pt x="16211" y="4655"/>
                </a:cubicBezTo>
                <a:cubicBezTo>
                  <a:pt x="15951" y="4655"/>
                  <a:pt x="15904" y="4638"/>
                  <a:pt x="15850" y="4525"/>
                </a:cubicBezTo>
                <a:cubicBezTo>
                  <a:pt x="15708" y="4223"/>
                  <a:pt x="15675" y="4170"/>
                  <a:pt x="15520" y="3983"/>
                </a:cubicBezTo>
                <a:cubicBezTo>
                  <a:pt x="15195" y="3593"/>
                  <a:pt x="14782" y="3577"/>
                  <a:pt x="14564" y="3945"/>
                </a:cubicBezTo>
                <a:lnTo>
                  <a:pt x="14470" y="4104"/>
                </a:lnTo>
                <a:lnTo>
                  <a:pt x="14299" y="3943"/>
                </a:lnTo>
                <a:cubicBezTo>
                  <a:pt x="14205" y="3854"/>
                  <a:pt x="14095" y="3781"/>
                  <a:pt x="14055" y="3781"/>
                </a:cubicBezTo>
                <a:cubicBezTo>
                  <a:pt x="13944" y="3781"/>
                  <a:pt x="13897" y="3659"/>
                  <a:pt x="13897" y="3373"/>
                </a:cubicBezTo>
                <a:cubicBezTo>
                  <a:pt x="13897" y="2989"/>
                  <a:pt x="13944" y="2969"/>
                  <a:pt x="14845" y="2968"/>
                </a:cubicBezTo>
                <a:cubicBezTo>
                  <a:pt x="15664" y="2967"/>
                  <a:pt x="15758" y="2938"/>
                  <a:pt x="15824" y="2664"/>
                </a:cubicBezTo>
                <a:cubicBezTo>
                  <a:pt x="15847" y="2570"/>
                  <a:pt x="15951" y="2441"/>
                  <a:pt x="16113" y="2304"/>
                </a:cubicBezTo>
                <a:cubicBezTo>
                  <a:pt x="16343" y="2110"/>
                  <a:pt x="16373" y="2061"/>
                  <a:pt x="16457" y="1759"/>
                </a:cubicBezTo>
                <a:cubicBezTo>
                  <a:pt x="16508" y="1576"/>
                  <a:pt x="16550" y="1322"/>
                  <a:pt x="16550" y="1195"/>
                </a:cubicBezTo>
                <a:cubicBezTo>
                  <a:pt x="16550" y="1013"/>
                  <a:pt x="16573" y="928"/>
                  <a:pt x="16655" y="805"/>
                </a:cubicBezTo>
                <a:cubicBezTo>
                  <a:pt x="16768" y="637"/>
                  <a:pt x="16799" y="351"/>
                  <a:pt x="16717" y="237"/>
                </a:cubicBezTo>
                <a:cubicBezTo>
                  <a:pt x="16659" y="157"/>
                  <a:pt x="16353" y="18"/>
                  <a:pt x="16195" y="0"/>
                </a:cubicBezTo>
                <a:close/>
              </a:path>
            </a:pathLst>
          </a:cu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Our Solution: Autopark"/>
          <p:cNvSpPr txBox="1"/>
          <p:nvPr>
            <p:ph type="title"/>
          </p:nvPr>
        </p:nvSpPr>
        <p:spPr>
          <a:xfrm>
            <a:off x="947981" y="6046993"/>
            <a:ext cx="17713769" cy="4922293"/>
          </a:xfrm>
          <a:prstGeom prst="rect">
            <a:avLst/>
          </a:prstGeom>
        </p:spPr>
        <p:txBody>
          <a:bodyPr/>
          <a:lstStyle>
            <a:lvl1pPr algn="l">
              <a:defRPr b="0" sz="13600"/>
            </a:lvl1pPr>
          </a:lstStyle>
          <a:p>
            <a:pPr/>
            <a:r>
              <a:t>Our Solution: Autopark</a:t>
            </a:r>
          </a:p>
        </p:txBody>
      </p:sp>
      <p:sp>
        <p:nvSpPr>
          <p:cNvPr id="464" name="01"/>
          <p:cNvSpPr txBox="1"/>
          <p:nvPr>
            <p:ph type="sldNum" sz="quarter" idx="2"/>
          </p:nvPr>
        </p:nvSpPr>
        <p:spPr>
          <a:xfrm>
            <a:off x="23545659" y="12666270"/>
            <a:ext cx="735632" cy="9950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AutoPark is a smart self-parking system that enables vehicles to autonomously locate, navigate to, and park in available spots without driver input. By integrating with existing navigation infrastructure (via APIs like Google Maps) and leveraging modern "/>
          <p:cNvSpPr txBox="1"/>
          <p:nvPr>
            <p:ph type="body" idx="1"/>
          </p:nvPr>
        </p:nvSpPr>
        <p:spPr>
          <a:prstGeom prst="rect">
            <a:avLst/>
          </a:prstGeom>
        </p:spPr>
        <p:txBody>
          <a:bodyPr/>
          <a:lstStyle/>
          <a:p>
            <a:pPr/>
            <a:r>
              <a:t>AutoPark is a smart self-parking system that enables vehicles to autonomously locate, navigate to, and park in available spots without driver input. By integrating with existing navigation infrastructure (via APIs like Google Maps) and leveraging modern sensors, AutoPark identifies safe and compatible parking locations based on real-time data. Once a space is located and reserved, the system autonomously executes the parking maneuver.</a:t>
            </a:r>
          </a:p>
        </p:txBody>
      </p:sp>
      <p:sp>
        <p:nvSpPr>
          <p:cNvPr id="467"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68" name="What is Autopark?"/>
          <p:cNvSpPr txBox="1"/>
          <p:nvPr>
            <p:ph type="title"/>
          </p:nvPr>
        </p:nvSpPr>
        <p:spPr>
          <a:prstGeom prst="rect">
            <a:avLst/>
          </a:prstGeom>
        </p:spPr>
        <p:txBody>
          <a:bodyPr/>
          <a:lstStyle>
            <a:lvl1pPr defTabSz="2145791">
              <a:defRPr spc="211" sz="7040"/>
            </a:lvl1pPr>
          </a:lstStyle>
          <a:p>
            <a:pPr/>
            <a:r>
              <a:t>What is Autopark?</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0" name="AutoPark is built on four integrated components:…"/>
          <p:cNvSpPr txBox="1"/>
          <p:nvPr>
            <p:ph type="body" idx="1"/>
          </p:nvPr>
        </p:nvSpPr>
        <p:spPr>
          <a:prstGeom prst="rect">
            <a:avLst/>
          </a:prstGeom>
        </p:spPr>
        <p:txBody>
          <a:bodyPr/>
          <a:lstStyle/>
          <a:p>
            <a:pPr/>
            <a:r>
              <a:t>AutoPark is built on four integrated components:</a:t>
            </a:r>
          </a:p>
          <a:p>
            <a:pPr lvl="1" marL="1511300" indent="-914400">
              <a:buChar char="➔"/>
            </a:pPr>
            <a:r>
              <a:rPr b="1"/>
              <a:t>Mobile App:</a:t>
            </a:r>
            <a:r>
              <a:t xml:space="preserve"> Used by the driver to browse and select a parking spot.</a:t>
            </a:r>
          </a:p>
          <a:p>
            <a:pPr lvl="1" marL="1511300" indent="-914400">
              <a:buChar char="➔"/>
            </a:pPr>
            <a:r>
              <a:rPr b="1"/>
              <a:t>Cloud Software Service:</a:t>
            </a:r>
            <a:r>
              <a:t xml:space="preserve"> Manages user and vehicle data, and delivers smart parking recommendations.</a:t>
            </a:r>
          </a:p>
          <a:p>
            <a:pPr lvl="1" marL="1511300" indent="-914400">
              <a:buChar char="➔"/>
            </a:pPr>
            <a:r>
              <a:rPr b="1"/>
              <a:t>OBU (On-Board Unit):</a:t>
            </a:r>
            <a:r>
              <a:t xml:space="preserve"> Installed in the vehicle to authenticate at parking gates.</a:t>
            </a:r>
          </a:p>
          <a:p>
            <a:pPr lvl="1" marL="1511300" indent="-914400">
              <a:buChar char="➔"/>
            </a:pPr>
            <a:r>
              <a:rPr b="1"/>
              <a:t>RSU (Road-Side Unit):</a:t>
            </a:r>
            <a:r>
              <a:t xml:space="preserve"> Deployed in parking lots to communicate with the OBU and verify vehicle access.</a:t>
            </a:r>
          </a:p>
        </p:txBody>
      </p:sp>
      <p:sp>
        <p:nvSpPr>
          <p:cNvPr id="471"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72" name="Double-click to edit"/>
          <p:cNvSpPr txBox="1"/>
          <p:nvPr>
            <p:ph type="title"/>
          </p:nvPr>
        </p:nvSpPr>
        <p:spPr>
          <a:prstGeom prst="rect">
            <a:avLst/>
          </a:prstGeom>
        </p:spPr>
        <p:txBody>
          <a:bodyPr/>
          <a:lstStyle/>
          <a:p>
            <a:pPr defTabSz="2145791">
              <a:defRPr spc="211" sz="7040"/>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takeholders &amp; Impacts"/>
          <p:cNvSpPr txBox="1"/>
          <p:nvPr>
            <p:ph type="title"/>
          </p:nvPr>
        </p:nvSpPr>
        <p:spPr>
          <a:xfrm>
            <a:off x="947981" y="6046993"/>
            <a:ext cx="17713769" cy="4922293"/>
          </a:xfrm>
          <a:prstGeom prst="rect">
            <a:avLst/>
          </a:prstGeom>
        </p:spPr>
        <p:txBody>
          <a:bodyPr/>
          <a:lstStyle>
            <a:lvl1pPr algn="l">
              <a:defRPr b="0" sz="13600"/>
            </a:lvl1pPr>
          </a:lstStyle>
          <a:p>
            <a:pPr/>
            <a:r>
              <a:t>Stakeholders &amp; Impacts</a:t>
            </a:r>
          </a:p>
        </p:txBody>
      </p:sp>
      <p:sp>
        <p:nvSpPr>
          <p:cNvPr id="475" name="01"/>
          <p:cNvSpPr txBox="1"/>
          <p:nvPr>
            <p:ph type="sldNum" sz="quarter" idx="2"/>
          </p:nvPr>
        </p:nvSpPr>
        <p:spPr>
          <a:xfrm>
            <a:off x="23545659" y="12666270"/>
            <a:ext cx="735632" cy="9950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Primary Customer (B2B): Automotive OEMs (e.g., General Motors, Ford)…"/>
          <p:cNvSpPr txBox="1"/>
          <p:nvPr>
            <p:ph type="body" idx="1"/>
          </p:nvPr>
        </p:nvSpPr>
        <p:spPr>
          <a:prstGeom prst="rect">
            <a:avLst/>
          </a:prstGeom>
        </p:spPr>
        <p:txBody>
          <a:bodyPr/>
          <a:lstStyle/>
          <a:p>
            <a:pPr marL="740664" indent="-658368" defTabSz="1755648">
              <a:buSzPts val="3400"/>
              <a:defRPr b="1" spc="103" sz="3456"/>
            </a:pPr>
            <a:r>
              <a:t>Primary Customer (B2B): Automotive OEMs (e.g., General Motors, Ford)</a:t>
            </a:r>
          </a:p>
          <a:p>
            <a:pPr lvl="1" marL="1088136" indent="-658368" defTabSz="1755648">
              <a:buSzPts val="3400"/>
              <a:buChar char="➔"/>
              <a:defRPr spc="103" sz="3456"/>
            </a:pPr>
            <a:r>
              <a:t>In a feature war, they need to differentiate their AVs.</a:t>
            </a:r>
          </a:p>
          <a:p>
            <a:pPr lvl="1" marL="1088136" indent="-658368" defTabSz="1755648">
              <a:buSzPts val="3400"/>
              <a:buChar char="➔"/>
              <a:defRPr spc="103" sz="3456"/>
            </a:pPr>
            <a:r>
              <a:t>The "AutoPark" software module is a high-value, licensable feature they can build into their new vehicles.</a:t>
            </a:r>
          </a:p>
          <a:p>
            <a:pPr lvl="1" marL="1088136" indent="-658368" defTabSz="1755648">
              <a:buSzPts val="3400"/>
              <a:buChar char="➔"/>
              <a:defRPr spc="103" sz="3456"/>
            </a:pPr>
          </a:p>
          <a:p>
            <a:pPr marL="740664" indent="-658368" defTabSz="1755648">
              <a:buSzPts val="3400"/>
              <a:defRPr b="1" spc="103" sz="3456"/>
            </a:pPr>
            <a:r>
              <a:t>End-User (B2C Experience): The AV Owner / Rider</a:t>
            </a:r>
          </a:p>
          <a:p>
            <a:pPr lvl="1" marL="1088136" indent="-658368" defTabSz="1755648">
              <a:buSzPts val="3400"/>
              <a:buChar char="➔"/>
              <a:defRPr spc="103" sz="3456"/>
            </a:pPr>
            <a:r>
              <a:t>Core "customer experience" value. They get a true "curbside-to-curbside" experience — dropped off at the door, and the car vanishes, handling the parking task entirely.</a:t>
            </a:r>
          </a:p>
          <a:p>
            <a:pPr lvl="1" marL="1088136" indent="-658368" defTabSz="1755648">
              <a:buSzPts val="3400"/>
              <a:buChar char="➔"/>
              <a:defRPr spc="103" sz="3456"/>
            </a:pPr>
          </a:p>
          <a:p>
            <a:pPr marL="740664" indent="-658368" defTabSz="1755648">
              <a:buSzPts val="3400"/>
              <a:defRPr b="1" spc="103" sz="3456"/>
            </a:pPr>
            <a:r>
              <a:t>Key Partners (Data &amp; Infrastructure)</a:t>
            </a:r>
          </a:p>
          <a:p>
            <a:pPr lvl="1" marL="1088136" indent="-658368" defTabSz="1755648">
              <a:buSzPts val="3400"/>
              <a:buChar char="➔"/>
              <a:defRPr spc="103" sz="3456"/>
            </a:pPr>
            <a:r>
              <a:t>Parking Infrastructure Owners (e.g., municipalities, shopping malls, airports, commercial garages) — provide real-time data on which spots are open.</a:t>
            </a:r>
          </a:p>
          <a:p>
            <a:pPr lvl="1" marL="1088136" indent="-658368" defTabSz="1755648">
              <a:buSzPts val="3400"/>
              <a:buChar char="➔"/>
              <a:defRPr spc="103" sz="3456"/>
            </a:pPr>
            <a:r>
              <a:t>Data Aggregators (e.g., Google Maps) — their APIs are needed to find available lots, and they need the system to offer a premium "park-for-me" feature.</a:t>
            </a:r>
          </a:p>
        </p:txBody>
      </p:sp>
      <p:sp>
        <p:nvSpPr>
          <p:cNvPr id="478"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79" name="Primary Beneficiaries"/>
          <p:cNvSpPr txBox="1"/>
          <p:nvPr>
            <p:ph type="title"/>
          </p:nvPr>
        </p:nvSpPr>
        <p:spPr>
          <a:prstGeom prst="rect">
            <a:avLst/>
          </a:prstGeom>
        </p:spPr>
        <p:txBody>
          <a:bodyPr/>
          <a:lstStyle>
            <a:lvl1pPr defTabSz="2145791">
              <a:defRPr spc="211" sz="7040"/>
            </a:lvl1pPr>
          </a:lstStyle>
          <a:p>
            <a:pPr/>
            <a:r>
              <a:t>Primary Beneficiaries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1" name="Benchmarking &amp; Market Assessment"/>
          <p:cNvSpPr txBox="1"/>
          <p:nvPr>
            <p:ph type="title"/>
          </p:nvPr>
        </p:nvSpPr>
        <p:spPr>
          <a:xfrm>
            <a:off x="947981" y="6046993"/>
            <a:ext cx="17713769" cy="4922293"/>
          </a:xfrm>
          <a:prstGeom prst="rect">
            <a:avLst/>
          </a:prstGeom>
        </p:spPr>
        <p:txBody>
          <a:bodyPr/>
          <a:lstStyle>
            <a:lvl1pPr algn="l">
              <a:defRPr b="0" sz="13600"/>
            </a:lvl1pPr>
          </a:lstStyle>
          <a:p>
            <a:pPr/>
            <a:r>
              <a:t>Benchmarking &amp; Market Assessment</a:t>
            </a:r>
          </a:p>
        </p:txBody>
      </p:sp>
      <p:sp>
        <p:nvSpPr>
          <p:cNvPr id="482"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In 2025, market research firms like Straits Research and Precedence Research place smart/autonomous parking value between $9.3 and $11.2 billion…"/>
          <p:cNvSpPr txBox="1"/>
          <p:nvPr>
            <p:ph type="body" idx="1"/>
          </p:nvPr>
        </p:nvSpPr>
        <p:spPr>
          <a:xfrm>
            <a:off x="860732" y="2609631"/>
            <a:ext cx="22721602" cy="9110401"/>
          </a:xfrm>
          <a:prstGeom prst="rect">
            <a:avLst/>
          </a:prstGeom>
        </p:spPr>
        <p:txBody>
          <a:bodyPr/>
          <a:lstStyle/>
          <a:p>
            <a:pPr/>
          </a:p>
          <a:p>
            <a:pPr/>
            <a:r>
              <a:t xml:space="preserve">In 2025, market research firms like Straits Research and Precedence Research place smart/autonomous parking value between </a:t>
            </a:r>
            <a:r>
              <a:rPr b="1"/>
              <a:t>$9.3 and $11.2 billion</a:t>
            </a:r>
            <a:endParaRPr b="1"/>
          </a:p>
          <a:p>
            <a:pPr/>
            <a:r>
              <a:t>Projected to grow to over</a:t>
            </a:r>
            <a:r>
              <a:rPr b="1"/>
              <a:t xml:space="preserve"> $33 billion by 2033</a:t>
            </a:r>
            <a:r>
              <a:t xml:space="preserve"> = </a:t>
            </a:r>
            <a:r>
              <a:rPr b="1"/>
              <a:t>17.4% CAGR</a:t>
            </a:r>
            <a:r>
              <a:t xml:space="preserve"> (17–20% range)</a:t>
            </a:r>
          </a:p>
        </p:txBody>
      </p:sp>
      <p:sp>
        <p:nvSpPr>
          <p:cNvPr id="48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6" name="Market size and growth"/>
          <p:cNvSpPr txBox="1"/>
          <p:nvPr>
            <p:ph type="title"/>
          </p:nvPr>
        </p:nvSpPr>
        <p:spPr>
          <a:prstGeom prst="rect">
            <a:avLst/>
          </a:prstGeom>
        </p:spPr>
        <p:txBody>
          <a:bodyPr/>
          <a:lstStyle>
            <a:lvl1pPr defTabSz="2145791">
              <a:defRPr spc="211" sz="7040"/>
            </a:lvl1pPr>
          </a:lstStyle>
          <a:p>
            <a:pPr/>
            <a:r>
              <a:t>Market size and growth</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9" name="Summary of Market Projections"/>
          <p:cNvSpPr txBox="1"/>
          <p:nvPr>
            <p:ph type="title"/>
          </p:nvPr>
        </p:nvSpPr>
        <p:spPr>
          <a:prstGeom prst="rect">
            <a:avLst/>
          </a:prstGeom>
        </p:spPr>
        <p:txBody>
          <a:bodyPr/>
          <a:lstStyle>
            <a:lvl1pPr defTabSz="2145791">
              <a:defRPr spc="211" sz="7040"/>
            </a:lvl1pPr>
          </a:lstStyle>
          <a:p>
            <a:pPr/>
            <a:r>
              <a:t>Summary of Market Projections</a:t>
            </a:r>
          </a:p>
        </p:txBody>
      </p:sp>
      <p:graphicFrame>
        <p:nvGraphicFramePr>
          <p:cNvPr id="490" name="Table 1"/>
          <p:cNvGraphicFramePr/>
          <p:nvPr/>
        </p:nvGraphicFramePr>
        <p:xfrm>
          <a:off x="4787059" y="3520847"/>
          <a:ext cx="14822582" cy="8032220"/>
        </p:xfrm>
        <a:graphic xmlns:a="http://schemas.openxmlformats.org/drawingml/2006/main">
          <a:graphicData uri="http://schemas.openxmlformats.org/drawingml/2006/table">
            <a:tbl>
              <a:tblPr firstCol="0" firstRow="1" lastCol="0" lastRow="0" bandCol="0" bandRow="1" rtl="0">
                <a:tableStyleId>{C7B018BB-80A7-4F77-B60F-C8B233D01FF8}</a:tableStyleId>
              </a:tblPr>
              <a:tblGrid>
                <a:gridCol w="5092990"/>
                <a:gridCol w="4668574"/>
                <a:gridCol w="5048315"/>
              </a:tblGrid>
              <a:tr h="1037756">
                <a:tc>
                  <a:txBody>
                    <a:bodyPr/>
                    <a:lstStyle/>
                    <a:p>
                      <a:pPr defTabSz="914400">
                        <a:tabLst>
                          <a:tab pos="1663700" algn="l"/>
                        </a:tabLst>
                        <a:defRPr b="0" sz="1800"/>
                      </a:pPr>
                      <a:r>
                        <a:rPr b="1" sz="3200"/>
                        <a:t>Research Firm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defRPr b="0" sz="1800"/>
                      </a:pPr>
                      <a:r>
                        <a:rPr b="1" sz="3200"/>
                        <a:t>2024 Estimate</a:t>
                      </a:r>
                    </a:p>
                  </a:txBody>
                  <a:tcPr marL="50800" marR="50800" marT="50800" marB="50800" anchor="ctr" anchorCtr="0" horzOverflow="overflow"/>
                </a:tc>
                <a:tc>
                  <a:txBody>
                    <a:bodyPr/>
                    <a:lstStyle/>
                    <a:p>
                      <a:pPr defTabSz="914400">
                        <a:tabLst>
                          <a:tab pos="1663700" algn="l"/>
                        </a:tabLst>
                        <a:defRPr b="0" sz="1800"/>
                      </a:pPr>
                      <a:r>
                        <a:rPr b="1" sz="3200"/>
                        <a:t>2025 Estimate</a:t>
                      </a:r>
                    </a:p>
                  </a:txBody>
                  <a:tcPr marL="50800" marR="50800" marT="50800" marB="50800" anchor="ctr" anchorCtr="0" horzOverflow="overflow">
                    <a:lnR w="12700">
                      <a:solidFill>
                        <a:srgbClr val="000000"/>
                      </a:solidFill>
                      <a:miter lim="400000"/>
                    </a:lnR>
                  </a:tcPr>
                </a:tc>
              </a:tr>
              <a:tr h="1037756">
                <a:tc>
                  <a:txBody>
                    <a:bodyPr/>
                    <a:lstStyle/>
                    <a:p>
                      <a:pPr defTabSz="914400">
                        <a:tabLst>
                          <a:tab pos="1663700" algn="l"/>
                        </a:tabLst>
                        <a:defRPr b="0" sz="1800"/>
                      </a:pPr>
                      <a:r>
                        <a:rPr sz="3200"/>
                        <a:t>Straits Research</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defRPr b="0" sz="1800"/>
                      </a:pPr>
                      <a:r>
                        <a:rPr sz="3200"/>
                        <a:t>$7.98 Billion</a:t>
                      </a:r>
                    </a:p>
                  </a:txBody>
                  <a:tcPr marL="50800" marR="50800" marT="50800" marB="50800" anchor="ctr" anchorCtr="0" horzOverflow="overflow"/>
                </a:tc>
                <a:tc>
                  <a:txBody>
                    <a:bodyPr/>
                    <a:lstStyle/>
                    <a:p>
                      <a:pPr defTabSz="914400">
                        <a:tabLst>
                          <a:tab pos="1663700" algn="l"/>
                        </a:tabLst>
                        <a:defRPr b="0" sz="1800"/>
                      </a:pPr>
                      <a:r>
                        <a:rPr sz="3200"/>
                        <a:t>$9.37 Billion</a:t>
                      </a:r>
                    </a:p>
                  </a:txBody>
                  <a:tcPr marL="50800" marR="50800" marT="50800" marB="50800" anchor="ctr" anchorCtr="0" horzOverflow="overflow">
                    <a:lnR w="12700">
                      <a:solidFill>
                        <a:srgbClr val="000000"/>
                      </a:solidFill>
                      <a:miter lim="400000"/>
                    </a:lnR>
                  </a:tcPr>
                </a:tc>
              </a:tr>
              <a:tr h="1981335">
                <a:tc>
                  <a:txBody>
                    <a:bodyPr/>
                    <a:lstStyle/>
                    <a:p>
                      <a:pPr defTabSz="914400">
                        <a:tabLst>
                          <a:tab pos="1663700" algn="l"/>
                        </a:tabLst>
                        <a:defRPr b="0" sz="1800"/>
                      </a:pPr>
                      <a:r>
                        <a:rPr sz="3200"/>
                        <a:t>Precedence Research</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defRPr b="0" sz="1800"/>
                      </a:pPr>
                      <a:r>
                        <a:rPr sz="3200"/>
                        <a:t>$9.15 Billion</a:t>
                      </a:r>
                    </a:p>
                  </a:txBody>
                  <a:tcPr marL="50800" marR="50800" marT="50800" marB="50800" anchor="ctr" anchorCtr="0" horzOverflow="overflow"/>
                </a:tc>
                <a:tc>
                  <a:txBody>
                    <a:bodyPr/>
                    <a:lstStyle/>
                    <a:p>
                      <a:pPr defTabSz="914400">
                        <a:tabLst>
                          <a:tab pos="1663700" algn="l"/>
                        </a:tabLst>
                        <a:defRPr b="0" sz="1800"/>
                      </a:pPr>
                      <a:r>
                        <a:rPr sz="3200"/>
                        <a:t>$11.18 Billion</a:t>
                      </a:r>
                    </a:p>
                  </a:txBody>
                  <a:tcPr marL="50800" marR="50800" marT="50800" marB="50800" anchor="ctr" anchorCtr="0" horzOverflow="overflow">
                    <a:lnR w="12700">
                      <a:solidFill>
                        <a:srgbClr val="000000"/>
                      </a:solidFill>
                      <a:miter lim="400000"/>
                    </a:lnR>
                  </a:tcPr>
                </a:tc>
              </a:tr>
              <a:tr h="1981335">
                <a:tc>
                  <a:txBody>
                    <a:bodyPr/>
                    <a:lstStyle/>
                    <a:p>
                      <a:pPr defTabSz="914400">
                        <a:tabLst>
                          <a:tab pos="1663700" algn="l"/>
                        </a:tabLst>
                        <a:defRPr b="0" sz="1800"/>
                      </a:pPr>
                      <a:r>
                        <a:rPr sz="3200"/>
                        <a:t>The Business Research Co.</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defRPr b="0" sz="1800"/>
                      </a:pPr>
                      <a:r>
                        <a:rPr sz="3200"/>
                        <a:t>$8.5 Billion</a:t>
                      </a:r>
                    </a:p>
                  </a:txBody>
                  <a:tcPr marL="50800" marR="50800" marT="50800" marB="50800" anchor="ctr" anchorCtr="0" horzOverflow="overflow"/>
                </a:tc>
                <a:tc>
                  <a:txBody>
                    <a:bodyPr/>
                    <a:lstStyle/>
                    <a:p>
                      <a:pPr defTabSz="914400">
                        <a:tabLst>
                          <a:tab pos="1663700" algn="l"/>
                        </a:tabLst>
                        <a:defRPr b="0" sz="1800"/>
                      </a:pPr>
                      <a:r>
                        <a:rPr sz="3200"/>
                        <a:t>$10.27 Billion</a:t>
                      </a:r>
                    </a:p>
                  </a:txBody>
                  <a:tcPr marL="50800" marR="50800" marT="50800" marB="50800" anchor="ctr" anchorCtr="0" horzOverflow="overflow">
                    <a:lnR w="12700">
                      <a:solidFill>
                        <a:srgbClr val="000000"/>
                      </a:solidFill>
                      <a:miter lim="400000"/>
                    </a:lnR>
                  </a:tcPr>
                </a:tc>
              </a:tr>
              <a:tr h="1981335">
                <a:tc>
                  <a:txBody>
                    <a:bodyPr/>
                    <a:lstStyle/>
                    <a:p>
                      <a:pPr defTabSz="914400">
                        <a:tabLst>
                          <a:tab pos="1663700" algn="l"/>
                        </a:tabLst>
                        <a:defRPr b="0" sz="1800"/>
                      </a:pPr>
                      <a:r>
                        <a:rPr sz="3200"/>
                        <a:t>IMARC Group</a:t>
                      </a:r>
                    </a:p>
                  </a:txBody>
                  <a:tcPr marL="50800" marR="50800" marT="50800" marB="50800" anchor="ctr" anchorCtr="0" horzOverflow="overflow">
                    <a:lnL w="12700">
                      <a:solidFill>
                        <a:srgbClr val="000000"/>
                      </a:solidFill>
                      <a:miter lim="400000"/>
                    </a:lnL>
                    <a:lnB w="12700">
                      <a:solidFill>
                        <a:srgbClr val="000000"/>
                      </a:solidFill>
                      <a:miter lim="400000"/>
                    </a:lnB>
                  </a:tcPr>
                </a:tc>
                <a:tc>
                  <a:txBody>
                    <a:bodyPr/>
                    <a:lstStyle/>
                    <a:p>
                      <a:pPr defTabSz="914400">
                        <a:tabLst>
                          <a:tab pos="1663700" algn="l"/>
                        </a:tabLst>
                        <a:defRPr b="0" sz="1800"/>
                      </a:pPr>
                      <a:r>
                        <a:rPr sz="3200"/>
                        <a:t>$5.7 Billion</a:t>
                      </a:r>
                    </a:p>
                  </a:txBody>
                  <a:tcPr marL="50800" marR="50800" marT="50800" marB="50800" anchor="ctr" anchorCtr="0" horzOverflow="overflow">
                    <a:lnB w="12700">
                      <a:solidFill>
                        <a:srgbClr val="000000"/>
                      </a:solidFill>
                      <a:miter lim="400000"/>
                    </a:lnB>
                  </a:tcPr>
                </a:tc>
                <a:tc>
                  <a:txBody>
                    <a:bodyPr/>
                    <a:lstStyle/>
                    <a:p>
                      <a:pPr defTabSz="914400">
                        <a:tabLst>
                          <a:tab pos="1663700" algn="l"/>
                        </a:tabLst>
                        <a:defRPr b="0" sz="1800"/>
                      </a:pPr>
                      <a:r>
                        <a:rPr sz="3200"/>
                        <a:t>(No 2025, but a lower base)</a:t>
                      </a:r>
                    </a:p>
                  </a:txBody>
                  <a:tcPr marL="50800" marR="50800" marT="50800" marB="50800" anchor="ctr" anchorCtr="0" horzOverflow="overflow">
                    <a:lnR w="12700">
                      <a:solidFill>
                        <a:srgbClr val="000000"/>
                      </a:solidFill>
                      <a:miter lim="400000"/>
                    </a:lnR>
                    <a:lnB w="12700">
                      <a:solidFill>
                        <a:srgbClr val="000000"/>
                      </a:solidFill>
                      <a:miter lim="400000"/>
                    </a:lnB>
                  </a:tcPr>
                </a:tc>
              </a:tr>
            </a:tbl>
          </a:graphicData>
        </a:graphic>
      </p:graphicFrame>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2" name="Urbanization and Congestion: More people are moving to cities, leading to a massive increase in vehicles, traffic congestion, and parking demand.…"/>
          <p:cNvSpPr txBox="1"/>
          <p:nvPr>
            <p:ph type="body" idx="1"/>
          </p:nvPr>
        </p:nvSpPr>
        <p:spPr>
          <a:prstGeom prst="rect">
            <a:avLst/>
          </a:prstGeom>
        </p:spPr>
        <p:txBody>
          <a:bodyPr/>
          <a:lstStyle/>
          <a:p>
            <a:pPr marL="987551" indent="-877823" defTabSz="2340863">
              <a:buSzPts val="4600"/>
              <a:defRPr spc="138" sz="4608"/>
            </a:pPr>
            <a:r>
              <a:rPr b="1"/>
              <a:t>Urbanization and Congestion:</a:t>
            </a:r>
            <a:r>
              <a:t xml:space="preserve"> More people are moving to cities, leading to a massive increase in vehicles, traffic congestion, and parking demand.</a:t>
            </a:r>
          </a:p>
          <a:p>
            <a:pPr marL="987551" indent="-877823" defTabSz="2340863">
              <a:buSzPts val="4600"/>
              <a:defRPr spc="138" sz="4608"/>
            </a:pPr>
          </a:p>
          <a:p>
            <a:pPr marL="987551" indent="-877823" defTabSz="2340863">
              <a:buSzPts val="4600"/>
              <a:defRPr spc="138" sz="4608"/>
            </a:pPr>
            <a:r>
              <a:rPr b="1"/>
              <a:t xml:space="preserve">Environmental Concerns: </a:t>
            </a:r>
            <a:r>
              <a:t>Reducing the time spent "cruising" for parking directly reduces fuel consumption and carbon emissions, which is a major goal for cities and corporations.</a:t>
            </a:r>
          </a:p>
          <a:p>
            <a:pPr marL="987551" indent="-877823" defTabSz="2340863">
              <a:buSzPts val="4600"/>
              <a:defRPr spc="138" sz="4608"/>
            </a:pPr>
          </a:p>
          <a:p>
            <a:pPr marL="987551" indent="-877823" defTabSz="2340863">
              <a:buSzPts val="4600"/>
              <a:defRPr spc="138" sz="4608"/>
            </a:pPr>
            <a:r>
              <a:rPr b="1"/>
              <a:t xml:space="preserve">Smart City Initiatives + IoT and Connectivity: </a:t>
            </a:r>
            <a:r>
              <a:t>Widespread adoption of IoT sensors, 5G, and cloud computing makes it cheaper and easier to get real-time data on which spots are open.</a:t>
            </a:r>
          </a:p>
        </p:txBody>
      </p:sp>
      <p:sp>
        <p:nvSpPr>
          <p:cNvPr id="493"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94" name="External tailwinds"/>
          <p:cNvSpPr txBox="1"/>
          <p:nvPr>
            <p:ph type="title"/>
          </p:nvPr>
        </p:nvSpPr>
        <p:spPr>
          <a:prstGeom prst="rect">
            <a:avLst/>
          </a:prstGeom>
        </p:spPr>
        <p:txBody>
          <a:bodyPr/>
          <a:lstStyle>
            <a:lvl1pPr defTabSz="2145791">
              <a:defRPr spc="211" sz="7040"/>
            </a:lvl1pPr>
          </a:lstStyle>
          <a:p>
            <a:pPr/>
            <a:r>
              <a:t>External tailwinds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6" name="System Integration"/>
          <p:cNvSpPr txBox="1"/>
          <p:nvPr>
            <p:ph type="title"/>
          </p:nvPr>
        </p:nvSpPr>
        <p:spPr>
          <a:xfrm>
            <a:off x="947981" y="6046993"/>
            <a:ext cx="17713769" cy="4922293"/>
          </a:xfrm>
          <a:prstGeom prst="rect">
            <a:avLst/>
          </a:prstGeom>
        </p:spPr>
        <p:txBody>
          <a:bodyPr/>
          <a:lstStyle>
            <a:lvl1pPr algn="l">
              <a:defRPr b="0" sz="13600"/>
            </a:lvl1pPr>
          </a:lstStyle>
          <a:p>
            <a:pPr/>
            <a:r>
              <a:t>System Integration</a:t>
            </a:r>
          </a:p>
        </p:txBody>
      </p:sp>
      <p:sp>
        <p:nvSpPr>
          <p:cNvPr id="49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System Design"/>
          <p:cNvSpPr txBox="1"/>
          <p:nvPr>
            <p:ph type="title"/>
          </p:nvPr>
        </p:nvSpPr>
        <p:spPr>
          <a:xfrm>
            <a:off x="947981" y="6046993"/>
            <a:ext cx="17713769" cy="4922293"/>
          </a:xfrm>
          <a:prstGeom prst="rect">
            <a:avLst/>
          </a:prstGeom>
        </p:spPr>
        <p:txBody>
          <a:bodyPr/>
          <a:lstStyle>
            <a:lvl1pPr algn="l">
              <a:defRPr b="0" sz="13600"/>
            </a:lvl1pPr>
          </a:lstStyle>
          <a:p>
            <a:pPr/>
            <a:r>
              <a:t>System Design</a:t>
            </a:r>
          </a:p>
        </p:txBody>
      </p:sp>
      <p:sp>
        <p:nvSpPr>
          <p:cNvPr id="500"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2" name="Autopark will have a software application that runs on a server, which handles everything the user doesn't directly see or interact with.…"/>
          <p:cNvSpPr txBox="1"/>
          <p:nvPr>
            <p:ph type="body" idx="1"/>
          </p:nvPr>
        </p:nvSpPr>
        <p:spPr>
          <a:prstGeom prst="rect">
            <a:avLst/>
          </a:prstGeom>
        </p:spPr>
        <p:txBody>
          <a:bodyPr/>
          <a:lstStyle/>
          <a:p>
            <a:pPr/>
            <a:r>
              <a:t>Autopark will have a software application that runs on a server, which handles everything the user doesn't directly see or interact with.</a:t>
            </a:r>
          </a:p>
          <a:p>
            <a:pPr lvl="1" marL="1511300" indent="-914400">
              <a:buChar char="➔"/>
            </a:pPr>
            <a:r>
              <a:t>Data management (store our user information)</a:t>
            </a:r>
          </a:p>
          <a:p>
            <a:pPr lvl="1" marL="1511300" indent="-914400">
              <a:buChar char="➔"/>
            </a:pPr>
            <a:r>
              <a:t>Business Logic (authenticating the cars as the enter the parking gate, getting the available parking lots, our recommendation engine, etc)</a:t>
            </a:r>
          </a:p>
          <a:p>
            <a:pPr lvl="1" marL="1511300" indent="-914400">
              <a:buChar char="➔"/>
            </a:pPr>
            <a:r>
              <a:t>APIs and communication (our infotainment system, mobile app, and the RSU will be communicating with our servers).</a:t>
            </a:r>
          </a:p>
          <a:p>
            <a:pPr lvl="1" marL="1511300" indent="-914400">
              <a:buChar char="➔"/>
            </a:pPr>
          </a:p>
          <a:p>
            <a:pPr/>
            <a:r>
              <a:t>We call this part of the software application the “backend”</a:t>
            </a:r>
          </a:p>
        </p:txBody>
      </p:sp>
      <p:sp>
        <p:nvSpPr>
          <p:cNvPr id="503"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04" name="Autopark’s servers"/>
          <p:cNvSpPr txBox="1"/>
          <p:nvPr>
            <p:ph type="title"/>
          </p:nvPr>
        </p:nvSpPr>
        <p:spPr>
          <a:prstGeom prst="rect">
            <a:avLst/>
          </a:prstGeom>
        </p:spPr>
        <p:txBody>
          <a:bodyPr/>
          <a:lstStyle>
            <a:lvl1pPr defTabSz="2145791">
              <a:defRPr spc="211" sz="7040"/>
            </a:lvl1pPr>
          </a:lstStyle>
          <a:p>
            <a:pPr/>
            <a:r>
              <a:t>Autopark’s servers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Purchasing and managing our own personal servers will take too long, too expensive, and we will need a dedicated team for this.…"/>
          <p:cNvSpPr txBox="1"/>
          <p:nvPr>
            <p:ph type="body" idx="1"/>
          </p:nvPr>
        </p:nvSpPr>
        <p:spPr>
          <a:prstGeom prst="rect">
            <a:avLst/>
          </a:prstGeom>
        </p:spPr>
        <p:txBody>
          <a:bodyPr/>
          <a:lstStyle/>
          <a:p>
            <a:pPr/>
            <a:r>
              <a:t>Purchasing and managing our own personal servers will take too long, too expensive, and we will need a dedicated team for this.</a:t>
            </a:r>
          </a:p>
          <a:p>
            <a:pPr lvl="1" marL="1511300" indent="-914400">
              <a:buChar char="➔"/>
            </a:pPr>
            <a:r>
              <a:t xml:space="preserve">Instead, we will use cloud providers. </a:t>
            </a:r>
          </a:p>
          <a:p>
            <a:pPr/>
            <a:r>
              <a:t>We will be using AWS</a:t>
            </a:r>
          </a:p>
          <a:p>
            <a:pPr lvl="1" marL="1511300" indent="-914400">
              <a:buChar char="➔"/>
            </a:pPr>
            <a:r>
              <a:t>ECS for hosting our application</a:t>
            </a:r>
          </a:p>
          <a:p>
            <a:pPr lvl="1" marL="1511300" indent="-914400">
              <a:buChar char="➔"/>
            </a:pPr>
            <a:r>
              <a:t>RDS for database</a:t>
            </a:r>
          </a:p>
          <a:p>
            <a:pPr lvl="1" marL="1511300" indent="-914400">
              <a:buChar char="➔"/>
            </a:pPr>
            <a:r>
              <a:t>SageMaker for hosting our recommendation model</a:t>
            </a:r>
          </a:p>
        </p:txBody>
      </p:sp>
      <p:sp>
        <p:nvSpPr>
          <p:cNvPr id="50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08" name="Backend Stack"/>
          <p:cNvSpPr txBox="1"/>
          <p:nvPr>
            <p:ph type="title"/>
          </p:nvPr>
        </p:nvSpPr>
        <p:spPr>
          <a:prstGeom prst="rect">
            <a:avLst/>
          </a:prstGeom>
        </p:spPr>
        <p:txBody>
          <a:bodyPr/>
          <a:lstStyle>
            <a:lvl1pPr defTabSz="2145791">
              <a:defRPr spc="211" sz="7040"/>
            </a:lvl1pPr>
          </a:lstStyle>
          <a:p>
            <a:pPr/>
            <a:r>
              <a:t>Backend Stack</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0" name="We will be using a relational database to store our data (data categorized in columns).…"/>
          <p:cNvSpPr txBox="1"/>
          <p:nvPr>
            <p:ph type="body" idx="1"/>
          </p:nvPr>
        </p:nvSpPr>
        <p:spPr>
          <a:prstGeom prst="rect">
            <a:avLst/>
          </a:prstGeom>
        </p:spPr>
        <p:txBody>
          <a:bodyPr/>
          <a:lstStyle/>
          <a:p>
            <a:pPr marL="987551" indent="-877823" defTabSz="2340863">
              <a:buSzPts val="4600"/>
              <a:defRPr spc="138" sz="4608"/>
            </a:pPr>
            <a:r>
              <a:t>We will be using a relational database to store our data (data categorized in columns).</a:t>
            </a:r>
          </a:p>
          <a:p>
            <a:pPr marL="987551" indent="-877823" defTabSz="2340863">
              <a:buSzPts val="4600"/>
              <a:defRPr spc="138" sz="4608"/>
            </a:pPr>
            <a:r>
              <a:t>These are the tables we will be using in our database:</a:t>
            </a:r>
          </a:p>
          <a:p>
            <a:pPr lvl="1" marL="1450847" indent="-877823" defTabSz="2340863">
              <a:buSzPts val="4600"/>
              <a:buChar char="➔"/>
              <a:defRPr spc="138" sz="4608"/>
            </a:pPr>
            <a:r>
              <a:rPr b="1"/>
              <a:t>User</a:t>
            </a:r>
            <a:r>
              <a:t xml:space="preserve"> (id, car_id, name, email, phone, created_at, password_hash)</a:t>
            </a:r>
          </a:p>
          <a:p>
            <a:pPr lvl="1" marL="1450847" indent="-877823" defTabSz="2340863">
              <a:buSzPts val="4600"/>
              <a:buChar char="➔"/>
              <a:defRPr spc="138" sz="4608"/>
            </a:pPr>
            <a:r>
              <a:rPr b="1"/>
              <a:t>payment_history</a:t>
            </a:r>
            <a:r>
              <a:t xml:space="preserve"> (id, user_id, date, payment_token_hash, amount, currency)</a:t>
            </a:r>
          </a:p>
          <a:p>
            <a:pPr lvl="1" marL="1450847" indent="-877823" defTabSz="2340863">
              <a:buSzPts val="4600"/>
              <a:buChar char="➔"/>
              <a:defRPr spc="138" sz="4608"/>
            </a:pPr>
            <a:r>
              <a:rPr b="1"/>
              <a:t>parking_waiting</a:t>
            </a:r>
            <a:r>
              <a:t xml:space="preserve"> (id, car_id, payment_hash)</a:t>
            </a:r>
          </a:p>
          <a:p>
            <a:pPr lvl="1" marL="1450847" indent="-877823" defTabSz="2340863">
              <a:buSzPts val="4600"/>
              <a:buChar char="➔"/>
              <a:defRPr spc="138" sz="4608"/>
            </a:pPr>
            <a:r>
              <a:rPr b="1"/>
              <a:t>real_time_parking</a:t>
            </a:r>
            <a:r>
              <a:t xml:space="preserve"> (id, name, address, live_count, capacity)</a:t>
            </a:r>
          </a:p>
          <a:p>
            <a:pPr marL="987551" indent="-877823" defTabSz="2340863">
              <a:buSzPts val="4600"/>
              <a:defRPr spc="138" sz="4608"/>
            </a:pPr>
            <a:r>
              <a:t>Relationships:</a:t>
            </a:r>
          </a:p>
          <a:p>
            <a:pPr lvl="1" marL="1450847" indent="-877823" defTabSz="2340863">
              <a:buSzPts val="4600"/>
              <a:buChar char="➔"/>
              <a:defRPr spc="138" sz="4608"/>
            </a:pPr>
            <a:r>
              <a:t xml:space="preserve">payment_history.user_id → </a:t>
            </a:r>
            <a:r>
              <a:rPr u="sng">
                <a:hlinkClick r:id="rId2" invalidUrl="" action="" tgtFrame="" tooltip="" history="1" highlightClick="0" endSnd="0"/>
              </a:rPr>
              <a:t>user.id</a:t>
            </a:r>
          </a:p>
          <a:p>
            <a:pPr lvl="1" marL="1450847" indent="-877823" defTabSz="2340863">
              <a:buSzPts val="4600"/>
              <a:buChar char="➔"/>
              <a:defRPr spc="138" sz="4608"/>
            </a:pPr>
            <a:r>
              <a:t>payment_history.payment_token_hash → parking_waiting.payment_hash</a:t>
            </a:r>
          </a:p>
        </p:txBody>
      </p:sp>
      <p:sp>
        <p:nvSpPr>
          <p:cNvPr id="51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12" name="Database Schemas"/>
          <p:cNvSpPr txBox="1"/>
          <p:nvPr>
            <p:ph type="title"/>
          </p:nvPr>
        </p:nvSpPr>
        <p:spPr>
          <a:prstGeom prst="rect">
            <a:avLst/>
          </a:prstGeom>
        </p:spPr>
        <p:txBody>
          <a:bodyPr/>
          <a:lstStyle>
            <a:lvl1pPr defTabSz="2145791">
              <a:defRPr spc="211" sz="7040"/>
            </a:lvl1pPr>
          </a:lstStyle>
          <a:p>
            <a:pPr/>
            <a:r>
              <a:t>Database Schemas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15" name="System flow (Phase 1)"/>
          <p:cNvSpPr txBox="1"/>
          <p:nvPr>
            <p:ph type="title"/>
          </p:nvPr>
        </p:nvSpPr>
        <p:spPr>
          <a:prstGeom prst="rect">
            <a:avLst/>
          </a:prstGeom>
        </p:spPr>
        <p:txBody>
          <a:bodyPr/>
          <a:lstStyle>
            <a:lvl1pPr defTabSz="2145791">
              <a:defRPr spc="211" sz="7040"/>
            </a:lvl1pPr>
          </a:lstStyle>
          <a:p>
            <a:pPr/>
            <a:r>
              <a:t>System flow (Phase 1)</a:t>
            </a:r>
          </a:p>
        </p:txBody>
      </p:sp>
      <p:sp>
        <p:nvSpPr>
          <p:cNvPr id="516" name="Car is moving"/>
          <p:cNvSpPr/>
          <p:nvPr/>
        </p:nvSpPr>
        <p:spPr>
          <a:xfrm>
            <a:off x="1613082" y="3345078"/>
            <a:ext cx="2829704" cy="595097"/>
          </a:xfrm>
          <a:prstGeom prst="roundRect">
            <a:avLst>
              <a:gd name="adj" fmla="val 3483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Car is moving</a:t>
            </a:r>
          </a:p>
        </p:txBody>
      </p:sp>
      <p:sp>
        <p:nvSpPr>
          <p:cNvPr id="517" name="Arrow"/>
          <p:cNvSpPr/>
          <p:nvPr/>
        </p:nvSpPr>
        <p:spPr>
          <a:xfrm>
            <a:off x="5465676" y="8976653"/>
            <a:ext cx="3046122"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18" name="The data is prepared and fed to our recommendation model"/>
          <p:cNvSpPr txBox="1"/>
          <p:nvPr/>
        </p:nvSpPr>
        <p:spPr>
          <a:xfrm>
            <a:off x="5595999" y="7937852"/>
            <a:ext cx="2785475" cy="950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The data is prepared and fed to our recommendation model</a:t>
            </a:r>
          </a:p>
        </p:txBody>
      </p:sp>
      <p:sp>
        <p:nvSpPr>
          <p:cNvPr id="519" name="Arrow"/>
          <p:cNvSpPr/>
          <p:nvPr/>
        </p:nvSpPr>
        <p:spPr>
          <a:xfrm rot="5400000">
            <a:off x="1354545" y="5747899"/>
            <a:ext cx="3346778"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sp>
        <p:nvSpPr>
          <p:cNvPr id="520" name="The server pulls parking lot data from parking data aggregator APIs and from the realtime_parking table in our database"/>
          <p:cNvSpPr/>
          <p:nvPr/>
        </p:nvSpPr>
        <p:spPr>
          <a:xfrm>
            <a:off x="1674223" y="7770293"/>
            <a:ext cx="3404962" cy="2600629"/>
          </a:xfrm>
          <a:prstGeom prst="roundRect">
            <a:avLst>
              <a:gd name="adj" fmla="val 959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The server pulls parking lot data from parking data aggregator APIs and from the realtime_parking table in our database </a:t>
            </a:r>
          </a:p>
        </p:txBody>
      </p:sp>
      <p:sp>
        <p:nvSpPr>
          <p:cNvPr id="521" name="The recommendations are stored in the server cache."/>
          <p:cNvSpPr/>
          <p:nvPr/>
        </p:nvSpPr>
        <p:spPr>
          <a:xfrm>
            <a:off x="8898288" y="7770293"/>
            <a:ext cx="3404962" cy="2600629"/>
          </a:xfrm>
          <a:prstGeom prst="roundRect">
            <a:avLst>
              <a:gd name="adj" fmla="val 959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The recommendations are stored in the server cache. </a:t>
            </a:r>
          </a:p>
        </p:txBody>
      </p:sp>
      <p:sp>
        <p:nvSpPr>
          <p:cNvPr id="522" name="User wants to park"/>
          <p:cNvSpPr/>
          <p:nvPr/>
        </p:nvSpPr>
        <p:spPr>
          <a:xfrm>
            <a:off x="7970980" y="3345078"/>
            <a:ext cx="2829703" cy="595097"/>
          </a:xfrm>
          <a:prstGeom prst="roundRect">
            <a:avLst>
              <a:gd name="adj" fmla="val 3483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User wants to park</a:t>
            </a:r>
          </a:p>
        </p:txBody>
      </p:sp>
      <p:sp>
        <p:nvSpPr>
          <p:cNvPr id="523" name="The server returns the recommendations from the server cache."/>
          <p:cNvSpPr/>
          <p:nvPr/>
        </p:nvSpPr>
        <p:spPr>
          <a:xfrm>
            <a:off x="14328877" y="2766458"/>
            <a:ext cx="3319147" cy="1752337"/>
          </a:xfrm>
          <a:prstGeom prst="roundRect">
            <a:avLst>
              <a:gd name="adj" fmla="val 13874"/>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The server returns the recommendations from the server cache. </a:t>
            </a:r>
          </a:p>
        </p:txBody>
      </p:sp>
      <p:sp>
        <p:nvSpPr>
          <p:cNvPr id="524" name="The user selects a spot and pays"/>
          <p:cNvSpPr/>
          <p:nvPr/>
        </p:nvSpPr>
        <p:spPr>
          <a:xfrm>
            <a:off x="20207103" y="3113064"/>
            <a:ext cx="2982622" cy="1059125"/>
          </a:xfrm>
          <a:prstGeom prst="roundRect">
            <a:avLst>
              <a:gd name="adj" fmla="val 20628"/>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user selects a spot and pays</a:t>
            </a:r>
          </a:p>
        </p:txBody>
      </p:sp>
      <p:sp>
        <p:nvSpPr>
          <p:cNvPr id="525" name="Phase 2 starts!"/>
          <p:cNvSpPr/>
          <p:nvPr/>
        </p:nvSpPr>
        <p:spPr>
          <a:xfrm>
            <a:off x="20207103" y="6128143"/>
            <a:ext cx="2982622" cy="1059125"/>
          </a:xfrm>
          <a:prstGeom prst="roundRect">
            <a:avLst>
              <a:gd name="adj" fmla="val 20628"/>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Phase 2 starts!</a:t>
            </a:r>
          </a:p>
        </p:txBody>
      </p:sp>
      <p:sp>
        <p:nvSpPr>
          <p:cNvPr id="526" name="Every 100 meters, Autopark’s infotainment will poll the server via HTTP GET request,"/>
          <p:cNvSpPr txBox="1"/>
          <p:nvPr/>
        </p:nvSpPr>
        <p:spPr>
          <a:xfrm>
            <a:off x="371515" y="4757432"/>
            <a:ext cx="2281680" cy="15348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Every 100 meters, Autopark’s infotainment will poll the server via HTTP GET request,</a:t>
            </a:r>
          </a:p>
        </p:txBody>
      </p:sp>
      <p:sp>
        <p:nvSpPr>
          <p:cNvPr id="527" name="Arrow"/>
          <p:cNvSpPr/>
          <p:nvPr/>
        </p:nvSpPr>
        <p:spPr>
          <a:xfrm>
            <a:off x="4683821" y="3548672"/>
            <a:ext cx="3046122"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28" name="Arrow"/>
          <p:cNvSpPr/>
          <p:nvPr/>
        </p:nvSpPr>
        <p:spPr>
          <a:xfrm>
            <a:off x="11041719" y="3548672"/>
            <a:ext cx="3046122"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29" name="HTTP GET request to the server to get the recommendations"/>
          <p:cNvSpPr txBox="1"/>
          <p:nvPr/>
        </p:nvSpPr>
        <p:spPr>
          <a:xfrm>
            <a:off x="11172042" y="3924652"/>
            <a:ext cx="2785475" cy="950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HTTP GET request to the server to get the recommendations</a:t>
            </a:r>
          </a:p>
        </p:txBody>
      </p:sp>
      <p:sp>
        <p:nvSpPr>
          <p:cNvPr id="530" name="Arrow"/>
          <p:cNvSpPr/>
          <p:nvPr/>
        </p:nvSpPr>
        <p:spPr>
          <a:xfrm>
            <a:off x="18008013" y="3548672"/>
            <a:ext cx="1839100"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31" name="Arrow"/>
          <p:cNvSpPr/>
          <p:nvPr/>
        </p:nvSpPr>
        <p:spPr>
          <a:xfrm rot="5400000">
            <a:off x="20827198" y="5042831"/>
            <a:ext cx="1742430"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sp>
        <p:nvSpPr>
          <p:cNvPr id="532" name="{…"/>
          <p:cNvSpPr txBox="1"/>
          <p:nvPr/>
        </p:nvSpPr>
        <p:spPr>
          <a:xfrm>
            <a:off x="14385956" y="8607004"/>
            <a:ext cx="3857328" cy="3287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lvl="1" algn="l">
              <a:defRPr spc="53" sz="1800"/>
            </a:pPr>
            <a:r>
              <a:t>{</a:t>
            </a:r>
          </a:p>
          <a:p>
            <a:pPr lvl="2" algn="l">
              <a:defRPr spc="53" sz="1800"/>
            </a:pPr>
            <a:r>
              <a:t>“car_id”: 68,</a:t>
            </a:r>
          </a:p>
          <a:p>
            <a:pPr lvl="2" algn="l">
              <a:defRPr spc="53" sz="1800"/>
            </a:pPr>
            <a:r>
              <a:t>{</a:t>
            </a:r>
          </a:p>
          <a:p>
            <a:pPr lvl="3" algn="l">
              <a:defRPr spc="53" sz="1800"/>
            </a:pPr>
            <a:r>
              <a:t>“1”: “Lot X”,</a:t>
            </a:r>
          </a:p>
          <a:p>
            <a:pPr lvl="3" algn="l">
              <a:defRPr spc="53" sz="1800"/>
            </a:pPr>
            <a:r>
              <a:t>“2”: “Lot Y”,</a:t>
            </a:r>
          </a:p>
          <a:p>
            <a:pPr lvl="3" algn="l">
              <a:defRPr spc="53" sz="1800"/>
            </a:pPr>
            <a:r>
              <a:t>…</a:t>
            </a:r>
          </a:p>
          <a:p>
            <a:pPr lvl="3" algn="l">
              <a:defRPr spc="53" sz="1800"/>
            </a:pPr>
            <a:r>
              <a:t>“N”: “Lot Z”,</a:t>
            </a:r>
          </a:p>
          <a:p>
            <a:pPr lvl="2" algn="l">
              <a:defRPr spc="53" sz="1800"/>
            </a:pPr>
            <a:r>
              <a:t>},</a:t>
            </a:r>
          </a:p>
          <a:p>
            <a:pPr lvl="2" algn="l">
              <a:defRPr spc="53" sz="1800"/>
            </a:pPr>
            <a:r>
              <a:t>“created_at”: “&lt;some date time&gt;”</a:t>
            </a:r>
          </a:p>
          <a:p>
            <a:pPr lvl="1" algn="l">
              <a:defRPr spc="53" sz="1800"/>
            </a:pPr>
            <a:r>
              <a:t>}</a:t>
            </a:r>
          </a:p>
        </p:txBody>
      </p:sp>
      <p:sp>
        <p:nvSpPr>
          <p:cNvPr id="533" name="Arrow"/>
          <p:cNvSpPr/>
          <p:nvPr/>
        </p:nvSpPr>
        <p:spPr>
          <a:xfrm>
            <a:off x="12820065" y="9264938"/>
            <a:ext cx="1654924"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34" name="Arrow"/>
          <p:cNvSpPr/>
          <p:nvPr/>
        </p:nvSpPr>
        <p:spPr>
          <a:xfrm rot="16200000">
            <a:off x="14981750" y="6471440"/>
            <a:ext cx="3346778"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sp>
        <p:nvSpPr>
          <p:cNvPr id="535" name="Arrow"/>
          <p:cNvSpPr/>
          <p:nvPr/>
        </p:nvSpPr>
        <p:spPr>
          <a:xfrm rot="5400000">
            <a:off x="14524550" y="6550073"/>
            <a:ext cx="3346778"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38" name="System flow (Phase 2)"/>
          <p:cNvSpPr txBox="1"/>
          <p:nvPr>
            <p:ph type="title"/>
          </p:nvPr>
        </p:nvSpPr>
        <p:spPr>
          <a:prstGeom prst="rect">
            <a:avLst/>
          </a:prstGeom>
        </p:spPr>
        <p:txBody>
          <a:bodyPr/>
          <a:lstStyle>
            <a:lvl1pPr defTabSz="2145791">
              <a:defRPr spc="211" sz="7040"/>
            </a:lvl1pPr>
          </a:lstStyle>
          <a:p>
            <a:pPr/>
            <a:r>
              <a:t>System flow (Phase 2)</a:t>
            </a:r>
          </a:p>
        </p:txBody>
      </p:sp>
      <p:sp>
        <p:nvSpPr>
          <p:cNvPr id="539" name="User selects a parking lot"/>
          <p:cNvSpPr/>
          <p:nvPr/>
        </p:nvSpPr>
        <p:spPr>
          <a:xfrm>
            <a:off x="1094986" y="3478763"/>
            <a:ext cx="2829703" cy="2362701"/>
          </a:xfrm>
          <a:prstGeom prst="roundRect">
            <a:avLst>
              <a:gd name="adj" fmla="val 8773"/>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User selects a parking lot</a:t>
            </a:r>
          </a:p>
        </p:txBody>
      </p:sp>
      <p:sp>
        <p:nvSpPr>
          <p:cNvPr id="540" name="User pays for the parking lot on the phone. (Apply pay, manual debit/credit card number, etc)"/>
          <p:cNvSpPr/>
          <p:nvPr/>
        </p:nvSpPr>
        <p:spPr>
          <a:xfrm>
            <a:off x="8102665" y="3053280"/>
            <a:ext cx="3404961" cy="1910090"/>
          </a:xfrm>
          <a:prstGeom prst="roundRect">
            <a:avLst>
              <a:gd name="adj" fmla="val 13058"/>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User pays for the parking lot on the phone. (Apply pay, manual debit/credit card number, etc)</a:t>
            </a:r>
          </a:p>
        </p:txBody>
      </p:sp>
      <p:sp>
        <p:nvSpPr>
          <p:cNvPr id="541" name="A unique ID is created for the parking_waiting table, and stored in the database for the parking gate to recognize."/>
          <p:cNvSpPr/>
          <p:nvPr/>
        </p:nvSpPr>
        <p:spPr>
          <a:xfrm>
            <a:off x="17535394" y="3478763"/>
            <a:ext cx="4266100" cy="2362701"/>
          </a:xfrm>
          <a:prstGeom prst="roundRect">
            <a:avLst>
              <a:gd name="adj" fmla="val 13226"/>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A unique ID is created for the parking_waiting table, and stored in the database for the parking gate to recognize. </a:t>
            </a:r>
          </a:p>
        </p:txBody>
      </p:sp>
      <p:sp>
        <p:nvSpPr>
          <p:cNvPr id="542" name="Arrow"/>
          <p:cNvSpPr/>
          <p:nvPr/>
        </p:nvSpPr>
        <p:spPr>
          <a:xfrm>
            <a:off x="4391089" y="3931509"/>
            <a:ext cx="3046122"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43" name="Arrow"/>
          <p:cNvSpPr/>
          <p:nvPr/>
        </p:nvSpPr>
        <p:spPr>
          <a:xfrm>
            <a:off x="12158176" y="3914371"/>
            <a:ext cx="4925722"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44" name="HTTP Post request is made to Autopark’s backend"/>
          <p:cNvSpPr txBox="1"/>
          <p:nvPr/>
        </p:nvSpPr>
        <p:spPr>
          <a:xfrm>
            <a:off x="13228299" y="2909260"/>
            <a:ext cx="2785475" cy="950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HTTP Post request is made to Autopark’s backend</a:t>
            </a:r>
          </a:p>
        </p:txBody>
      </p:sp>
      <p:sp>
        <p:nvSpPr>
          <p:cNvPr id="545" name="Arrow"/>
          <p:cNvSpPr/>
          <p:nvPr/>
        </p:nvSpPr>
        <p:spPr>
          <a:xfrm rot="8248189">
            <a:off x="15479971" y="7272485"/>
            <a:ext cx="4005707"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46" name="Backend sends HTTP SSE to the car’s cellular module"/>
          <p:cNvSpPr txBox="1"/>
          <p:nvPr/>
        </p:nvSpPr>
        <p:spPr>
          <a:xfrm>
            <a:off x="17638945" y="8082117"/>
            <a:ext cx="4058997" cy="65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223404" indent="-223404">
              <a:buSzPct val="150000"/>
              <a:buChar char="-"/>
              <a:defRPr spc="53" sz="1800"/>
            </a:lvl1pPr>
          </a:lstStyle>
          <a:p>
            <a:pPr/>
            <a:r>
              <a:t>Backend sends HTTP SSE to the car’s cellular module</a:t>
            </a:r>
          </a:p>
        </p:txBody>
      </p:sp>
      <p:graphicFrame>
        <p:nvGraphicFramePr>
          <p:cNvPr id="547" name="Table 1"/>
          <p:cNvGraphicFramePr/>
          <p:nvPr/>
        </p:nvGraphicFramePr>
        <p:xfrm>
          <a:off x="3684711" y="10517836"/>
          <a:ext cx="7494988" cy="264794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494095"/>
                <a:gridCol w="2494095"/>
                <a:gridCol w="2494095"/>
              </a:tblGrid>
              <a:tr h="527048">
                <a:tc>
                  <a:txBody>
                    <a:bodyPr/>
                    <a:lstStyle/>
                    <a:p>
                      <a:pPr defTabSz="914400">
                        <a:tabLst>
                          <a:tab pos="1663700" algn="l"/>
                        </a:tabLst>
                        <a:defRPr b="0" sz="1800"/>
                      </a:pPr>
                      <a:r>
                        <a:rPr b="1"/>
                        <a:t>id</a:t>
                      </a:r>
                    </a:p>
                  </a:txBody>
                  <a:tcPr marL="50800" marR="50800" marT="50800" marB="50800" anchor="ctr" anchorCtr="0" horzOverflow="overflow"/>
                </a:tc>
                <a:tc>
                  <a:txBody>
                    <a:bodyPr/>
                    <a:lstStyle/>
                    <a:p>
                      <a:pPr defTabSz="914400">
                        <a:tabLst>
                          <a:tab pos="1663700" algn="l"/>
                        </a:tabLst>
                        <a:defRPr b="0" sz="1800"/>
                      </a:pPr>
                      <a:r>
                        <a:rPr b="1"/>
                        <a:t>car_id</a:t>
                      </a:r>
                    </a:p>
                  </a:txBody>
                  <a:tcPr marL="50800" marR="50800" marT="50800" marB="50800" anchor="ctr" anchorCtr="0" horzOverflow="overflow"/>
                </a:tc>
                <a:tc>
                  <a:txBody>
                    <a:bodyPr/>
                    <a:lstStyle/>
                    <a:p>
                      <a:pPr defTabSz="914400">
                        <a:tabLst>
                          <a:tab pos="1663700" algn="l"/>
                        </a:tabLst>
                        <a:defRPr b="0" sz="1800"/>
                      </a:pPr>
                      <a:r>
                        <a:rPr b="1"/>
                        <a:t>payment_hash</a:t>
                      </a:r>
                    </a:p>
                  </a:txBody>
                  <a:tcPr marL="50800" marR="50800" marT="50800" marB="50800" anchor="ctr" anchorCtr="0" horzOverflow="overflow"/>
                </a:tc>
              </a:tr>
              <a:tr h="527048">
                <a:tc>
                  <a:txBody>
                    <a:bodyPr/>
                    <a:lstStyle/>
                    <a:p>
                      <a:pPr defTabSz="914400">
                        <a:tabLst>
                          <a:tab pos="1663700" algn="l"/>
                        </a:tabLst>
                        <a:defRPr b="0" sz="1800"/>
                      </a:pPr>
                      <a:r>
                        <a:rPr b="1"/>
                        <a:t>1</a:t>
                      </a:r>
                    </a:p>
                  </a:txBody>
                  <a:tcPr marL="50800" marR="50800" marT="50800" marB="50800" anchor="ctr" anchorCtr="0" horzOverflow="overflow">
                    <a:solidFill>
                      <a:schemeClr val="accent3">
                        <a:hueOff val="571091"/>
                        <a:satOff val="15926"/>
                        <a:lumOff val="22314"/>
                      </a:schemeClr>
                    </a:solidFill>
                  </a:tcPr>
                </a:tc>
                <a:tc>
                  <a:txBody>
                    <a:bodyPr/>
                    <a:lstStyle/>
                    <a:p>
                      <a:pPr defTabSz="914400">
                        <a:tabLst>
                          <a:tab pos="1663700" algn="l"/>
                        </a:tabLst>
                        <a:defRPr b="0" sz="1800"/>
                      </a:pPr>
                      <a:r>
                        <a:rPr b="1"/>
                        <a:t>68</a:t>
                      </a:r>
                    </a:p>
                  </a:txBody>
                  <a:tcPr marL="50800" marR="50800" marT="50800" marB="50800" anchor="ctr" anchorCtr="0" horzOverflow="overflow">
                    <a:solidFill>
                      <a:schemeClr val="accent3">
                        <a:hueOff val="571091"/>
                        <a:satOff val="15926"/>
                        <a:lumOff val="22314"/>
                      </a:schemeClr>
                    </a:solidFill>
                  </a:tcPr>
                </a:tc>
                <a:tc>
                  <a:txBody>
                    <a:bodyPr/>
                    <a:lstStyle/>
                    <a:p>
                      <a:pPr defTabSz="914400">
                        <a:tabLst>
                          <a:tab pos="1663700" algn="l"/>
                        </a:tabLst>
                        <a:defRPr b="0" sz="1800"/>
                      </a:pPr>
                      <a:r>
                        <a:rPr b="1"/>
                        <a:t>f5g6h7j8</a:t>
                      </a:r>
                    </a:p>
                  </a:txBody>
                  <a:tcPr marL="50800" marR="50800" marT="50800" marB="50800" anchor="ctr" anchorCtr="0" horzOverflow="overflow">
                    <a:solidFill>
                      <a:schemeClr val="accent3">
                        <a:hueOff val="571091"/>
                        <a:satOff val="15926"/>
                        <a:lumOff val="22314"/>
                      </a:schemeClr>
                    </a:solidFill>
                  </a:tcPr>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bl>
          </a:graphicData>
        </a:graphic>
      </p:graphicFrame>
      <p:sp>
        <p:nvSpPr>
          <p:cNvPr id="548" name="parking_waiting"/>
          <p:cNvSpPr txBox="1"/>
          <p:nvPr/>
        </p:nvSpPr>
        <p:spPr>
          <a:xfrm>
            <a:off x="2062491" y="9705536"/>
            <a:ext cx="10726729" cy="366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parking_waiting</a:t>
            </a:r>
          </a:p>
        </p:txBody>
      </p:sp>
      <p:sp>
        <p:nvSpPr>
          <p:cNvPr id="556" name="Connection Line"/>
          <p:cNvSpPr/>
          <p:nvPr/>
        </p:nvSpPr>
        <p:spPr>
          <a:xfrm>
            <a:off x="11316694" y="5873110"/>
            <a:ext cx="11241802" cy="5357007"/>
          </a:xfrm>
          <a:custGeom>
            <a:avLst/>
            <a:gdLst/>
            <a:ahLst/>
            <a:cxnLst>
              <a:cxn ang="0">
                <a:pos x="wd2" y="hd2"/>
              </a:cxn>
              <a:cxn ang="5400000">
                <a:pos x="wd2" y="hd2"/>
              </a:cxn>
              <a:cxn ang="10800000">
                <a:pos x="wd2" y="hd2"/>
              </a:cxn>
              <a:cxn ang="16200000">
                <a:pos x="wd2" y="hd2"/>
              </a:cxn>
            </a:cxnLst>
            <a:rect l="0" t="0" r="r" b="b"/>
            <a:pathLst>
              <a:path w="17806" h="17829" fill="norm" stroke="1" extrusionOk="0">
                <a:moveTo>
                  <a:pt x="14967" y="0"/>
                </a:moveTo>
                <a:cubicBezTo>
                  <a:pt x="21600" y="16587"/>
                  <a:pt x="16611" y="21600"/>
                  <a:pt x="0" y="15040"/>
                </a:cubicBezTo>
              </a:path>
            </a:pathLst>
          </a:custGeom>
          <a:ln w="25400">
            <a:solidFill>
              <a:srgbClr val="000000"/>
            </a:solidFill>
            <a:miter lim="400000"/>
          </a:ln>
        </p:spPr>
        <p:txBody>
          <a:bodyPr/>
          <a:lstStyle/>
          <a:p>
            <a:pPr/>
          </a:p>
        </p:txBody>
      </p:sp>
      <p:sp>
        <p:nvSpPr>
          <p:cNvPr id="550" name="Line"/>
          <p:cNvSpPr/>
          <p:nvPr/>
        </p:nvSpPr>
        <p:spPr>
          <a:xfrm flipV="1">
            <a:off x="11303214" y="10247280"/>
            <a:ext cx="154019" cy="154019"/>
          </a:xfrm>
          <a:prstGeom prst="line">
            <a:avLst/>
          </a:prstGeom>
          <a:ln w="25400">
            <a:solidFill>
              <a:srgbClr val="000000"/>
            </a:solidFill>
            <a:miter lim="400000"/>
          </a:ln>
        </p:spPr>
        <p:txBody>
          <a:bodyPr lIns="50800" tIns="50800" rIns="50800" bIns="50800" anchor="ctr"/>
          <a:lstStyle/>
          <a:p>
            <a:pPr defTabSz="2438400">
              <a:lnSpc>
                <a:spcPct val="90000"/>
              </a:lnSpc>
              <a:defRPr b="0" spc="0" sz="2400"/>
            </a:pPr>
          </a:p>
        </p:txBody>
      </p:sp>
      <p:sp>
        <p:nvSpPr>
          <p:cNvPr id="551" name="Line"/>
          <p:cNvSpPr/>
          <p:nvPr/>
        </p:nvSpPr>
        <p:spPr>
          <a:xfrm>
            <a:off x="11298288" y="10389116"/>
            <a:ext cx="169949" cy="169948"/>
          </a:xfrm>
          <a:prstGeom prst="line">
            <a:avLst/>
          </a:prstGeom>
          <a:ln w="25400">
            <a:solidFill>
              <a:srgbClr val="000000"/>
            </a:solidFill>
            <a:miter lim="400000"/>
          </a:ln>
        </p:spPr>
        <p:txBody>
          <a:bodyPr lIns="50800" tIns="50800" rIns="50800" bIns="50800" anchor="ctr"/>
          <a:lstStyle/>
          <a:p>
            <a:pPr defTabSz="2438400">
              <a:lnSpc>
                <a:spcPct val="90000"/>
              </a:lnSpc>
              <a:defRPr b="0" spc="0" sz="2400"/>
            </a:pPr>
          </a:p>
        </p:txBody>
      </p:sp>
      <p:sp>
        <p:nvSpPr>
          <p:cNvPr id="552" name="Cellular module receives the parking_waiting_id"/>
          <p:cNvSpPr/>
          <p:nvPr/>
        </p:nvSpPr>
        <p:spPr>
          <a:xfrm>
            <a:off x="12513257" y="7894769"/>
            <a:ext cx="3404961" cy="1910089"/>
          </a:xfrm>
          <a:prstGeom prst="roundRect">
            <a:avLst>
              <a:gd name="adj" fmla="val 13058"/>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Cellular module receives the parking_waiting_id</a:t>
            </a:r>
          </a:p>
        </p:txBody>
      </p:sp>
      <p:sp>
        <p:nvSpPr>
          <p:cNvPr id="553" name="The UHF writer receives the id, and writes the id to the UHF RFID.…"/>
          <p:cNvSpPr/>
          <p:nvPr/>
        </p:nvSpPr>
        <p:spPr>
          <a:xfrm>
            <a:off x="7931076" y="7243606"/>
            <a:ext cx="2829704" cy="1651291"/>
          </a:xfrm>
          <a:prstGeom prst="roundRect">
            <a:avLst>
              <a:gd name="adj" fmla="val 15104"/>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p>
            <a:pPr defTabSz="1130300">
              <a:defRPr b="0" spc="0" sz="1800"/>
            </a:pPr>
            <a:r>
              <a:t>The UHF writer receives the id, and writes the id to the UHF RFID.</a:t>
            </a:r>
          </a:p>
          <a:p>
            <a:pPr defTabSz="1130300">
              <a:defRPr b="0" spc="0" sz="1800"/>
            </a:pPr>
          </a:p>
          <a:p>
            <a:pPr defTabSz="1130300">
              <a:defRPr b="0" spc="0" sz="1800"/>
            </a:pPr>
            <a:r>
              <a:t>(The OBU)</a:t>
            </a:r>
          </a:p>
        </p:txBody>
      </p:sp>
      <p:sp>
        <p:nvSpPr>
          <p:cNvPr id="554" name="Arrow"/>
          <p:cNvSpPr/>
          <p:nvPr/>
        </p:nvSpPr>
        <p:spPr>
          <a:xfrm rot="10800000">
            <a:off x="10818100" y="7975296"/>
            <a:ext cx="1637834" cy="187910"/>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55" name="Sends the ID through the CAN bus"/>
          <p:cNvSpPr txBox="1"/>
          <p:nvPr/>
        </p:nvSpPr>
        <p:spPr>
          <a:xfrm>
            <a:off x="10974552" y="7018993"/>
            <a:ext cx="2785475" cy="65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Sends the ID through the CAN bus</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8"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59" name="System flow (Phase 3)"/>
          <p:cNvSpPr txBox="1"/>
          <p:nvPr>
            <p:ph type="title"/>
          </p:nvPr>
        </p:nvSpPr>
        <p:spPr>
          <a:prstGeom prst="rect">
            <a:avLst/>
          </a:prstGeom>
        </p:spPr>
        <p:txBody>
          <a:bodyPr/>
          <a:lstStyle>
            <a:lvl1pPr defTabSz="2145791">
              <a:defRPr spc="211" sz="7040"/>
            </a:lvl1pPr>
          </a:lstStyle>
          <a:p>
            <a:pPr/>
            <a:r>
              <a:t>System flow (Phase 3)</a:t>
            </a:r>
          </a:p>
        </p:txBody>
      </p:sp>
      <p:sp>
        <p:nvSpPr>
          <p:cNvPr id="560" name="The car has started moving to the parking lot."/>
          <p:cNvSpPr/>
          <p:nvPr/>
        </p:nvSpPr>
        <p:spPr>
          <a:xfrm>
            <a:off x="531002" y="2688886"/>
            <a:ext cx="2829704" cy="2362701"/>
          </a:xfrm>
          <a:prstGeom prst="roundRect">
            <a:avLst>
              <a:gd name="adj" fmla="val 8773"/>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car has started moving to the parking lot.</a:t>
            </a:r>
          </a:p>
        </p:txBody>
      </p:sp>
      <p:sp>
        <p:nvSpPr>
          <p:cNvPr id="561" name="UHF RFID reader at gate scans the RFID tag."/>
          <p:cNvSpPr/>
          <p:nvPr/>
        </p:nvSpPr>
        <p:spPr>
          <a:xfrm>
            <a:off x="6365821" y="5867336"/>
            <a:ext cx="2604279" cy="1910089"/>
          </a:xfrm>
          <a:prstGeom prst="roundRect">
            <a:avLst>
              <a:gd name="adj" fmla="val 13058"/>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UHF RFID reader at gate scans the RFID tag. </a:t>
            </a:r>
          </a:p>
        </p:txBody>
      </p:sp>
      <p:sp>
        <p:nvSpPr>
          <p:cNvPr id="562" name="The RSU picks up the broadcasted ID"/>
          <p:cNvSpPr/>
          <p:nvPr/>
        </p:nvSpPr>
        <p:spPr>
          <a:xfrm>
            <a:off x="11363041" y="5809301"/>
            <a:ext cx="3404962" cy="1910090"/>
          </a:xfrm>
          <a:prstGeom prst="roundRect">
            <a:avLst>
              <a:gd name="adj" fmla="val 1636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RSU picks up the broadcasted ID</a:t>
            </a:r>
          </a:p>
        </p:txBody>
      </p:sp>
      <p:sp>
        <p:nvSpPr>
          <p:cNvPr id="563" name="Arrow"/>
          <p:cNvSpPr/>
          <p:nvPr/>
        </p:nvSpPr>
        <p:spPr>
          <a:xfrm>
            <a:off x="10638311" y="11086827"/>
            <a:ext cx="4854423" cy="187909"/>
          </a:xfrm>
          <a:prstGeom prst="rightArrow">
            <a:avLst>
              <a:gd name="adj1" fmla="val 52424"/>
              <a:gd name="adj2" fmla="val 83442"/>
            </a:avLst>
          </a:prstGeom>
          <a:solidFill>
            <a:srgbClr val="000000"/>
          </a:solidFill>
          <a:ln w="12700">
            <a:miter lim="400000"/>
          </a:ln>
        </p:spPr>
        <p:txBody>
          <a:bodyPr lIns="50800" tIns="50800" rIns="50800" bIns="50800" anchor="ctr"/>
          <a:lstStyle/>
          <a:p>
            <a:pPr defTabSz="1130300">
              <a:defRPr b="0" spc="0" sz="3200"/>
            </a:pPr>
          </a:p>
        </p:txBody>
      </p:sp>
      <p:sp>
        <p:nvSpPr>
          <p:cNvPr id="564" name="Arrow"/>
          <p:cNvSpPr/>
          <p:nvPr/>
        </p:nvSpPr>
        <p:spPr>
          <a:xfrm>
            <a:off x="9156203" y="6600076"/>
            <a:ext cx="2020734"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65" name="The car is in 8m range of the parking lot’s RSU"/>
          <p:cNvSpPr txBox="1"/>
          <p:nvPr/>
        </p:nvSpPr>
        <p:spPr>
          <a:xfrm>
            <a:off x="3642262" y="5550206"/>
            <a:ext cx="2407131" cy="950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The car is in 8m range of the parking lot’s RSU</a:t>
            </a:r>
          </a:p>
        </p:txBody>
      </p:sp>
      <p:sp>
        <p:nvSpPr>
          <p:cNvPr id="566" name="Arrow"/>
          <p:cNvSpPr/>
          <p:nvPr/>
        </p:nvSpPr>
        <p:spPr>
          <a:xfrm rot="5400000">
            <a:off x="1616555" y="5373962"/>
            <a:ext cx="658597"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graphicFrame>
        <p:nvGraphicFramePr>
          <p:cNvPr id="567" name="Table 1"/>
          <p:cNvGraphicFramePr/>
          <p:nvPr/>
        </p:nvGraphicFramePr>
        <p:xfrm>
          <a:off x="3000137" y="10203057"/>
          <a:ext cx="7494989" cy="264794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494095"/>
                <a:gridCol w="2494095"/>
                <a:gridCol w="2494095"/>
              </a:tblGrid>
              <a:tr h="527048">
                <a:tc>
                  <a:txBody>
                    <a:bodyPr/>
                    <a:lstStyle/>
                    <a:p>
                      <a:pPr defTabSz="914400">
                        <a:tabLst>
                          <a:tab pos="1663700" algn="l"/>
                        </a:tabLst>
                        <a:defRPr b="0" sz="1800"/>
                      </a:pPr>
                      <a:r>
                        <a:rPr b="1"/>
                        <a:t>id</a:t>
                      </a:r>
                    </a:p>
                  </a:txBody>
                  <a:tcPr marL="50800" marR="50800" marT="50800" marB="50800" anchor="ctr" anchorCtr="0" horzOverflow="overflow"/>
                </a:tc>
                <a:tc>
                  <a:txBody>
                    <a:bodyPr/>
                    <a:lstStyle/>
                    <a:p>
                      <a:pPr defTabSz="914400">
                        <a:tabLst>
                          <a:tab pos="1663700" algn="l"/>
                        </a:tabLst>
                        <a:defRPr b="0" sz="1800"/>
                      </a:pPr>
                      <a:r>
                        <a:rPr b="1"/>
                        <a:t>car_id</a:t>
                      </a:r>
                    </a:p>
                  </a:txBody>
                  <a:tcPr marL="50800" marR="50800" marT="50800" marB="50800" anchor="ctr" anchorCtr="0" horzOverflow="overflow"/>
                </a:tc>
                <a:tc>
                  <a:txBody>
                    <a:bodyPr/>
                    <a:lstStyle/>
                    <a:p>
                      <a:pPr defTabSz="914400">
                        <a:tabLst>
                          <a:tab pos="1663700" algn="l"/>
                        </a:tabLst>
                        <a:defRPr b="0" sz="1800"/>
                      </a:pPr>
                      <a:r>
                        <a:rPr b="1"/>
                        <a:t>payment_hash</a:t>
                      </a:r>
                    </a:p>
                  </a:txBody>
                  <a:tcPr marL="50800" marR="50800" marT="50800" marB="50800" anchor="ctr" anchorCtr="0" horzOverflow="overflow"/>
                </a:tc>
              </a:tr>
              <a:tr h="527048">
                <a:tc>
                  <a:txBody>
                    <a:bodyPr/>
                    <a:lstStyle/>
                    <a:p>
                      <a:pPr defTabSz="914400">
                        <a:tabLst>
                          <a:tab pos="1663700" algn="l"/>
                        </a:tabLst>
                        <a:defRPr b="0" sz="1800"/>
                      </a:pPr>
                      <a:r>
                        <a:rPr b="1"/>
                        <a:t>1</a:t>
                      </a:r>
                    </a:p>
                  </a:txBody>
                  <a:tcPr marL="50800" marR="50800" marT="50800" marB="50800" anchor="ctr" anchorCtr="0" horzOverflow="overflow">
                    <a:solidFill>
                      <a:schemeClr val="accent3">
                        <a:hueOff val="571091"/>
                        <a:satOff val="15926"/>
                        <a:lumOff val="22314"/>
                      </a:schemeClr>
                    </a:solidFill>
                  </a:tcPr>
                </a:tc>
                <a:tc>
                  <a:txBody>
                    <a:bodyPr/>
                    <a:lstStyle/>
                    <a:p>
                      <a:pPr defTabSz="914400">
                        <a:tabLst>
                          <a:tab pos="1663700" algn="l"/>
                        </a:tabLst>
                        <a:defRPr b="0" sz="1800"/>
                      </a:pPr>
                      <a:r>
                        <a:rPr b="1"/>
                        <a:t>68</a:t>
                      </a:r>
                    </a:p>
                  </a:txBody>
                  <a:tcPr marL="50800" marR="50800" marT="50800" marB="50800" anchor="ctr" anchorCtr="0" horzOverflow="overflow">
                    <a:solidFill>
                      <a:schemeClr val="accent3">
                        <a:hueOff val="571091"/>
                        <a:satOff val="15926"/>
                        <a:lumOff val="22314"/>
                      </a:schemeClr>
                    </a:solidFill>
                  </a:tcPr>
                </a:tc>
                <a:tc>
                  <a:txBody>
                    <a:bodyPr/>
                    <a:lstStyle/>
                    <a:p>
                      <a:pPr defTabSz="914400">
                        <a:tabLst>
                          <a:tab pos="1663700" algn="l"/>
                        </a:tabLst>
                        <a:defRPr b="0" sz="1800"/>
                      </a:pPr>
                      <a:r>
                        <a:rPr b="1"/>
                        <a:t>f5g6h7j8</a:t>
                      </a:r>
                    </a:p>
                  </a:txBody>
                  <a:tcPr marL="50800" marR="50800" marT="50800" marB="50800" anchor="ctr" anchorCtr="0" horzOverflow="overflow">
                    <a:solidFill>
                      <a:schemeClr val="accent3">
                        <a:hueOff val="571091"/>
                        <a:satOff val="15926"/>
                        <a:lumOff val="22314"/>
                      </a:schemeClr>
                    </a:solidFill>
                  </a:tcPr>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r h="527048">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c>
                  <a:txBody>
                    <a:bodyPr/>
                    <a:lstStyle/>
                    <a:p>
                      <a:pPr defTabSz="914400">
                        <a:tabLst>
                          <a:tab pos="1663700" algn="l"/>
                        </a:tabLst>
                        <a:defRPr sz="3200"/>
                      </a:pPr>
                    </a:p>
                  </a:txBody>
                  <a:tcPr marL="50800" marR="50800" marT="50800" marB="50800" anchor="ctr" anchorCtr="0" horzOverflow="overflow"/>
                </a:tc>
              </a:tr>
            </a:tbl>
          </a:graphicData>
        </a:graphic>
      </p:graphicFrame>
      <p:sp>
        <p:nvSpPr>
          <p:cNvPr id="568" name="parking_waiting"/>
          <p:cNvSpPr txBox="1"/>
          <p:nvPr/>
        </p:nvSpPr>
        <p:spPr>
          <a:xfrm>
            <a:off x="1377917" y="9390757"/>
            <a:ext cx="10726729" cy="366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parking_waiting</a:t>
            </a:r>
          </a:p>
        </p:txBody>
      </p:sp>
      <p:sp>
        <p:nvSpPr>
          <p:cNvPr id="569" name="Autopark (the infotainment app) is still running, polling the location of the car"/>
          <p:cNvSpPr/>
          <p:nvPr/>
        </p:nvSpPr>
        <p:spPr>
          <a:xfrm>
            <a:off x="531002" y="5911008"/>
            <a:ext cx="2829704" cy="2362701"/>
          </a:xfrm>
          <a:prstGeom prst="roundRect">
            <a:avLst>
              <a:gd name="adj" fmla="val 8773"/>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Autopark (the infotainment app) is still running, polling the location of the car</a:t>
            </a:r>
          </a:p>
        </p:txBody>
      </p:sp>
      <p:sp>
        <p:nvSpPr>
          <p:cNvPr id="570" name="Backend checks if the broadcasted parking_waiting ID matches with the car’s parking_waiting ID in the database."/>
          <p:cNvSpPr/>
          <p:nvPr/>
        </p:nvSpPr>
        <p:spPr>
          <a:xfrm>
            <a:off x="15587217" y="10855764"/>
            <a:ext cx="3404962" cy="1910089"/>
          </a:xfrm>
          <a:prstGeom prst="roundRect">
            <a:avLst>
              <a:gd name="adj" fmla="val 1636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Backend checks if the broadcasted parking_waiting ID matches with the car’s parking_waiting ID in the database.</a:t>
            </a:r>
          </a:p>
        </p:txBody>
      </p:sp>
      <p:sp>
        <p:nvSpPr>
          <p:cNvPr id="571" name="Arrow"/>
          <p:cNvSpPr/>
          <p:nvPr/>
        </p:nvSpPr>
        <p:spPr>
          <a:xfrm rot="3645723">
            <a:off x="13857716" y="9169159"/>
            <a:ext cx="3434258"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72" name="HTTP GET request to our backend to confirm the car has requested a spot"/>
          <p:cNvSpPr txBox="1"/>
          <p:nvPr/>
        </p:nvSpPr>
        <p:spPr>
          <a:xfrm>
            <a:off x="13048843" y="8797585"/>
            <a:ext cx="2273140" cy="12427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HTTP GET request to our backend to confirm the car has requested a spot</a:t>
            </a:r>
          </a:p>
        </p:txBody>
      </p:sp>
      <p:sp>
        <p:nvSpPr>
          <p:cNvPr id="573" name="Sends back the status of the check"/>
          <p:cNvSpPr txBox="1"/>
          <p:nvPr/>
        </p:nvSpPr>
        <p:spPr>
          <a:xfrm>
            <a:off x="16039572" y="8609902"/>
            <a:ext cx="2273140" cy="65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Sends back the status of the check</a:t>
            </a:r>
          </a:p>
        </p:txBody>
      </p:sp>
      <p:sp>
        <p:nvSpPr>
          <p:cNvPr id="574" name="Arrow"/>
          <p:cNvSpPr/>
          <p:nvPr/>
        </p:nvSpPr>
        <p:spPr>
          <a:xfrm rot="14501010">
            <a:off x="13934062" y="8984329"/>
            <a:ext cx="3739207"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75" name="The parking door opens, and the car enters the lot!"/>
          <p:cNvSpPr/>
          <p:nvPr/>
        </p:nvSpPr>
        <p:spPr>
          <a:xfrm>
            <a:off x="17160943" y="6164468"/>
            <a:ext cx="3404961" cy="1059124"/>
          </a:xfrm>
          <a:prstGeom prst="roundRect">
            <a:avLst>
              <a:gd name="adj" fmla="val 29504"/>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parking door opens, and the car enters the lot!</a:t>
            </a:r>
          </a:p>
        </p:txBody>
      </p:sp>
      <p:sp>
        <p:nvSpPr>
          <p:cNvPr id="576" name="Arrow"/>
          <p:cNvSpPr/>
          <p:nvPr/>
        </p:nvSpPr>
        <p:spPr>
          <a:xfrm>
            <a:off x="14945159" y="6610971"/>
            <a:ext cx="2020733"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77" name="We compare the payment_hash for the specific car_id and the payment_ash that was broadcasted"/>
          <p:cNvSpPr txBox="1"/>
          <p:nvPr/>
        </p:nvSpPr>
        <p:spPr>
          <a:xfrm>
            <a:off x="12060649" y="11396871"/>
            <a:ext cx="2273140" cy="18269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We compare the payment_hash for the specific car_id and the payment_ash that was broadcasted</a:t>
            </a:r>
          </a:p>
        </p:txBody>
      </p:sp>
      <p:sp>
        <p:nvSpPr>
          <p:cNvPr id="578" name="Tag backscatters the parking_waiting_id"/>
          <p:cNvSpPr txBox="1"/>
          <p:nvPr/>
        </p:nvSpPr>
        <p:spPr>
          <a:xfrm>
            <a:off x="9030000" y="5005949"/>
            <a:ext cx="2273140" cy="6585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Tag backscatters the parking_waiting_id</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81" name="System flow (Phase 4)"/>
          <p:cNvSpPr txBox="1"/>
          <p:nvPr>
            <p:ph type="title"/>
          </p:nvPr>
        </p:nvSpPr>
        <p:spPr>
          <a:prstGeom prst="rect">
            <a:avLst/>
          </a:prstGeom>
        </p:spPr>
        <p:txBody>
          <a:bodyPr/>
          <a:lstStyle>
            <a:lvl1pPr defTabSz="2145791">
              <a:defRPr spc="211" sz="7040"/>
            </a:lvl1pPr>
          </a:lstStyle>
          <a:p>
            <a:pPr/>
            <a:r>
              <a:t>System flow (Phase 4)</a:t>
            </a:r>
          </a:p>
        </p:txBody>
      </p:sp>
      <p:sp>
        <p:nvSpPr>
          <p:cNvPr id="582" name="The car has entered the parking lot, and needs to find a lot.  Note that we will most likely find a spot, as this lot was recommended to the user due to it being free."/>
          <p:cNvSpPr/>
          <p:nvPr/>
        </p:nvSpPr>
        <p:spPr>
          <a:xfrm>
            <a:off x="531002" y="2688886"/>
            <a:ext cx="4790923" cy="2362701"/>
          </a:xfrm>
          <a:prstGeom prst="roundRect">
            <a:avLst>
              <a:gd name="adj" fmla="val 8773"/>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p>
            <a:pPr defTabSz="1130300">
              <a:defRPr b="0" spc="0" sz="1800"/>
            </a:pPr>
            <a:r>
              <a:t xml:space="preserve">The car has entered the parking lot, and needs to find a lot. </a:t>
            </a:r>
            <a:br/>
            <a:r>
              <a:rPr b="1"/>
              <a:t>Note that we will most likely find a spot, as this lot was recommended to the user due to it being free.</a:t>
            </a:r>
          </a:p>
        </p:txBody>
      </p:sp>
      <p:sp>
        <p:nvSpPr>
          <p:cNvPr id="583" name="The car leaves the lot"/>
          <p:cNvSpPr/>
          <p:nvPr/>
        </p:nvSpPr>
        <p:spPr>
          <a:xfrm>
            <a:off x="6337460" y="8734935"/>
            <a:ext cx="2604279" cy="1059124"/>
          </a:xfrm>
          <a:prstGeom prst="roundRect">
            <a:avLst>
              <a:gd name="adj" fmla="val 23549"/>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car leaves the lot</a:t>
            </a:r>
          </a:p>
        </p:txBody>
      </p:sp>
      <p:sp>
        <p:nvSpPr>
          <p:cNvPr id="584" name="The car does not find a spot"/>
          <p:cNvSpPr txBox="1"/>
          <p:nvPr/>
        </p:nvSpPr>
        <p:spPr>
          <a:xfrm>
            <a:off x="2809029" y="8690793"/>
            <a:ext cx="2407132" cy="65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The car does not find a spot</a:t>
            </a:r>
          </a:p>
        </p:txBody>
      </p:sp>
      <p:sp>
        <p:nvSpPr>
          <p:cNvPr id="585" name="Arrow"/>
          <p:cNvSpPr/>
          <p:nvPr/>
        </p:nvSpPr>
        <p:spPr>
          <a:xfrm rot="5400000">
            <a:off x="1616555" y="5373962"/>
            <a:ext cx="658597" cy="214670"/>
          </a:xfrm>
          <a:prstGeom prst="rightArrow">
            <a:avLst>
              <a:gd name="adj1" fmla="val 52424"/>
              <a:gd name="adj2" fmla="val 73040"/>
            </a:avLst>
          </a:prstGeom>
          <a:solidFill>
            <a:srgbClr val="000000"/>
          </a:solidFill>
          <a:ln w="12700">
            <a:miter lim="400000"/>
          </a:ln>
        </p:spPr>
        <p:txBody>
          <a:bodyPr lIns="50800" tIns="50800" rIns="50800" bIns="50800" anchor="ctr"/>
          <a:lstStyle/>
          <a:p>
            <a:pPr defTabSz="1130300">
              <a:defRPr b="0" spc="0" sz="3200"/>
            </a:pPr>
          </a:p>
        </p:txBody>
      </p:sp>
      <p:sp>
        <p:nvSpPr>
          <p:cNvPr id="586" name="The car circles around the. Lot to find a spot"/>
          <p:cNvSpPr/>
          <p:nvPr/>
        </p:nvSpPr>
        <p:spPr>
          <a:xfrm>
            <a:off x="531002" y="5911008"/>
            <a:ext cx="2829704" cy="2362701"/>
          </a:xfrm>
          <a:prstGeom prst="roundRect">
            <a:avLst>
              <a:gd name="adj" fmla="val 8773"/>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car circles around the. Lot to find a spot</a:t>
            </a:r>
          </a:p>
        </p:txBody>
      </p:sp>
      <p:sp>
        <p:nvSpPr>
          <p:cNvPr id="587" name="Arrow"/>
          <p:cNvSpPr/>
          <p:nvPr/>
        </p:nvSpPr>
        <p:spPr>
          <a:xfrm rot="21600000">
            <a:off x="9075160" y="9170543"/>
            <a:ext cx="2020733"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88" name="Arrow"/>
          <p:cNvSpPr/>
          <p:nvPr/>
        </p:nvSpPr>
        <p:spPr>
          <a:xfrm rot="2013256">
            <a:off x="3400789" y="8278872"/>
            <a:ext cx="3060023" cy="212135"/>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89" name="An SMS notification is sent to the user, which outlines them to the app where the new recommendations are shown."/>
          <p:cNvSpPr/>
          <p:nvPr/>
        </p:nvSpPr>
        <p:spPr>
          <a:xfrm>
            <a:off x="11229313" y="8519359"/>
            <a:ext cx="3312499" cy="1490276"/>
          </a:xfrm>
          <a:prstGeom prst="roundRect">
            <a:avLst>
              <a:gd name="adj" fmla="val 21287"/>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 xml:space="preserve">An SMS notification is sent to the user, which outlines them to the app where the new recommendations are shown. </a:t>
            </a:r>
          </a:p>
        </p:txBody>
      </p:sp>
      <p:sp>
        <p:nvSpPr>
          <p:cNvPr id="590" name="HTTP POST request made to the backend to send notification"/>
          <p:cNvSpPr txBox="1"/>
          <p:nvPr/>
        </p:nvSpPr>
        <p:spPr>
          <a:xfrm>
            <a:off x="8881960" y="7886422"/>
            <a:ext cx="2407132" cy="950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HTTP POST request made to the backend to send notification</a:t>
            </a:r>
          </a:p>
        </p:txBody>
      </p:sp>
      <p:sp>
        <p:nvSpPr>
          <p:cNvPr id="591" name="Phase 3 starts again!"/>
          <p:cNvSpPr/>
          <p:nvPr/>
        </p:nvSpPr>
        <p:spPr>
          <a:xfrm>
            <a:off x="16829386" y="10703240"/>
            <a:ext cx="2501772" cy="806999"/>
          </a:xfrm>
          <a:prstGeom prst="roundRect">
            <a:avLst>
              <a:gd name="adj" fmla="val 39311"/>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Phase 3 starts again!</a:t>
            </a:r>
          </a:p>
        </p:txBody>
      </p:sp>
      <p:sp>
        <p:nvSpPr>
          <p:cNvPr id="592" name="The app chooses top recommendation"/>
          <p:cNvSpPr/>
          <p:nvPr/>
        </p:nvSpPr>
        <p:spPr>
          <a:xfrm>
            <a:off x="16431280" y="8292314"/>
            <a:ext cx="2501772" cy="1034652"/>
          </a:xfrm>
          <a:prstGeom prst="roundRect">
            <a:avLst>
              <a:gd name="adj" fmla="val 30661"/>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app chooses top recommendation</a:t>
            </a:r>
          </a:p>
        </p:txBody>
      </p:sp>
      <p:sp>
        <p:nvSpPr>
          <p:cNvPr id="593" name="Arrow"/>
          <p:cNvSpPr/>
          <p:nvPr/>
        </p:nvSpPr>
        <p:spPr>
          <a:xfrm rot="2013256">
            <a:off x="14499279" y="10241797"/>
            <a:ext cx="2406141" cy="181796"/>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94" name="User chooses a spot"/>
          <p:cNvSpPr txBox="1"/>
          <p:nvPr/>
        </p:nvSpPr>
        <p:spPr>
          <a:xfrm>
            <a:off x="13305189" y="10435234"/>
            <a:ext cx="2407131" cy="366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User chooses a spot</a:t>
            </a:r>
          </a:p>
        </p:txBody>
      </p:sp>
      <p:sp>
        <p:nvSpPr>
          <p:cNvPr id="595" name="Phase 3 starts again!"/>
          <p:cNvSpPr/>
          <p:nvPr/>
        </p:nvSpPr>
        <p:spPr>
          <a:xfrm>
            <a:off x="20041708" y="8406141"/>
            <a:ext cx="2501772" cy="806998"/>
          </a:xfrm>
          <a:prstGeom prst="roundRect">
            <a:avLst>
              <a:gd name="adj" fmla="val 39311"/>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Phase 3 starts again!</a:t>
            </a:r>
          </a:p>
        </p:txBody>
      </p:sp>
      <p:sp>
        <p:nvSpPr>
          <p:cNvPr id="596" name="Arrow"/>
          <p:cNvSpPr/>
          <p:nvPr/>
        </p:nvSpPr>
        <p:spPr>
          <a:xfrm rot="21600000">
            <a:off x="14675232" y="8715685"/>
            <a:ext cx="1622686"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97" name="User does not choose a spot"/>
          <p:cNvSpPr txBox="1"/>
          <p:nvPr/>
        </p:nvSpPr>
        <p:spPr>
          <a:xfrm>
            <a:off x="14283010" y="7906760"/>
            <a:ext cx="2407131" cy="6585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User does not choose a spot</a:t>
            </a:r>
          </a:p>
        </p:txBody>
      </p:sp>
      <p:sp>
        <p:nvSpPr>
          <p:cNvPr id="598" name="Arrow"/>
          <p:cNvSpPr/>
          <p:nvPr/>
        </p:nvSpPr>
        <p:spPr>
          <a:xfrm rot="21600000">
            <a:off x="19066473" y="8715685"/>
            <a:ext cx="841816"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599" name="Arrow"/>
          <p:cNvSpPr/>
          <p:nvPr/>
        </p:nvSpPr>
        <p:spPr>
          <a:xfrm rot="20844996">
            <a:off x="3643903" y="6219220"/>
            <a:ext cx="3060024" cy="212135"/>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600" name="The car parks itself"/>
          <p:cNvSpPr/>
          <p:nvPr/>
        </p:nvSpPr>
        <p:spPr>
          <a:xfrm>
            <a:off x="6812803" y="5428269"/>
            <a:ext cx="2604279" cy="1059125"/>
          </a:xfrm>
          <a:prstGeom prst="roundRect">
            <a:avLst>
              <a:gd name="adj" fmla="val 23549"/>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The car parks itself</a:t>
            </a:r>
          </a:p>
        </p:txBody>
      </p:sp>
      <p:sp>
        <p:nvSpPr>
          <p:cNvPr id="601" name="The realtime_parking table is updates with the parked lot…"/>
          <p:cNvSpPr/>
          <p:nvPr/>
        </p:nvSpPr>
        <p:spPr>
          <a:xfrm>
            <a:off x="14032931" y="4636460"/>
            <a:ext cx="3312498" cy="2515835"/>
          </a:xfrm>
          <a:prstGeom prst="roundRect">
            <a:avLst>
              <a:gd name="adj" fmla="val 12610"/>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p>
            <a:pPr marL="223404" indent="-223404" defTabSz="1130300">
              <a:buSzPct val="150000"/>
              <a:buChar char="-"/>
              <a:defRPr b="0" spc="0" sz="1800"/>
            </a:pPr>
            <a:r>
              <a:t>The realtime_parking table is updates with the parked lot</a:t>
            </a:r>
          </a:p>
          <a:p>
            <a:pPr marL="223404" indent="-223404" defTabSz="1130300">
              <a:buSzPct val="150000"/>
              <a:buChar char="-"/>
              <a:defRPr b="0" spc="0" sz="1800"/>
            </a:pPr>
            <a:r>
              <a:t>The payment is fully completed</a:t>
            </a:r>
          </a:p>
          <a:p>
            <a:pPr marL="223404" indent="-223404" defTabSz="1130300">
              <a:buSzPct val="150000"/>
              <a:buChar char="-"/>
              <a:defRPr b="0" spc="0" sz="1800"/>
            </a:pPr>
            <a:r>
              <a:t>The car’s entry in parking_waiting is removed</a:t>
            </a:r>
          </a:p>
        </p:txBody>
      </p:sp>
      <p:sp>
        <p:nvSpPr>
          <p:cNvPr id="602" name="Arrow"/>
          <p:cNvSpPr/>
          <p:nvPr/>
        </p:nvSpPr>
        <p:spPr>
          <a:xfrm rot="21600000">
            <a:off x="9562709" y="5863877"/>
            <a:ext cx="4324594" cy="187910"/>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
        <p:nvSpPr>
          <p:cNvPr id="603" name="HTTP POST request is made to the backend"/>
          <p:cNvSpPr txBox="1"/>
          <p:nvPr/>
        </p:nvSpPr>
        <p:spPr>
          <a:xfrm>
            <a:off x="10286217" y="5065123"/>
            <a:ext cx="2407132" cy="65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HTTP POST request is made to the backend</a:t>
            </a:r>
          </a:p>
        </p:txBody>
      </p:sp>
      <p:sp>
        <p:nvSpPr>
          <p:cNvPr id="604" name="The car finds a spot"/>
          <p:cNvSpPr txBox="1"/>
          <p:nvPr/>
        </p:nvSpPr>
        <p:spPr>
          <a:xfrm>
            <a:off x="3536536" y="5439239"/>
            <a:ext cx="2407131" cy="366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pc="53" sz="1800"/>
            </a:lvl1pPr>
          </a:lstStyle>
          <a:p>
            <a:pPr/>
            <a:r>
              <a:t>The car finds a spot</a:t>
            </a:r>
          </a:p>
        </p:txBody>
      </p:sp>
      <p:sp>
        <p:nvSpPr>
          <p:cNvPr id="605" name="We are done!"/>
          <p:cNvSpPr/>
          <p:nvPr/>
        </p:nvSpPr>
        <p:spPr>
          <a:xfrm>
            <a:off x="18908039" y="5554332"/>
            <a:ext cx="2501772" cy="806999"/>
          </a:xfrm>
          <a:prstGeom prst="roundRect">
            <a:avLst>
              <a:gd name="adj" fmla="val 39311"/>
            </a:avLst>
          </a:prstGeom>
          <a:solidFill>
            <a:srgbClr val="FFFFFF"/>
          </a:solidFill>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1800"/>
            </a:lvl1pPr>
          </a:lstStyle>
          <a:p>
            <a:pPr/>
            <a:r>
              <a:t>We are done!</a:t>
            </a:r>
          </a:p>
        </p:txBody>
      </p:sp>
      <p:sp>
        <p:nvSpPr>
          <p:cNvPr id="606" name="Arrow"/>
          <p:cNvSpPr/>
          <p:nvPr/>
        </p:nvSpPr>
        <p:spPr>
          <a:xfrm rot="21600000">
            <a:off x="17491056" y="5863877"/>
            <a:ext cx="1271355" cy="187909"/>
          </a:xfrm>
          <a:prstGeom prst="rightArrow">
            <a:avLst>
              <a:gd name="adj1" fmla="val 52424"/>
              <a:gd name="adj2" fmla="val 102059"/>
            </a:avLst>
          </a:prstGeom>
          <a:solidFill>
            <a:srgbClr val="000000"/>
          </a:solidFill>
          <a:ln w="12700">
            <a:miter lim="400000"/>
          </a:ln>
        </p:spPr>
        <p:txBody>
          <a:bodyPr lIns="50800" tIns="50800" rIns="50800" bIns="50800" anchor="ctr"/>
          <a:lstStyle/>
          <a:p>
            <a:pPr defTabSz="1130300">
              <a:defRPr b="0" spc="0" sz="3200"/>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8" name="Internal Architecture"/>
          <p:cNvSpPr txBox="1"/>
          <p:nvPr>
            <p:ph type="title"/>
          </p:nvPr>
        </p:nvSpPr>
        <p:spPr>
          <a:xfrm>
            <a:off x="947981" y="6046993"/>
            <a:ext cx="17713769" cy="4922293"/>
          </a:xfrm>
          <a:prstGeom prst="rect">
            <a:avLst/>
          </a:prstGeom>
        </p:spPr>
        <p:txBody>
          <a:bodyPr/>
          <a:lstStyle>
            <a:lvl1pPr algn="l">
              <a:defRPr b="0" sz="13600"/>
            </a:lvl1pPr>
          </a:lstStyle>
          <a:p>
            <a:pPr/>
            <a:r>
              <a:t>Internal Architecture</a:t>
            </a:r>
          </a:p>
        </p:txBody>
      </p:sp>
      <p:sp>
        <p:nvSpPr>
          <p:cNvPr id="60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12" name="App Development"/>
          <p:cNvSpPr txBox="1"/>
          <p:nvPr>
            <p:ph type="title"/>
          </p:nvPr>
        </p:nvSpPr>
        <p:spPr>
          <a:prstGeom prst="rect">
            <a:avLst/>
          </a:prstGeom>
        </p:spPr>
        <p:txBody>
          <a:bodyPr/>
          <a:lstStyle>
            <a:lvl1pPr defTabSz="2145791">
              <a:defRPr spc="211" sz="7040"/>
            </a:lvl1pPr>
          </a:lstStyle>
          <a:p>
            <a:pPr/>
            <a:r>
              <a:t xml:space="preserve">App Development </a:t>
            </a:r>
          </a:p>
        </p:txBody>
      </p:sp>
      <p:sp>
        <p:nvSpPr>
          <p:cNvPr id="613" name="The app will be developed in-house…"/>
          <p:cNvSpPr txBox="1"/>
          <p:nvPr>
            <p:ph type="body" idx="1"/>
          </p:nvPr>
        </p:nvSpPr>
        <p:spPr>
          <a:prstGeom prst="rect">
            <a:avLst/>
          </a:prstGeom>
        </p:spPr>
        <p:txBody>
          <a:bodyPr/>
          <a:lstStyle/>
          <a:p>
            <a:pPr/>
            <a:r>
              <a:t>The app will be developed in-house</a:t>
            </a:r>
          </a:p>
          <a:p>
            <a:pPr lvl="1" marL="1511300" indent="-914400">
              <a:buChar char="➔"/>
            </a:pPr>
            <a:r>
              <a:t xml:space="preserve">Getting the parking recommendations are Relatively straight forward, as it just fetching the backend cache. </a:t>
            </a:r>
          </a:p>
          <a:p>
            <a:pPr/>
            <a:r>
              <a:t>We will need to work with the developers of the OEM to create the APIs for sending the car to the parking lot and summoning the car.</a:t>
            </a:r>
          </a:p>
          <a:p>
            <a:pPr lvl="1" marL="1511300" indent="-914400">
              <a:buChar char="➔"/>
            </a:pPr>
            <a:r>
              <a:t>This would start by signing an NDA and technical access agreement, granting us access to their internal SDK documentation</a:t>
            </a:r>
          </a:p>
          <a:p>
            <a:pPr lvl="1" marL="1511300" indent="-914400">
              <a:buChar char="➔"/>
            </a:pPr>
            <a:r>
              <a:t>After developing, we would test our software in their simulation environment (Hardware-in-the-loop)</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16" name="The OBU"/>
          <p:cNvSpPr txBox="1"/>
          <p:nvPr>
            <p:ph type="title"/>
          </p:nvPr>
        </p:nvSpPr>
        <p:spPr>
          <a:prstGeom prst="rect">
            <a:avLst/>
          </a:prstGeom>
        </p:spPr>
        <p:txBody>
          <a:bodyPr/>
          <a:lstStyle>
            <a:lvl1pPr defTabSz="2145791">
              <a:defRPr spc="211" sz="7040"/>
            </a:lvl1pPr>
          </a:lstStyle>
          <a:p>
            <a:pPr/>
            <a:r>
              <a:t>The OBU</a:t>
            </a:r>
          </a:p>
        </p:txBody>
      </p:sp>
      <p:sp>
        <p:nvSpPr>
          <p:cNvPr id="617" name="The OBU will be comprised of a UHF Writer module, and a UHF tag.…"/>
          <p:cNvSpPr txBox="1"/>
          <p:nvPr>
            <p:ph type="body" idx="1"/>
          </p:nvPr>
        </p:nvSpPr>
        <p:spPr>
          <a:prstGeom prst="rect">
            <a:avLst/>
          </a:prstGeom>
        </p:spPr>
        <p:txBody>
          <a:bodyPr/>
          <a:lstStyle/>
          <a:p>
            <a:pPr/>
            <a:r>
              <a:t xml:space="preserve">The OBU will be comprised of a UHF Writer module, and a UHF tag. </a:t>
            </a:r>
          </a:p>
          <a:p>
            <a:pPr lvl="1" marL="1511300" indent="-914400">
              <a:buChar char="➔"/>
            </a:pPr>
            <a:r>
              <a:t>The OBU will be connected to the CAN bus of the car, and placed right below the dashboard.</a:t>
            </a:r>
          </a:p>
          <a:p>
            <a:pPr/>
            <a:r>
              <a:t>Alongside the OBU, we will need to add custom firmware to the Telematics Control Unit (TCU). This is the module that manages the CAN bus communication. This will be the main logic that will control the states of Autopark.</a:t>
            </a:r>
          </a:p>
        </p:txBody>
      </p:sp>
      <p:pic>
        <p:nvPicPr>
          <p:cNvPr id="618" name="pasted-movie.png" descr="pasted-movie.png"/>
          <p:cNvPicPr>
            <a:picLocks noChangeAspect="1"/>
          </p:cNvPicPr>
          <p:nvPr/>
        </p:nvPicPr>
        <p:blipFill>
          <a:blip r:embed="rId2">
            <a:extLst/>
          </a:blip>
          <a:stretch>
            <a:fillRect/>
          </a:stretch>
        </p:blipFill>
        <p:spPr>
          <a:xfrm>
            <a:off x="5869917" y="8887377"/>
            <a:ext cx="3718836" cy="3718836"/>
          </a:xfrm>
          <a:prstGeom prst="rect">
            <a:avLst/>
          </a:prstGeom>
          <a:ln w="12700">
            <a:miter lim="400000"/>
          </a:ln>
        </p:spPr>
      </p:pic>
      <p:sp>
        <p:nvSpPr>
          <p:cNvPr id="619" name="Frequency Band: UHF 860~960 MHz"/>
          <p:cNvSpPr txBox="1"/>
          <p:nvPr/>
        </p:nvSpPr>
        <p:spPr>
          <a:xfrm>
            <a:off x="9550186" y="8805961"/>
            <a:ext cx="8850679" cy="7015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defTabSz="457200">
              <a:spcBef>
                <a:spcPts val="1500"/>
              </a:spcBef>
              <a:defRPr b="0" spc="0" sz="4000">
                <a:solidFill>
                  <a:srgbClr val="595959"/>
                </a:solidFill>
              </a:defRPr>
            </a:pPr>
            <a:r>
              <a:t xml:space="preserve">Frequency Band: </a:t>
            </a:r>
            <a:r>
              <a:rPr>
                <a:solidFill>
                  <a:srgbClr val="000000"/>
                </a:solidFill>
              </a:rPr>
              <a:t>UHF 860~960 MHz</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22" name="The OBU"/>
          <p:cNvSpPr txBox="1"/>
          <p:nvPr>
            <p:ph type="title"/>
          </p:nvPr>
        </p:nvSpPr>
        <p:spPr>
          <a:prstGeom prst="rect">
            <a:avLst/>
          </a:prstGeom>
        </p:spPr>
        <p:txBody>
          <a:bodyPr/>
          <a:lstStyle>
            <a:lvl1pPr defTabSz="2145791">
              <a:defRPr spc="211" sz="7040"/>
            </a:lvl1pPr>
          </a:lstStyle>
          <a:p>
            <a:pPr/>
            <a:r>
              <a:t>The OBU</a:t>
            </a:r>
          </a:p>
        </p:txBody>
      </p:sp>
      <p:sp>
        <p:nvSpPr>
          <p:cNvPr id="623" name="UHF RFID tag…"/>
          <p:cNvSpPr txBox="1"/>
          <p:nvPr>
            <p:ph type="body" idx="1"/>
          </p:nvPr>
        </p:nvSpPr>
        <p:spPr>
          <a:xfrm>
            <a:off x="860732" y="2609631"/>
            <a:ext cx="22721602" cy="9110401"/>
          </a:xfrm>
          <a:prstGeom prst="rect">
            <a:avLst/>
          </a:prstGeom>
        </p:spPr>
        <p:txBody>
          <a:bodyPr/>
          <a:lstStyle/>
          <a:p>
            <a:pPr marL="812673" indent="-722376" defTabSz="1926336">
              <a:buSzPts val="3700"/>
              <a:defRPr b="1" spc="113" sz="3792"/>
            </a:pPr>
            <a:r>
              <a:t>UHF RFID tag</a:t>
            </a:r>
          </a:p>
          <a:p>
            <a:pPr lvl="1" marL="1193927" indent="-722376" defTabSz="1926336">
              <a:buSzPts val="3700"/>
              <a:buChar char="➔"/>
              <a:defRPr spc="113" sz="3792"/>
            </a:pPr>
            <a:r>
              <a:t>UCODE DNA RAIN RFID</a:t>
            </a:r>
          </a:p>
          <a:p>
            <a:pPr lvl="1" marL="1193927" indent="-722376" defTabSz="1926336">
              <a:buSzPts val="3700"/>
              <a:buChar char="➔"/>
              <a:defRPr spc="113" sz="3792"/>
            </a:pPr>
          </a:p>
          <a:p>
            <a:pPr marL="812673" indent="-722376" defTabSz="1926336">
              <a:buSzPts val="3700"/>
              <a:defRPr b="1" spc="113" sz="3792"/>
            </a:pPr>
            <a:r>
              <a:t>UHF Writer module (the M6E Nano is our strongest one)</a:t>
            </a:r>
          </a:p>
          <a:p>
            <a:pPr lvl="1" marL="1193927" indent="-722376" defTabSz="1926336">
              <a:buSzPts val="3700"/>
              <a:buChar char="➔"/>
              <a:defRPr spc="113" sz="3792"/>
            </a:pPr>
            <a:r>
              <a:t>M6E Nano</a:t>
            </a:r>
          </a:p>
          <a:p>
            <a:pPr lvl="1" marL="1193927" indent="-722376" defTabSz="1926336">
              <a:buSzPts val="3700"/>
              <a:buChar char="➔"/>
              <a:defRPr spc="113" sz="3792"/>
            </a:pPr>
            <a:r>
              <a:t>Impinj-based modules</a:t>
            </a:r>
          </a:p>
          <a:p>
            <a:pPr lvl="1" marL="1193927" indent="-722376" defTabSz="1926336">
              <a:buSzPts val="3700"/>
              <a:buChar char="➔"/>
              <a:defRPr spc="113" sz="3792"/>
            </a:pPr>
            <a:r>
              <a:t>M5Stack JRD-4035</a:t>
            </a:r>
          </a:p>
          <a:p>
            <a:pPr lvl="1" marL="1193927" indent="-722376" defTabSz="1926336">
              <a:buSzPts val="3700"/>
              <a:buChar char="➔"/>
              <a:defRPr spc="113" sz="3792"/>
            </a:pPr>
            <a:r>
              <a:t>Chainway/Zebra OEM modules</a:t>
            </a:r>
          </a:p>
          <a:p>
            <a:pPr lvl="1" marL="1193927" indent="-722376" defTabSz="1926336">
              <a:buSzPts val="3700"/>
              <a:buChar char="➔"/>
              <a:defRPr spc="113" sz="3792"/>
            </a:pPr>
          </a:p>
          <a:p>
            <a:pPr marL="812673" indent="-722376" defTabSz="1926336">
              <a:buSzPts val="3700"/>
              <a:defRPr spc="113" sz="3792"/>
            </a:pPr>
            <a:r>
              <a:t xml:space="preserve">We would also need a CAN bus bridge to convert the CAN frames and format it into a write command to send to the RFID module. </a:t>
            </a:r>
          </a:p>
          <a:p>
            <a:pPr lvl="1" marL="1193927" indent="-722376" defTabSz="1926336">
              <a:buSzPts val="3700"/>
              <a:buChar char="➔"/>
              <a:defRPr spc="113" sz="3792"/>
            </a:pPr>
            <a:r>
              <a:t>We can just use a STM32 microcontroller</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26" name="Phase 1 Firmware"/>
          <p:cNvSpPr txBox="1"/>
          <p:nvPr>
            <p:ph type="title"/>
          </p:nvPr>
        </p:nvSpPr>
        <p:spPr>
          <a:prstGeom prst="rect">
            <a:avLst/>
          </a:prstGeom>
        </p:spPr>
        <p:txBody>
          <a:bodyPr/>
          <a:lstStyle>
            <a:lvl1pPr defTabSz="2145791">
              <a:defRPr spc="211" sz="7040"/>
            </a:lvl1pPr>
          </a:lstStyle>
          <a:p>
            <a:pPr/>
            <a:r>
              <a:t>Phase 1 Firmware</a:t>
            </a:r>
          </a:p>
        </p:txBody>
      </p:sp>
      <p:sp>
        <p:nvSpPr>
          <p:cNvPr id="627" name="Polling while driving…"/>
          <p:cNvSpPr txBox="1"/>
          <p:nvPr>
            <p:ph type="body" idx="1"/>
          </p:nvPr>
        </p:nvSpPr>
        <p:spPr>
          <a:prstGeom prst="rect">
            <a:avLst/>
          </a:prstGeom>
        </p:spPr>
        <p:txBody>
          <a:bodyPr/>
          <a:lstStyle/>
          <a:p>
            <a:pPr/>
            <a:r>
              <a:t>Polling while driving</a:t>
            </a:r>
          </a:p>
          <a:p>
            <a:pPr lvl="1" marL="1511300" indent="-914400">
              <a:buChar char="➔"/>
            </a:pPr>
            <a:r>
              <a:t>Read GPS position from the car's GPS module via CAN</a:t>
            </a:r>
          </a:p>
          <a:p>
            <a:pPr lvl="1" marL="1511300" indent="-914400">
              <a:buChar char="➔"/>
            </a:pPr>
            <a:r>
              <a:t>Every 100 meters, trigger an HTTP GET to your backend to fetch parking recommendations</a:t>
            </a:r>
          </a:p>
          <a:p>
            <a:pPr lvl="1" marL="1511300" indent="-914400">
              <a:buChar char="➔"/>
            </a:pPr>
            <a:r>
              <a:t>Pass the returned recommendations up to the CarPlay app via the TCU's app communication layer</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30" name="Phase 2 Firmware"/>
          <p:cNvSpPr txBox="1"/>
          <p:nvPr>
            <p:ph type="title"/>
          </p:nvPr>
        </p:nvSpPr>
        <p:spPr>
          <a:prstGeom prst="rect">
            <a:avLst/>
          </a:prstGeom>
        </p:spPr>
        <p:txBody>
          <a:bodyPr/>
          <a:lstStyle>
            <a:lvl1pPr defTabSz="2145791">
              <a:defRPr spc="211" sz="7040"/>
            </a:lvl1pPr>
          </a:lstStyle>
          <a:p>
            <a:pPr/>
            <a:r>
              <a:t>Phase 2 Firmware</a:t>
            </a:r>
          </a:p>
        </p:txBody>
      </p:sp>
      <p:sp>
        <p:nvSpPr>
          <p:cNvPr id="631" name="After payment…"/>
          <p:cNvSpPr txBox="1"/>
          <p:nvPr>
            <p:ph type="body" idx="1"/>
          </p:nvPr>
        </p:nvSpPr>
        <p:spPr>
          <a:prstGeom prst="rect">
            <a:avLst/>
          </a:prstGeom>
        </p:spPr>
        <p:txBody>
          <a:bodyPr/>
          <a:lstStyle/>
          <a:p>
            <a:pPr/>
            <a:r>
              <a:t>After payment</a:t>
            </a:r>
          </a:p>
          <a:p>
            <a:pPr lvl="1" marL="1511300" indent="-914400">
              <a:buChar char="➔"/>
            </a:pPr>
            <a:r>
              <a:t>Maintain a persistent connection to your backend to receive the SSE (server-sent event)</a:t>
            </a:r>
          </a:p>
          <a:p>
            <a:pPr lvl="1" marL="1511300" indent="-914400">
              <a:buChar char="➔"/>
            </a:pPr>
            <a:r>
              <a:t>On receiving the SSE, extract the parking_waiting_id</a:t>
            </a:r>
          </a:p>
          <a:p>
            <a:pPr lvl="1" marL="1511300" indent="-914400">
              <a:buChar char="➔"/>
            </a:pPr>
            <a:r>
              <a:t>Send a CAN message to the UHF writer module instructing it to write that ID to the tag</a:t>
            </a:r>
          </a:p>
          <a:p>
            <a:pPr lvl="1" marL="1511300" indent="-914400">
              <a:buChar char="➔"/>
            </a:pPr>
            <a:r>
              <a:t>Store the parking_waiting_id locally on the TCU in case it's needed again</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34" name="Phase 3 Firmware"/>
          <p:cNvSpPr txBox="1"/>
          <p:nvPr>
            <p:ph type="title"/>
          </p:nvPr>
        </p:nvSpPr>
        <p:spPr>
          <a:prstGeom prst="rect">
            <a:avLst/>
          </a:prstGeom>
        </p:spPr>
        <p:txBody>
          <a:bodyPr/>
          <a:lstStyle>
            <a:lvl1pPr defTabSz="2145791">
              <a:defRPr spc="211" sz="7040"/>
            </a:lvl1pPr>
          </a:lstStyle>
          <a:p>
            <a:pPr/>
            <a:r>
              <a:t>Phase 3 Firmware</a:t>
            </a:r>
          </a:p>
        </p:txBody>
      </p:sp>
      <p:sp>
        <p:nvSpPr>
          <p:cNvPr id="635" name="Approaching the gate…"/>
          <p:cNvSpPr txBox="1"/>
          <p:nvPr>
            <p:ph type="body" idx="1"/>
          </p:nvPr>
        </p:nvSpPr>
        <p:spPr>
          <a:prstGeom prst="rect">
            <a:avLst/>
          </a:prstGeom>
        </p:spPr>
        <p:txBody>
          <a:bodyPr/>
          <a:lstStyle/>
          <a:p>
            <a:pPr/>
            <a:r>
              <a:t>Approaching the gate</a:t>
            </a:r>
          </a:p>
          <a:p>
            <a:pPr lvl="1" marL="1511300" indent="-914400">
              <a:buChar char="➔"/>
            </a:pPr>
            <a:r>
              <a:t>Continuously monitor GPS position</a:t>
            </a:r>
          </a:p>
          <a:p>
            <a:pPr lvl="1" marL="1511300" indent="-914400">
              <a:buChar char="➔"/>
            </a:pPr>
            <a:r>
              <a:t>Detect when the car enters the ~8–10m geofence radius around a known gate location</a:t>
            </a:r>
          </a:p>
          <a:p>
            <a:pPr lvl="1" marL="1511300" indent="-914400">
              <a:buChar char="➔"/>
            </a:pPr>
            <a:r>
              <a:t>At that point the UHF reader at the gate handles everything — the firmware doesn't need to do anything active here, the tag is already written and passive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38" name="Phase 4 Firmware"/>
          <p:cNvSpPr txBox="1"/>
          <p:nvPr>
            <p:ph type="title"/>
          </p:nvPr>
        </p:nvSpPr>
        <p:spPr>
          <a:prstGeom prst="rect">
            <a:avLst/>
          </a:prstGeom>
        </p:spPr>
        <p:txBody>
          <a:bodyPr/>
          <a:lstStyle>
            <a:lvl1pPr defTabSz="2145791">
              <a:defRPr spc="211" sz="7040"/>
            </a:lvl1pPr>
          </a:lstStyle>
          <a:p>
            <a:pPr/>
            <a:r>
              <a:t>Phase 4 Firmware</a:t>
            </a:r>
          </a:p>
        </p:txBody>
      </p:sp>
      <p:sp>
        <p:nvSpPr>
          <p:cNvPr id="639" name="Inside the lot…"/>
          <p:cNvSpPr txBox="1"/>
          <p:nvPr>
            <p:ph type="body" idx="1"/>
          </p:nvPr>
        </p:nvSpPr>
        <p:spPr>
          <a:prstGeom prst="rect">
            <a:avLst/>
          </a:prstGeom>
        </p:spPr>
        <p:txBody>
          <a:bodyPr/>
          <a:lstStyle/>
          <a:p>
            <a:pPr/>
            <a:r>
              <a:t>Inside the lot</a:t>
            </a:r>
          </a:p>
          <a:p>
            <a:pPr lvl="1" marL="1511300" indent="-914400">
              <a:buChar char="➔"/>
            </a:pPr>
            <a:r>
              <a:t>Monitor GPS, speed, gear position, and engine state via CAN</a:t>
            </a:r>
          </a:p>
          <a:p>
            <a:pPr lvl="1" marL="1511300" indent="-914400">
              <a:buChar char="➔"/>
            </a:pPr>
            <a:r>
              <a:t>On successful park, send HTTP POST to backend to finalize the session</a:t>
            </a:r>
          </a:p>
          <a:p>
            <a:pPr lvl="1" marL="1511300" indent="-914400">
              <a:buChar char="➔"/>
            </a:pPr>
            <a:r>
              <a:t>Clear the parking_waiting_id from local storage and send a CAN message to the UHF writer to wipe the tag</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42" name="The RSU"/>
          <p:cNvSpPr txBox="1"/>
          <p:nvPr>
            <p:ph type="title"/>
          </p:nvPr>
        </p:nvSpPr>
        <p:spPr>
          <a:prstGeom prst="rect">
            <a:avLst/>
          </a:prstGeom>
        </p:spPr>
        <p:txBody>
          <a:bodyPr/>
          <a:lstStyle>
            <a:lvl1pPr defTabSz="2145791">
              <a:defRPr spc="211" sz="7040"/>
            </a:lvl1pPr>
          </a:lstStyle>
          <a:p>
            <a:pPr/>
            <a:r>
              <a:t>The RSU</a:t>
            </a:r>
          </a:p>
        </p:txBody>
      </p:sp>
      <p:sp>
        <p:nvSpPr>
          <p:cNvPr id="643" name="We will need to interface with the main processor of the parking gate, the component that is responsible for opening and closing the gate.…"/>
          <p:cNvSpPr txBox="1"/>
          <p:nvPr>
            <p:ph type="body" idx="1"/>
          </p:nvPr>
        </p:nvSpPr>
        <p:spPr>
          <a:prstGeom prst="rect">
            <a:avLst/>
          </a:prstGeom>
        </p:spPr>
        <p:txBody>
          <a:bodyPr/>
          <a:lstStyle/>
          <a:p>
            <a:pPr/>
            <a:r>
              <a:t xml:space="preserve">We will need to interface with the main processor of the parking gate, the component that is responsible for opening and closing the gate.  </a:t>
            </a:r>
          </a:p>
          <a:p>
            <a:pPr/>
            <a:r>
              <a:t xml:space="preserve">Every commercial parking gate (FAAC, CAME, SKIDATA, etc) has a dry contact input, two terminals on the gate’s control board that are specifically designed for external systems to trigger. </a:t>
            </a:r>
          </a:p>
          <a:p>
            <a:pPr lvl="1" marL="1511300" indent="-914400">
              <a:buChar char="➔"/>
            </a:pPr>
            <a:r>
              <a:t>Our RSU would be connected to these terminals</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46" name="The RSU"/>
          <p:cNvSpPr txBox="1"/>
          <p:nvPr>
            <p:ph type="title"/>
          </p:nvPr>
        </p:nvSpPr>
        <p:spPr>
          <a:prstGeom prst="rect">
            <a:avLst/>
          </a:prstGeom>
        </p:spPr>
        <p:txBody>
          <a:bodyPr/>
          <a:lstStyle>
            <a:lvl1pPr defTabSz="2145791">
              <a:defRPr spc="211" sz="7040"/>
            </a:lvl1pPr>
          </a:lstStyle>
          <a:p>
            <a:pPr/>
            <a:r>
              <a:t>The RSU</a:t>
            </a:r>
          </a:p>
        </p:txBody>
      </p:sp>
      <p:sp>
        <p:nvSpPr>
          <p:cNvPr id="647" name="The RSU will be comprised of 4 main parts…"/>
          <p:cNvSpPr txBox="1"/>
          <p:nvPr>
            <p:ph type="body" idx="1"/>
          </p:nvPr>
        </p:nvSpPr>
        <p:spPr>
          <a:xfrm>
            <a:off x="831199" y="2602966"/>
            <a:ext cx="22721602" cy="9110402"/>
          </a:xfrm>
          <a:prstGeom prst="rect">
            <a:avLst/>
          </a:prstGeom>
        </p:spPr>
        <p:txBody>
          <a:bodyPr/>
          <a:lstStyle/>
          <a:p>
            <a:pPr/>
            <a:r>
              <a:t>The RSU will be comprised of 4 main parts</a:t>
            </a:r>
          </a:p>
          <a:p>
            <a:pPr lvl="1" marL="1511300" indent="-914400">
              <a:buChar char="➔"/>
            </a:pPr>
            <a:r>
              <a:t>Application processor (RSU logic)</a:t>
            </a:r>
          </a:p>
          <a:p>
            <a:pPr lvl="2" marL="1968500" indent="-914400">
              <a:buChar char="➔"/>
            </a:pPr>
            <a:r>
              <a:t>NXP I.MX8M Mini</a:t>
            </a:r>
          </a:p>
          <a:p>
            <a:pPr lvl="1" marL="1511300" indent="-914400">
              <a:buChar char="➔"/>
            </a:pPr>
            <a:r>
              <a:t>Internet module (to make HTTP requests)</a:t>
            </a:r>
          </a:p>
          <a:p>
            <a:pPr lvl="2" marL="1968500" indent="-914400">
              <a:buChar char="➔"/>
            </a:pPr>
            <a:r>
              <a:t>Quectel AG55xQ Internet Module</a:t>
            </a:r>
          </a:p>
          <a:p>
            <a:pPr lvl="1" marL="1511300" indent="-914400">
              <a:buChar char="➔"/>
            </a:pPr>
            <a:r>
              <a:t>Relay module (to communicate with the processor of the braking gate)</a:t>
            </a:r>
          </a:p>
          <a:p>
            <a:pPr lvl="2" marL="1968500" indent="-914400">
              <a:buChar char="➔"/>
            </a:pPr>
            <a:r>
              <a:t>Sequent Microsystems Industrial I/O HAT</a:t>
            </a:r>
          </a:p>
          <a:p>
            <a:pPr lvl="1" marL="1511300" indent="-914400">
              <a:buChar char="➔"/>
            </a:pPr>
            <a:r>
              <a:t>UHF RFID Reader</a:t>
            </a:r>
          </a:p>
          <a:p>
            <a:pPr lvl="2" marL="1968500" indent="-914400">
              <a:buChar char="➔"/>
            </a:pPr>
            <a:r>
              <a:t>STid SPECTRE UHF Reader</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50" name="OEM firmware integration"/>
          <p:cNvSpPr txBox="1"/>
          <p:nvPr>
            <p:ph type="title"/>
          </p:nvPr>
        </p:nvSpPr>
        <p:spPr>
          <a:prstGeom prst="rect">
            <a:avLst/>
          </a:prstGeom>
        </p:spPr>
        <p:txBody>
          <a:bodyPr/>
          <a:lstStyle>
            <a:lvl1pPr defTabSz="2145791">
              <a:defRPr spc="211" sz="7040"/>
            </a:lvl1pPr>
          </a:lstStyle>
          <a:p>
            <a:pPr/>
            <a:r>
              <a:t>OEM firmware integration</a:t>
            </a:r>
          </a:p>
        </p:txBody>
      </p:sp>
      <p:sp>
        <p:nvSpPr>
          <p:cNvPr id="651" name="This Firmware logic will be packaged as an Adaptive AUTOSAR application, the industry standard for 3rd party software (Autopark) to conform to the software of OEMs.…"/>
          <p:cNvSpPr txBox="1"/>
          <p:nvPr>
            <p:ph type="body" idx="1"/>
          </p:nvPr>
        </p:nvSpPr>
        <p:spPr>
          <a:prstGeom prst="rect">
            <a:avLst/>
          </a:prstGeom>
        </p:spPr>
        <p:txBody>
          <a:bodyPr/>
          <a:lstStyle/>
          <a:p>
            <a:pPr/>
            <a:r>
              <a:t xml:space="preserve">This Firmware logic will be packaged as an </a:t>
            </a:r>
            <a:r>
              <a:rPr b="1"/>
              <a:t>Adaptive AUTOSAR</a:t>
            </a:r>
            <a:r>
              <a:t xml:space="preserve"> application, the industry standard for 3rd party software (Autopark) to conform to the software of OEMs. </a:t>
            </a:r>
          </a:p>
          <a:p>
            <a:pPr lvl="1" marL="1511300" indent="-914400">
              <a:buChar char="➔"/>
            </a:pPr>
            <a:r>
              <a:t>This is just a standard that outlines how 3rd party software should be packaged for seamless integration into their system (how the software should be structured, should communicate, and how they are integrated).</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653" name="01"/>
          <p:cNvSpPr txBox="1"/>
          <p:nvPr>
            <p:ph type="sldNum" sz="quarter" idx="2"/>
          </p:nvPr>
        </p:nvSpPr>
        <p:spPr>
          <a:xfrm>
            <a:off x="1000346" y="12524796"/>
            <a:ext cx="7205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54" name="The RSU"/>
          <p:cNvSpPr txBox="1"/>
          <p:nvPr>
            <p:ph type="title"/>
          </p:nvPr>
        </p:nvSpPr>
        <p:spPr>
          <a:prstGeom prst="rect">
            <a:avLst/>
          </a:prstGeom>
        </p:spPr>
        <p:txBody>
          <a:bodyPr/>
          <a:lstStyle>
            <a:lvl1pPr defTabSz="2145791">
              <a:defRPr spc="211" sz="7040"/>
            </a:lvl1pPr>
          </a:lstStyle>
          <a:p>
            <a:pPr/>
            <a:r>
              <a:t>The RSU</a:t>
            </a:r>
          </a:p>
        </p:txBody>
      </p:sp>
      <p:sp>
        <p:nvSpPr>
          <p:cNvPr id="655" name="2. Main processor (receives ID from antenna, sends ID to backend)…"/>
          <p:cNvSpPr txBox="1"/>
          <p:nvPr>
            <p:ph type="body" idx="1"/>
          </p:nvPr>
        </p:nvSpPr>
        <p:spPr>
          <a:xfrm>
            <a:off x="831199" y="2755366"/>
            <a:ext cx="22721602" cy="9110402"/>
          </a:xfrm>
          <a:prstGeom prst="rect">
            <a:avLst/>
          </a:prstGeom>
        </p:spPr>
        <p:txBody>
          <a:bodyPr/>
          <a:lstStyle/>
          <a:p>
            <a:pPr lvl="1" marL="0" indent="457200">
              <a:buClrTx/>
              <a:buSzTx/>
              <a:buFontTx/>
              <a:buNone/>
            </a:pPr>
            <a:r>
              <a:t xml:space="preserve">2. </a:t>
            </a:r>
            <a:r>
              <a:rPr b="1"/>
              <a:t>Main processor</a:t>
            </a:r>
            <a:r>
              <a:t xml:space="preserve"> (</a:t>
            </a:r>
            <a:r>
              <a:rPr i="1"/>
              <a:t>receives ID from antenna, sends ID to backend)</a:t>
            </a:r>
            <a:endParaRPr i="1"/>
          </a:p>
          <a:p>
            <a:pPr lvl="1" marL="0" indent="457200">
              <a:buClrTx/>
              <a:buSzTx/>
              <a:buFontTx/>
              <a:buNone/>
            </a:pPr>
            <a:r>
              <a:rPr i="1"/>
              <a:t xml:space="preserve">	a. </a:t>
            </a:r>
            <a:r>
              <a:rPr b="1"/>
              <a:t>Internet message module</a:t>
            </a:r>
            <a:r>
              <a:t xml:space="preserve"> (</a:t>
            </a:r>
            <a:r>
              <a:rPr i="1"/>
              <a:t>network connection + backend)</a:t>
            </a:r>
            <a:endParaRPr i="1"/>
          </a:p>
          <a:p>
            <a:pPr lvl="1" marL="0" indent="457200">
              <a:buClrTx/>
              <a:buSzTx/>
              <a:buFontTx/>
              <a:buNone/>
            </a:pPr>
            <a:r>
              <a:rPr i="1"/>
              <a:t xml:space="preserve">	b. </a:t>
            </a:r>
            <a:r>
              <a:rPr b="1"/>
              <a:t xml:space="preserve">Small application processor </a:t>
            </a:r>
            <a:r>
              <a:t>(runs software stacks)</a:t>
            </a:r>
          </a:p>
          <a:p>
            <a:pPr lvl="1" marL="0" indent="457200">
              <a:buClrTx/>
              <a:buSzTx/>
              <a:buFontTx/>
              <a:buNone/>
            </a:pPr>
            <a:r>
              <a:t xml:space="preserve">	c. </a:t>
            </a:r>
            <a:r>
              <a:rPr b="1"/>
              <a:t>Microcontroller unit</a:t>
            </a:r>
            <a:r>
              <a:t xml:space="preserve"> </a:t>
            </a:r>
            <a:r>
              <a:t>(receives commands + relay)</a:t>
            </a:r>
          </a:p>
          <a:p>
            <a:pPr marL="0" indent="0" algn="ctr">
              <a:buClrTx/>
              <a:buSzTx/>
              <a:buFontTx/>
              <a:buNone/>
              <a:defRPr i="1"/>
            </a:pPr>
          </a:p>
          <a:p>
            <a:pPr/>
            <a:r>
              <a:t>ISolidRun HummingBoard i.MX8M Plus</a:t>
            </a:r>
          </a:p>
          <a:p>
            <a:pPr/>
            <a:r>
              <a:t>Quectel AG55xQ Series</a:t>
            </a:r>
          </a:p>
          <a:p>
            <a:pPr/>
            <a:r>
              <a:t>???</a:t>
            </a:r>
          </a:p>
        </p:txBody>
      </p:sp>
      <p:pic>
        <p:nvPicPr>
          <p:cNvPr id="656" name="image.png" descr="image.png"/>
          <p:cNvPicPr>
            <a:picLocks noChangeAspect="1"/>
          </p:cNvPicPr>
          <p:nvPr/>
        </p:nvPicPr>
        <p:blipFill>
          <a:blip r:embed="rId2">
            <a:extLst/>
          </a:blip>
          <a:stretch>
            <a:fillRect/>
          </a:stretch>
        </p:blipFill>
        <p:spPr>
          <a:xfrm>
            <a:off x="16446500" y="6858000"/>
            <a:ext cx="6019800" cy="4805808"/>
          </a:xfrm>
          <a:prstGeom prst="rect">
            <a:avLst/>
          </a:prstGeom>
          <a:ln w="12700">
            <a:miter lim="400000"/>
          </a:ln>
        </p:spPr>
      </p:pic>
      <p:pic>
        <p:nvPicPr>
          <p:cNvPr id="657" name="image.png" descr="image.png"/>
          <p:cNvPicPr>
            <a:picLocks noChangeAspect="1"/>
          </p:cNvPicPr>
          <p:nvPr/>
        </p:nvPicPr>
        <p:blipFill>
          <a:blip r:embed="rId3">
            <a:extLst/>
          </a:blip>
          <a:stretch>
            <a:fillRect/>
          </a:stretch>
        </p:blipFill>
        <p:spPr>
          <a:xfrm>
            <a:off x="10655300" y="8801100"/>
            <a:ext cx="5430773" cy="4076700"/>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659" name="01"/>
          <p:cNvSpPr txBox="1"/>
          <p:nvPr>
            <p:ph type="sldNum" sz="quarter" idx="2"/>
          </p:nvPr>
        </p:nvSpPr>
        <p:spPr>
          <a:xfrm>
            <a:off x="1000346" y="12524796"/>
            <a:ext cx="7205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0" name="The RSU"/>
          <p:cNvSpPr txBox="1"/>
          <p:nvPr>
            <p:ph type="title"/>
          </p:nvPr>
        </p:nvSpPr>
        <p:spPr>
          <a:prstGeom prst="rect">
            <a:avLst/>
          </a:prstGeom>
        </p:spPr>
        <p:txBody>
          <a:bodyPr/>
          <a:lstStyle>
            <a:lvl1pPr defTabSz="2145791">
              <a:defRPr spc="211" sz="7040"/>
            </a:lvl1pPr>
          </a:lstStyle>
          <a:p>
            <a:pPr/>
            <a:r>
              <a:t>The RSU</a:t>
            </a:r>
          </a:p>
        </p:txBody>
      </p:sp>
      <p:sp>
        <p:nvSpPr>
          <p:cNvPr id="661" name="3. Relay Module (closes gate's manual-open circuit)…"/>
          <p:cNvSpPr txBox="1"/>
          <p:nvPr>
            <p:ph type="body" idx="1"/>
          </p:nvPr>
        </p:nvSpPr>
        <p:spPr>
          <a:xfrm>
            <a:off x="831199" y="2755366"/>
            <a:ext cx="22721602" cy="9110402"/>
          </a:xfrm>
          <a:prstGeom prst="rect">
            <a:avLst/>
          </a:prstGeom>
        </p:spPr>
        <p:txBody>
          <a:bodyPr/>
          <a:lstStyle/>
          <a:p>
            <a:pPr lvl="1" marL="0" indent="457200">
              <a:buClrTx/>
              <a:buSzTx/>
              <a:buFontTx/>
              <a:buNone/>
            </a:pPr>
            <a:r>
              <a:t xml:space="preserve">3. </a:t>
            </a:r>
            <a:r>
              <a:rPr b="1"/>
              <a:t>Relay Module</a:t>
            </a:r>
            <a:r>
              <a:t xml:space="preserve"> (</a:t>
            </a:r>
            <a:r>
              <a:rPr i="1"/>
              <a:t>closes gate's manual-open circuit</a:t>
            </a:r>
            <a:r>
              <a:t>)</a:t>
            </a:r>
          </a:p>
          <a:p>
            <a:pPr lvl="1" marL="0" indent="457200">
              <a:buClrTx/>
              <a:buSzTx/>
              <a:buFontTx/>
              <a:buNone/>
            </a:pPr>
          </a:p>
          <a:p>
            <a:pPr/>
            <a:r>
              <a:t>Sequent Microsystems Industrial I/O HAT</a:t>
            </a:r>
          </a:p>
        </p:txBody>
      </p:sp>
      <p:pic>
        <p:nvPicPr>
          <p:cNvPr id="662" name="image.png" descr="image.png"/>
          <p:cNvPicPr>
            <a:picLocks noChangeAspect="1"/>
          </p:cNvPicPr>
          <p:nvPr/>
        </p:nvPicPr>
        <p:blipFill>
          <a:blip r:embed="rId2">
            <a:extLst/>
          </a:blip>
          <a:stretch>
            <a:fillRect/>
          </a:stretch>
        </p:blipFill>
        <p:spPr>
          <a:xfrm>
            <a:off x="9588500" y="5791200"/>
            <a:ext cx="9766300" cy="6836410"/>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4" name="Recommendation Model"/>
          <p:cNvSpPr txBox="1"/>
          <p:nvPr>
            <p:ph type="title"/>
          </p:nvPr>
        </p:nvSpPr>
        <p:spPr>
          <a:xfrm>
            <a:off x="947981" y="6046993"/>
            <a:ext cx="17713769" cy="4922293"/>
          </a:xfrm>
          <a:prstGeom prst="rect">
            <a:avLst/>
          </a:prstGeom>
        </p:spPr>
        <p:txBody>
          <a:bodyPr/>
          <a:lstStyle>
            <a:lvl1pPr algn="l">
              <a:defRPr b="0" sz="13600"/>
            </a:lvl1pPr>
          </a:lstStyle>
          <a:p>
            <a:pPr/>
            <a:r>
              <a:t>Recommendation Model</a:t>
            </a:r>
          </a:p>
        </p:txBody>
      </p:sp>
      <p:sp>
        <p:nvSpPr>
          <p:cNvPr id="66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8" name="The recommendation model"/>
          <p:cNvSpPr txBox="1"/>
          <p:nvPr>
            <p:ph type="title"/>
          </p:nvPr>
        </p:nvSpPr>
        <p:spPr>
          <a:prstGeom prst="rect">
            <a:avLst/>
          </a:prstGeom>
        </p:spPr>
        <p:txBody>
          <a:bodyPr/>
          <a:lstStyle>
            <a:lvl1pPr defTabSz="2145791">
              <a:defRPr spc="211" sz="7040"/>
            </a:lvl1pPr>
          </a:lstStyle>
          <a:p>
            <a:pPr/>
            <a:r>
              <a:t>The recommendation model</a:t>
            </a:r>
          </a:p>
        </p:txBody>
      </p:sp>
      <p:sp>
        <p:nvSpPr>
          <p:cNvPr id="669" name="The SOTA recommendation models are:…"/>
          <p:cNvSpPr txBox="1"/>
          <p:nvPr>
            <p:ph type="body" idx="1"/>
          </p:nvPr>
        </p:nvSpPr>
        <p:spPr>
          <a:prstGeom prst="rect">
            <a:avLst/>
          </a:prstGeom>
        </p:spPr>
        <p:txBody>
          <a:bodyPr/>
          <a:lstStyle/>
          <a:p>
            <a:pPr/>
            <a:r>
              <a:t>The SOTA recommendation models are:</a:t>
            </a:r>
          </a:p>
          <a:p>
            <a:pPr lvl="1" marL="1511300" indent="-914400">
              <a:buChar char="➔"/>
            </a:pPr>
            <a:r>
              <a:t>Two-Tower, DLRM, HSTU, DCN-V2</a:t>
            </a:r>
          </a:p>
          <a:p>
            <a:pPr lvl="1" marL="1511300" indent="-914400">
              <a:buChar char="➔"/>
            </a:pPr>
            <a:r>
              <a:t>But these models are suited for Neflix, Spotify, TikTok style of data</a:t>
            </a:r>
          </a:p>
          <a:p>
            <a:pPr lvl="1" marL="1511300" indent="-914400">
              <a:buChar char="➔"/>
            </a:pPr>
            <a:r>
              <a:t>For parking data, we have objective constraints, small candidate set, no long term user preference learning, and real-time data is more important than history.</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72" name="The LGMRanker model"/>
          <p:cNvSpPr txBox="1"/>
          <p:nvPr>
            <p:ph type="title"/>
          </p:nvPr>
        </p:nvSpPr>
        <p:spPr>
          <a:prstGeom prst="rect">
            <a:avLst/>
          </a:prstGeom>
        </p:spPr>
        <p:txBody>
          <a:bodyPr/>
          <a:lstStyle>
            <a:lvl1pPr defTabSz="2145791">
              <a:defRPr spc="211" sz="7040"/>
            </a:lvl1pPr>
          </a:lstStyle>
          <a:p>
            <a:pPr/>
            <a:r>
              <a:t>The LGMRanker model</a:t>
            </a:r>
          </a:p>
        </p:txBody>
      </p:sp>
      <p:sp>
        <p:nvSpPr>
          <p:cNvPr id="673" name="We need a ranker model, not a recommendation model. This is why we will be using a ranker model.…"/>
          <p:cNvSpPr txBox="1"/>
          <p:nvPr>
            <p:ph type="body" idx="1"/>
          </p:nvPr>
        </p:nvSpPr>
        <p:spPr>
          <a:prstGeom prst="rect">
            <a:avLst/>
          </a:prstGeom>
        </p:spPr>
        <p:txBody>
          <a:bodyPr/>
          <a:lstStyle/>
          <a:p>
            <a:pPr/>
            <a:r>
              <a:t xml:space="preserve">We need a ranker model, not a recommendation model. This is why we will be using a ranker model. </a:t>
            </a:r>
          </a:p>
          <a:p>
            <a:pPr lvl="1" marL="1511300" indent="-914400">
              <a:buChar char="➔"/>
            </a:pPr>
            <a:r>
              <a:t>We are solving "sort these 50 nearby spots by utility", not "which of 10M items does this user want?”</a:t>
            </a:r>
          </a:p>
          <a:p>
            <a:pPr lvl="1" marL="1511300" indent="-914400">
              <a:buChar char="➔"/>
            </a:pPr>
            <a:r>
              <a:t xml:space="preserve">LGMRanker has the lowest latency, the least compute needed (runs on a CPU), and only needs a ml.c5.xlarge Sagemaker instance. </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5" name="Integration"/>
          <p:cNvSpPr txBox="1"/>
          <p:nvPr>
            <p:ph type="title"/>
          </p:nvPr>
        </p:nvSpPr>
        <p:spPr>
          <a:xfrm>
            <a:off x="947981" y="6046993"/>
            <a:ext cx="17713769" cy="4922293"/>
          </a:xfrm>
          <a:prstGeom prst="rect">
            <a:avLst/>
          </a:prstGeom>
        </p:spPr>
        <p:txBody>
          <a:bodyPr/>
          <a:lstStyle>
            <a:lvl1pPr algn="l">
              <a:defRPr b="0" sz="13600"/>
            </a:lvl1pPr>
          </a:lstStyle>
          <a:p>
            <a:pPr/>
            <a:r>
              <a:t>Integration</a:t>
            </a:r>
          </a:p>
        </p:txBody>
      </p:sp>
      <p:sp>
        <p:nvSpPr>
          <p:cNvPr id="676"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8"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79" name="OBU Integration with the car"/>
          <p:cNvSpPr txBox="1"/>
          <p:nvPr>
            <p:ph type="title"/>
          </p:nvPr>
        </p:nvSpPr>
        <p:spPr>
          <a:prstGeom prst="rect">
            <a:avLst/>
          </a:prstGeom>
        </p:spPr>
        <p:txBody>
          <a:bodyPr/>
          <a:lstStyle>
            <a:lvl1pPr defTabSz="2145791">
              <a:defRPr spc="211" sz="7040"/>
            </a:lvl1pPr>
          </a:lstStyle>
          <a:p>
            <a:pPr/>
            <a:r>
              <a:t>OBU Integration with the car</a:t>
            </a:r>
          </a:p>
        </p:txBody>
      </p:sp>
      <p:sp>
        <p:nvSpPr>
          <p:cNvPr id="680" name="Double-click to edit"/>
          <p:cNvSpPr txBox="1"/>
          <p:nvPr>
            <p:ph type="body" idx="1"/>
          </p:nvPr>
        </p:nvSpPr>
        <p:spPr>
          <a:prstGeom prst="rect">
            <a:avLst/>
          </a:prstGeom>
        </p:spPr>
        <p:txBody>
          <a:bodyPr/>
          <a:lstStyle/>
          <a:p>
            <a:pPr/>
          </a:p>
        </p:txBody>
      </p:sp>
      <p:pic>
        <p:nvPicPr>
          <p:cNvPr id="681" name="26032323101433X51QQL_SWIT512.jpg.png" descr="26032323101433X51QQL_SWIT512.jpg.png"/>
          <p:cNvPicPr>
            <a:picLocks noChangeAspect="1"/>
          </p:cNvPicPr>
          <p:nvPr/>
        </p:nvPicPr>
        <p:blipFill>
          <a:blip r:embed="rId2">
            <a:extLst/>
          </a:blip>
          <a:srcRect l="0" t="28725" r="32048" b="23131"/>
          <a:stretch>
            <a:fillRect/>
          </a:stretch>
        </p:blipFill>
        <p:spPr>
          <a:xfrm>
            <a:off x="822908" y="2590216"/>
            <a:ext cx="17145272" cy="9110351"/>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3"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84" name="RSU integration with parking gate"/>
          <p:cNvSpPr txBox="1"/>
          <p:nvPr>
            <p:ph type="title"/>
          </p:nvPr>
        </p:nvSpPr>
        <p:spPr>
          <a:prstGeom prst="rect">
            <a:avLst/>
          </a:prstGeom>
        </p:spPr>
        <p:txBody>
          <a:bodyPr/>
          <a:lstStyle>
            <a:lvl1pPr defTabSz="2145791">
              <a:defRPr spc="211" sz="7040"/>
            </a:lvl1pPr>
          </a:lstStyle>
          <a:p>
            <a:pPr/>
            <a:r>
              <a:t>RSU integration with parking gate</a:t>
            </a:r>
          </a:p>
        </p:txBody>
      </p:sp>
      <p:sp>
        <p:nvSpPr>
          <p:cNvPr id="685" name="The RSU will be installed in the parking gate controller gate"/>
          <p:cNvSpPr txBox="1"/>
          <p:nvPr>
            <p:ph type="body" idx="1"/>
          </p:nvPr>
        </p:nvSpPr>
        <p:spPr>
          <a:xfrm>
            <a:off x="860732" y="2609631"/>
            <a:ext cx="22721602" cy="9110401"/>
          </a:xfrm>
          <a:prstGeom prst="rect">
            <a:avLst/>
          </a:prstGeom>
        </p:spPr>
        <p:txBody>
          <a:bodyPr/>
          <a:lstStyle/>
          <a:p>
            <a:pPr/>
            <a:r>
              <a:t>The RSU will be installed in the parking gate controller gate</a:t>
            </a:r>
          </a:p>
        </p:txBody>
      </p:sp>
      <p:pic>
        <p:nvPicPr>
          <p:cNvPr id="686" name="IMG_0413.jpg" descr="IMG_0413.jpg"/>
          <p:cNvPicPr>
            <a:picLocks noChangeAspect="1"/>
          </p:cNvPicPr>
          <p:nvPr/>
        </p:nvPicPr>
        <p:blipFill>
          <a:blip r:embed="rId2">
            <a:extLst/>
          </a:blip>
          <a:stretch>
            <a:fillRect/>
          </a:stretch>
        </p:blipFill>
        <p:spPr>
          <a:xfrm>
            <a:off x="2834038" y="3743649"/>
            <a:ext cx="18715924" cy="8773090"/>
          </a:xfrm>
          <a:prstGeom prst="rect">
            <a:avLst/>
          </a:prstGeom>
          <a:ln w="12700">
            <a:miter lim="400000"/>
          </a:ln>
        </p:spPr>
      </p:pic>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8" name="Expenses"/>
          <p:cNvSpPr txBox="1"/>
          <p:nvPr>
            <p:ph type="title"/>
          </p:nvPr>
        </p:nvSpPr>
        <p:spPr>
          <a:xfrm>
            <a:off x="947981" y="6046993"/>
            <a:ext cx="17713769" cy="4922293"/>
          </a:xfrm>
          <a:prstGeom prst="rect">
            <a:avLst/>
          </a:prstGeom>
        </p:spPr>
        <p:txBody>
          <a:bodyPr/>
          <a:lstStyle>
            <a:lvl1pPr algn="l">
              <a:defRPr b="0" sz="13600"/>
            </a:lvl1pPr>
          </a:lstStyle>
          <a:p>
            <a:pPr/>
            <a:r>
              <a:t>Expenses</a:t>
            </a:r>
          </a:p>
        </p:txBody>
      </p:sp>
      <p:sp>
        <p:nvSpPr>
          <p:cNvPr id="68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92" name="OBU BOM"/>
          <p:cNvSpPr txBox="1"/>
          <p:nvPr>
            <p:ph type="title"/>
          </p:nvPr>
        </p:nvSpPr>
        <p:spPr>
          <a:prstGeom prst="rect">
            <a:avLst/>
          </a:prstGeom>
        </p:spPr>
        <p:txBody>
          <a:bodyPr/>
          <a:lstStyle>
            <a:lvl1pPr defTabSz="2145791">
              <a:defRPr spc="211" sz="7040"/>
            </a:lvl1pPr>
          </a:lstStyle>
          <a:p>
            <a:pPr/>
            <a:r>
              <a:t>OBU BOM</a:t>
            </a:r>
          </a:p>
        </p:txBody>
      </p:sp>
      <p:graphicFrame>
        <p:nvGraphicFramePr>
          <p:cNvPr id="693" name="Table 1"/>
          <p:cNvGraphicFramePr/>
          <p:nvPr/>
        </p:nvGraphicFramePr>
        <p:xfrm>
          <a:off x="2029149" y="2773524"/>
          <a:ext cx="19559038" cy="74338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87078"/>
                <a:gridCol w="6529307"/>
                <a:gridCol w="5649012"/>
                <a:gridCol w="2580939"/>
              </a:tblGrid>
              <a:tr h="1855285">
                <a:tc>
                  <a:txBody>
                    <a:bodyPr/>
                    <a:lstStyle/>
                    <a:p>
                      <a:pPr defTabSz="457200">
                        <a:tabLst>
                          <a:tab pos="1663700" algn="l"/>
                        </a:tabLst>
                        <a:defRPr b="0" sz="1800"/>
                      </a:pPr>
                      <a:r>
                        <a:rPr b="1" sz="3800">
                          <a:solidFill>
                            <a:srgbClr val="5E5E5E"/>
                          </a:solidFill>
                        </a:rPr>
                        <a:t>Component</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Part</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Supplier</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Est. Unit Cost</a:t>
                      </a:r>
                    </a:p>
                  </a:txBody>
                  <a:tcPr marL="12700" marR="12700" marT="12700" marB="12700" anchor="ctr" anchorCtr="0" horzOverflow="overflow"/>
                </a:tc>
              </a:tr>
              <a:tr h="1855285">
                <a:tc>
                  <a:txBody>
                    <a:bodyPr/>
                    <a:lstStyle/>
                    <a:p>
                      <a:pPr algn="l" defTabSz="457200">
                        <a:tabLst>
                          <a:tab pos="1663700" algn="l"/>
                        </a:tabLst>
                        <a:defRPr b="0" sz="1800"/>
                      </a:pPr>
                      <a:r>
                        <a:rPr sz="3800">
                          <a:solidFill>
                            <a:srgbClr val="5E5E5E"/>
                          </a:solidFill>
                        </a:rPr>
                        <a:t>UHF RFID Tag</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NXP UCODE DNA RAIN RFID inlay</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Smartrac / Avery Dennison RBIS</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~$1–3</a:t>
                      </a:r>
                    </a:p>
                  </a:txBody>
                  <a:tcPr marL="12700" marR="12700" marT="12700" marB="12700" anchor="ctr" anchorCtr="0" horzOverflow="overflow"/>
                </a:tc>
              </a:tr>
              <a:tr h="1855285">
                <a:tc>
                  <a:txBody>
                    <a:bodyPr/>
                    <a:lstStyle/>
                    <a:p>
                      <a:pPr algn="l" defTabSz="457200">
                        <a:tabLst>
                          <a:tab pos="1663700" algn="l"/>
                        </a:tabLst>
                        <a:defRPr b="0" sz="1800"/>
                      </a:pPr>
                      <a:r>
                        <a:rPr sz="3800">
                          <a:solidFill>
                            <a:srgbClr val="5E5E5E"/>
                          </a:solidFill>
                        </a:rPr>
                        <a:t>UHF Reader/Writer Module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SparkFun M6E Nano</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SparkFun / DigiKey</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~$50–70</a:t>
                      </a:r>
                    </a:p>
                  </a:txBody>
                  <a:tcPr marL="12700" marR="12700" marT="12700" marB="12700" anchor="ctr" anchorCtr="0" horzOverflow="overflow"/>
                </a:tc>
              </a:tr>
              <a:tr h="1855285">
                <a:tc>
                  <a:txBody>
                    <a:bodyPr/>
                    <a:lstStyle/>
                    <a:p>
                      <a:pPr algn="l" defTabSz="457200">
                        <a:tabLst>
                          <a:tab pos="1663700" algn="l"/>
                        </a:tabLst>
                        <a:defRPr b="0" sz="1800"/>
                      </a:pPr>
                      <a:r>
                        <a:rPr sz="3800">
                          <a:solidFill>
                            <a:srgbClr val="5E5E5E"/>
                          </a:solidFill>
                        </a:rPr>
                        <a:t>CAN Bus Bridge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STM32G431</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DigiKey / Mouser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~$3–5</a:t>
                      </a:r>
                    </a:p>
                  </a:txBody>
                  <a:tcPr marL="12700" marR="12700" marT="12700" marB="12700" anchor="ctr" anchorCtr="0" horzOverflow="overflow"/>
                </a:tc>
              </a:tr>
            </a:tbl>
          </a:graphicData>
        </a:graphic>
      </p:graphicFrame>
      <p:sp>
        <p:nvSpPr>
          <p:cNvPr id="694" name="Estimated OBU unit cost: ~$55–78 at prototype quantities"/>
          <p:cNvSpPr txBox="1"/>
          <p:nvPr>
            <p:ph type="body" sz="quarter" idx="1"/>
          </p:nvPr>
        </p:nvSpPr>
        <p:spPr>
          <a:xfrm>
            <a:off x="4472860" y="10666957"/>
            <a:ext cx="14901770" cy="1122625"/>
          </a:xfrm>
          <a:prstGeom prst="rect">
            <a:avLst/>
          </a:prstGeom>
        </p:spPr>
        <p:txBody>
          <a:bodyPr/>
          <a:lstStyle>
            <a:lvl1pPr marL="853820" indent="-758951" defTabSz="2023872">
              <a:buSzPts val="3900"/>
              <a:defRPr spc="119" sz="3984"/>
            </a:lvl1pPr>
          </a:lstStyle>
          <a:p>
            <a:pPr/>
            <a:r>
              <a:t>Estimated OBU unit cost: ~$55–78 at prototype quantities</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6"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97" name="RSU BOM"/>
          <p:cNvSpPr txBox="1"/>
          <p:nvPr>
            <p:ph type="title"/>
          </p:nvPr>
        </p:nvSpPr>
        <p:spPr>
          <a:prstGeom prst="rect">
            <a:avLst/>
          </a:prstGeom>
        </p:spPr>
        <p:txBody>
          <a:bodyPr/>
          <a:lstStyle>
            <a:lvl1pPr defTabSz="2145791">
              <a:defRPr spc="211" sz="7040"/>
            </a:lvl1pPr>
          </a:lstStyle>
          <a:p>
            <a:pPr/>
            <a:r>
              <a:t>RSU BOM</a:t>
            </a:r>
          </a:p>
        </p:txBody>
      </p:sp>
      <p:graphicFrame>
        <p:nvGraphicFramePr>
          <p:cNvPr id="698" name="Table 1"/>
          <p:cNvGraphicFramePr/>
          <p:nvPr/>
        </p:nvGraphicFramePr>
        <p:xfrm>
          <a:off x="1933854" y="3065522"/>
          <a:ext cx="20528992" cy="734334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013196"/>
                <a:gridCol w="7574363"/>
                <a:gridCol w="6187298"/>
                <a:gridCol w="2741433"/>
              </a:tblGrid>
              <a:tr h="1466128">
                <a:tc>
                  <a:txBody>
                    <a:bodyPr/>
                    <a:lstStyle/>
                    <a:p>
                      <a:pPr defTabSz="457200">
                        <a:tabLst>
                          <a:tab pos="1663700" algn="l"/>
                        </a:tabLst>
                        <a:defRPr b="0" sz="1800"/>
                      </a:pPr>
                      <a:r>
                        <a:rPr b="1" sz="3800">
                          <a:solidFill>
                            <a:srgbClr val="5E5E5E"/>
                          </a:solidFill>
                        </a:rPr>
                        <a:t>Component</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Part</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Supplier</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Est. Unit Cost</a:t>
                      </a:r>
                    </a:p>
                  </a:txBody>
                  <a:tcPr marL="12700" marR="12700" marT="12700" marB="12700" anchor="ctr" anchorCtr="0" horzOverflow="overflow"/>
                </a:tc>
              </a:tr>
              <a:tr h="1466128">
                <a:tc>
                  <a:txBody>
                    <a:bodyPr/>
                    <a:lstStyle/>
                    <a:p>
                      <a:pPr algn="l" defTabSz="457200">
                        <a:tabLst>
                          <a:tab pos="1663700" algn="l"/>
                        </a:tabLst>
                        <a:defRPr b="0" sz="1800"/>
                      </a:pPr>
                      <a:r>
                        <a:rPr sz="3800">
                          <a:solidFill>
                            <a:srgbClr val="5E5E5E"/>
                          </a:solidFill>
                        </a:rPr>
                        <a:t>Application Processor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NXP I.MX8M Mini</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DigiKey / Mouser / Arrow</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~$20–35</a:t>
                      </a:r>
                    </a:p>
                  </a:txBody>
                  <a:tcPr marL="12700" marR="12700" marT="12700" marB="12700" anchor="ctr" anchorCtr="0" horzOverflow="overflow"/>
                </a:tc>
              </a:tr>
              <a:tr h="1466128">
                <a:tc>
                  <a:txBody>
                    <a:bodyPr/>
                    <a:lstStyle/>
                    <a:p>
                      <a:pPr algn="l" defTabSz="457200">
                        <a:tabLst>
                          <a:tab pos="1663700" algn="l"/>
                        </a:tabLst>
                        <a:defRPr b="0" sz="1800"/>
                      </a:pPr>
                      <a:r>
                        <a:rPr sz="3800">
                          <a:solidFill>
                            <a:srgbClr val="5E5E5E"/>
                          </a:solidFill>
                        </a:rPr>
                        <a:t>Internet Module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Quectel AG55xQ</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Quectel directly / DigiKey</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~$40–60</a:t>
                      </a:r>
                    </a:p>
                  </a:txBody>
                  <a:tcPr marL="12700" marR="12700" marT="12700" marB="12700" anchor="ctr" anchorCtr="0" horzOverflow="overflow"/>
                </a:tc>
              </a:tr>
              <a:tr h="1466128">
                <a:tc>
                  <a:txBody>
                    <a:bodyPr/>
                    <a:lstStyle/>
                    <a:p>
                      <a:pPr algn="l" defTabSz="457200">
                        <a:tabLst>
                          <a:tab pos="1663700" algn="l"/>
                        </a:tabLst>
                        <a:defRPr b="0" sz="1800"/>
                      </a:pPr>
                      <a:r>
                        <a:rPr sz="3800">
                          <a:solidFill>
                            <a:srgbClr val="5E5E5E"/>
                          </a:solidFill>
                        </a:rPr>
                        <a:t>Relay Module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Sequent Microsystems Industrial I/O HAT</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Sequent Microsystems website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~$50–70</a:t>
                      </a:r>
                    </a:p>
                  </a:txBody>
                  <a:tcPr marL="12700" marR="12700" marT="12700" marB="12700" anchor="ctr" anchorCtr="0" horzOverflow="overflow"/>
                </a:tc>
              </a:tr>
              <a:tr h="1466128">
                <a:tc>
                  <a:txBody>
                    <a:bodyPr/>
                    <a:lstStyle/>
                    <a:p>
                      <a:pPr algn="l" defTabSz="457200">
                        <a:tabLst>
                          <a:tab pos="1663700" algn="l"/>
                        </a:tabLst>
                        <a:defRPr b="0" sz="1800"/>
                      </a:pPr>
                      <a:r>
                        <a:rPr sz="3800">
                          <a:solidFill>
                            <a:srgbClr val="5E5E5E"/>
                          </a:solidFill>
                        </a:rPr>
                        <a:t>UHF RFID Reader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STid SPECTRE UHF Reader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STid directly / authorized resellers</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~$300–500</a:t>
                      </a:r>
                    </a:p>
                  </a:txBody>
                  <a:tcPr marL="12700" marR="12700" marT="12700" marB="12700" anchor="ctr" anchorCtr="0" horzOverflow="overflow"/>
                </a:tc>
              </a:tr>
            </a:tbl>
          </a:graphicData>
        </a:graphic>
      </p:graphicFrame>
      <p:sp>
        <p:nvSpPr>
          <p:cNvPr id="699" name="Estimated RSU unit cost: ~$410–665 at prototype quantities"/>
          <p:cNvSpPr txBox="1"/>
          <p:nvPr>
            <p:ph type="body" sz="quarter" idx="1"/>
          </p:nvPr>
        </p:nvSpPr>
        <p:spPr>
          <a:xfrm>
            <a:off x="4472860" y="10666957"/>
            <a:ext cx="14901770" cy="1122625"/>
          </a:xfrm>
          <a:prstGeom prst="rect">
            <a:avLst/>
          </a:prstGeom>
        </p:spPr>
        <p:txBody>
          <a:bodyPr/>
          <a:lstStyle>
            <a:lvl1pPr marL="833247" indent="-740663" defTabSz="1975104">
              <a:buSzPts val="3800"/>
              <a:defRPr spc="116" sz="3888"/>
            </a:lvl1pPr>
          </a:lstStyle>
          <a:p>
            <a:pPr/>
            <a:r>
              <a:t>Estimated RSU unit cost: ~$410–665 at prototype quantities</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02" name="App Development"/>
          <p:cNvSpPr txBox="1"/>
          <p:nvPr>
            <p:ph type="title"/>
          </p:nvPr>
        </p:nvSpPr>
        <p:spPr>
          <a:prstGeom prst="rect">
            <a:avLst/>
          </a:prstGeom>
        </p:spPr>
        <p:txBody>
          <a:bodyPr/>
          <a:lstStyle>
            <a:lvl1pPr defTabSz="2145791">
              <a:defRPr spc="211" sz="7040"/>
            </a:lvl1pPr>
          </a:lstStyle>
          <a:p>
            <a:pPr/>
            <a:r>
              <a:t>App Development</a:t>
            </a:r>
          </a:p>
        </p:txBody>
      </p:sp>
      <p:sp>
        <p:nvSpPr>
          <p:cNvPr id="703" name="The app will be engineered by us (the founders). So there will be no extra cost or in development.…"/>
          <p:cNvSpPr txBox="1"/>
          <p:nvPr>
            <p:ph type="body" idx="1"/>
          </p:nvPr>
        </p:nvSpPr>
        <p:spPr>
          <a:xfrm>
            <a:off x="1055782" y="3202467"/>
            <a:ext cx="22553780" cy="8023131"/>
          </a:xfrm>
          <a:prstGeom prst="rect">
            <a:avLst/>
          </a:prstGeom>
        </p:spPr>
        <p:txBody>
          <a:bodyPr/>
          <a:lstStyle/>
          <a:p>
            <a:pPr/>
            <a:r>
              <a:t xml:space="preserve">The app will be engineered by us (the founders). So there will be no extra cost or in development. </a:t>
            </a:r>
          </a:p>
          <a:p>
            <a:pPr/>
            <a:r>
              <a:t xml:space="preserve">We will need to pay for the developer accounts for the Apple and Android platforms </a:t>
            </a:r>
          </a:p>
          <a:p>
            <a:pPr lvl="1" marL="1511300" indent="-914400">
              <a:buChar char="➔"/>
            </a:pPr>
            <a:r>
              <a:t>~$150</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06" name="Cloud service cost"/>
          <p:cNvSpPr txBox="1"/>
          <p:nvPr>
            <p:ph type="title"/>
          </p:nvPr>
        </p:nvSpPr>
        <p:spPr>
          <a:prstGeom prst="rect">
            <a:avLst/>
          </a:prstGeom>
        </p:spPr>
        <p:txBody>
          <a:bodyPr/>
          <a:lstStyle>
            <a:lvl1pPr defTabSz="2145791">
              <a:defRPr spc="211" sz="7040"/>
            </a:lvl1pPr>
          </a:lstStyle>
          <a:p>
            <a:pPr/>
            <a:r>
              <a:t>Cloud service cost</a:t>
            </a:r>
          </a:p>
        </p:txBody>
      </p:sp>
      <p:graphicFrame>
        <p:nvGraphicFramePr>
          <p:cNvPr id="707" name="Table 1"/>
          <p:cNvGraphicFramePr/>
          <p:nvPr/>
        </p:nvGraphicFramePr>
        <p:xfrm>
          <a:off x="1334407" y="2676315"/>
          <a:ext cx="22077913" cy="898973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59226"/>
                <a:gridCol w="7385472"/>
                <a:gridCol w="2512569"/>
                <a:gridCol w="2721035"/>
                <a:gridCol w="2984361"/>
                <a:gridCol w="3302547"/>
              </a:tblGrid>
              <a:tr h="1496172">
                <a:tc>
                  <a:txBody>
                    <a:bodyPr/>
                    <a:lstStyle/>
                    <a:p>
                      <a:pPr defTabSz="457200">
                        <a:tabLst>
                          <a:tab pos="1663700" algn="l"/>
                        </a:tabLst>
                        <a:defRPr b="0" sz="1800"/>
                      </a:pPr>
                      <a:r>
                        <a:rPr b="1" sz="3800">
                          <a:solidFill>
                            <a:srgbClr val="5E5E5E"/>
                          </a:solidFill>
                        </a:rPr>
                        <a:t>Service</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What it does</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1–10 gates</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10–50 gates</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50–200 gates</a:t>
                      </a:r>
                    </a:p>
                  </a:txBody>
                  <a:tcPr marL="12700" marR="12700" marT="12700" marB="12700" anchor="ctr" anchorCtr="0" horzOverflow="overflow"/>
                </a:tc>
                <a:tc>
                  <a:txBody>
                    <a:bodyPr/>
                    <a:lstStyle/>
                    <a:p>
                      <a:pPr defTabSz="457200">
                        <a:tabLst>
                          <a:tab pos="1663700" algn="l"/>
                        </a:tabLst>
                        <a:defRPr b="0" sz="1800"/>
                      </a:pPr>
                      <a:r>
                        <a:rPr b="1" sz="3800">
                          <a:solidFill>
                            <a:srgbClr val="5E5E5E"/>
                          </a:solidFill>
                        </a:rPr>
                        <a:t>200+ gates</a:t>
                      </a:r>
                    </a:p>
                  </a:txBody>
                  <a:tcPr marL="12700" marR="12700" marT="12700" marB="12700" anchor="ctr" anchorCtr="0" horzOverflow="overflow"/>
                </a:tc>
              </a:tr>
              <a:tr h="1496172">
                <a:tc>
                  <a:txBody>
                    <a:bodyPr/>
                    <a:lstStyle/>
                    <a:p>
                      <a:pPr algn="l" defTabSz="457200">
                        <a:tabLst>
                          <a:tab pos="1663700" algn="l"/>
                        </a:tabLst>
                        <a:defRPr b="0" sz="1800"/>
                      </a:pPr>
                      <a:r>
                        <a:rPr b="1" sz="3800">
                          <a:solidFill>
                            <a:srgbClr val="5E5E5E"/>
                          </a:solidFill>
                        </a:rPr>
                        <a:t>ECS</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Hosts the application</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~$30–50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~$80–150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~$200–400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~$500–1,200</a:t>
                      </a:r>
                    </a:p>
                  </a:txBody>
                  <a:tcPr marL="12700" marR="12700" marT="12700" marB="12700" anchor="ctr" anchorCtr="0" horzOverflow="overflow"/>
                </a:tc>
              </a:tr>
              <a:tr h="1496172">
                <a:tc>
                  <a:txBody>
                    <a:bodyPr/>
                    <a:lstStyle/>
                    <a:p>
                      <a:pPr algn="l" defTabSz="457200">
                        <a:tabLst>
                          <a:tab pos="1663700" algn="l"/>
                        </a:tabLst>
                        <a:defRPr b="0" sz="1800"/>
                      </a:pPr>
                      <a:r>
                        <a:rPr b="1" sz="3800">
                          <a:solidFill>
                            <a:srgbClr val="5E5E5E"/>
                          </a:solidFill>
                        </a:rPr>
                        <a:t>RDS</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Database (PostgreSQL)</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~$50–80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~$100–180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~$250–500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~$600–1,500</a:t>
                      </a:r>
                    </a:p>
                  </a:txBody>
                  <a:tcPr marL="12700" marR="12700" marT="12700" marB="12700" anchor="ctr" anchorCtr="0" horzOverflow="overflow"/>
                </a:tc>
              </a:tr>
              <a:tr h="1496172">
                <a:tc>
                  <a:txBody>
                    <a:bodyPr/>
                    <a:lstStyle/>
                    <a:p>
                      <a:pPr algn="l" defTabSz="457200">
                        <a:tabLst>
                          <a:tab pos="1663700" algn="l"/>
                        </a:tabLst>
                        <a:defRPr b="0" sz="1800"/>
                      </a:pPr>
                      <a:r>
                        <a:rPr b="1" sz="3800">
                          <a:solidFill>
                            <a:srgbClr val="5E5E5E"/>
                          </a:solidFill>
                        </a:rPr>
                        <a:t>SageMaker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Recommendation model inference</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~$60–100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~$100–200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~$300–600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~$800–2,000</a:t>
                      </a:r>
                    </a:p>
                  </a:txBody>
                  <a:tcPr marL="12700" marR="12700" marT="12700" marB="12700" anchor="ctr" anchorCtr="0" horzOverflow="overflow"/>
                </a:tc>
              </a:tr>
              <a:tr h="1496172">
                <a:tc>
                  <a:txBody>
                    <a:bodyPr/>
                    <a:lstStyle/>
                    <a:p>
                      <a:pPr algn="l" defTabSz="457200">
                        <a:tabLst>
                          <a:tab pos="1663700" algn="l"/>
                        </a:tabLst>
                        <a:defRPr b="0" sz="1800"/>
                      </a:pPr>
                      <a:r>
                        <a:rPr b="1" sz="3800">
                          <a:solidFill>
                            <a:srgbClr val="5E5E5E"/>
                          </a:solidFill>
                        </a:rPr>
                        <a:t>Data transfer</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RSU ↔ cloud traffic</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~$5–10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~$15–30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~$40–100</a:t>
                      </a:r>
                    </a:p>
                  </a:txBody>
                  <a:tcPr marL="12700" marR="12700" marT="12700" marB="12700" anchor="ctr" anchorCtr="0" horzOverflow="overflow"/>
                </a:tc>
                <a:tc>
                  <a:txBody>
                    <a:bodyPr/>
                    <a:lstStyle/>
                    <a:p>
                      <a:pPr algn="l" defTabSz="457200">
                        <a:tabLst>
                          <a:tab pos="1663700" algn="l"/>
                        </a:tabLst>
                        <a:defRPr b="0" sz="1800"/>
                      </a:pPr>
                      <a:r>
                        <a:rPr sz="3800">
                          <a:solidFill>
                            <a:srgbClr val="5E5E5E"/>
                          </a:solidFill>
                        </a:rPr>
                        <a:t>~$150–400</a:t>
                      </a:r>
                    </a:p>
                  </a:txBody>
                  <a:tcPr marL="12700" marR="12700" marT="12700" marB="12700" anchor="ctr" anchorCtr="0" horzOverflow="overflow"/>
                </a:tc>
              </a:tr>
              <a:tr h="1496172">
                <a:tc>
                  <a:txBody>
                    <a:bodyPr/>
                    <a:lstStyle/>
                    <a:p>
                      <a:pPr algn="l" defTabSz="457200">
                        <a:tabLst>
                          <a:tab pos="1663700" algn="l"/>
                        </a:tabLst>
                        <a:defRPr b="0" sz="1800"/>
                      </a:pPr>
                      <a:r>
                        <a:rPr b="1" sz="3800">
                          <a:solidFill>
                            <a:srgbClr val="5E5E5E"/>
                          </a:solidFill>
                        </a:rPr>
                        <a:t>Total/month</a:t>
                      </a:r>
                    </a:p>
                  </a:txBody>
                  <a:tcPr marL="12700" marR="12700" marT="12700" marB="12700" anchor="ctr" anchorCtr="0" horzOverflow="overflow"/>
                </a:tc>
                <a:tc>
                  <a:txBody>
                    <a:bodyPr/>
                    <a:lstStyle/>
                    <a:p>
                      <a:pPr defTabSz="914400">
                        <a:tabLst>
                          <a:tab pos="1663700" algn="l"/>
                        </a:tabLst>
                        <a:defRPr sz="3800">
                          <a:solidFill>
                            <a:srgbClr val="5E5E5E"/>
                          </a:solidFill>
                        </a:defRPr>
                      </a:pPr>
                    </a:p>
                  </a:txBody>
                  <a:tcPr marL="12700" marR="12700" marT="12700" marB="12700" anchor="ctr" anchorCtr="0" horzOverflow="overflow"/>
                </a:tc>
                <a:tc>
                  <a:txBody>
                    <a:bodyPr/>
                    <a:lstStyle/>
                    <a:p>
                      <a:pPr algn="l" defTabSz="457200">
                        <a:tabLst>
                          <a:tab pos="1663700" algn="l"/>
                        </a:tabLst>
                        <a:defRPr b="0" sz="1800"/>
                      </a:pPr>
                      <a:r>
                        <a:rPr b="1" sz="3800">
                          <a:solidFill>
                            <a:srgbClr val="5E5E5E"/>
                          </a:solidFill>
                        </a:rPr>
                        <a:t>~$145–240</a:t>
                      </a:r>
                    </a:p>
                  </a:txBody>
                  <a:tcPr marL="12700" marR="12700" marT="12700" marB="12700" anchor="ctr" anchorCtr="0" horzOverflow="overflow"/>
                </a:tc>
                <a:tc>
                  <a:txBody>
                    <a:bodyPr/>
                    <a:lstStyle/>
                    <a:p>
                      <a:pPr algn="l" defTabSz="457200">
                        <a:tabLst>
                          <a:tab pos="1663700" algn="l"/>
                        </a:tabLst>
                        <a:defRPr b="0" sz="1800"/>
                      </a:pPr>
                      <a:r>
                        <a:rPr b="1" sz="3800">
                          <a:solidFill>
                            <a:srgbClr val="5E5E5E"/>
                          </a:solidFill>
                        </a:rPr>
                        <a:t>~$295–560</a:t>
                      </a:r>
                    </a:p>
                  </a:txBody>
                  <a:tcPr marL="12700" marR="12700" marT="12700" marB="12700" anchor="ctr" anchorCtr="0" horzOverflow="overflow"/>
                </a:tc>
                <a:tc>
                  <a:txBody>
                    <a:bodyPr/>
                    <a:lstStyle/>
                    <a:p>
                      <a:pPr algn="l" defTabSz="457200">
                        <a:tabLst>
                          <a:tab pos="1663700" algn="l"/>
                        </a:tabLst>
                        <a:defRPr b="0" sz="1800"/>
                      </a:pPr>
                      <a:r>
                        <a:rPr b="1" sz="3800">
                          <a:solidFill>
                            <a:srgbClr val="5E5E5E"/>
                          </a:solidFill>
                        </a:rPr>
                        <a:t>~$790–1,600</a:t>
                      </a:r>
                    </a:p>
                  </a:txBody>
                  <a:tcPr marL="12700" marR="12700" marT="12700" marB="12700" anchor="ctr" anchorCtr="0" horzOverflow="overflow"/>
                </a:tc>
                <a:tc>
                  <a:txBody>
                    <a:bodyPr/>
                    <a:lstStyle/>
                    <a:p>
                      <a:pPr algn="l" defTabSz="457200">
                        <a:tabLst>
                          <a:tab pos="1663700" algn="l"/>
                        </a:tabLst>
                        <a:defRPr b="0" sz="1800"/>
                      </a:pPr>
                      <a:r>
                        <a:rPr b="1" sz="3800">
                          <a:solidFill>
                            <a:srgbClr val="5E5E5E"/>
                          </a:solidFill>
                        </a:rPr>
                        <a:t>~$2,050–5,100</a:t>
                      </a:r>
                    </a:p>
                  </a:txBody>
                  <a:tcPr marL="12700" marR="12700" marT="12700" marB="12700" anchor="ctr" anchorCtr="0" horzOverflow="overflow"/>
                </a:tc>
              </a:tr>
            </a:tbl>
          </a:graphicData>
        </a:graphic>
      </p:graphicFrame>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10" name="Hardware sourcing"/>
          <p:cNvSpPr txBox="1"/>
          <p:nvPr>
            <p:ph type="title"/>
          </p:nvPr>
        </p:nvSpPr>
        <p:spPr>
          <a:prstGeom prst="rect">
            <a:avLst/>
          </a:prstGeom>
        </p:spPr>
        <p:txBody>
          <a:bodyPr/>
          <a:lstStyle>
            <a:lvl1pPr defTabSz="2145791">
              <a:defRPr spc="211" sz="7040"/>
            </a:lvl1pPr>
          </a:lstStyle>
          <a:p>
            <a:pPr/>
            <a:r>
              <a:t>Hardware sourcing</a:t>
            </a:r>
          </a:p>
        </p:txBody>
      </p:sp>
      <p:sp>
        <p:nvSpPr>
          <p:cNvPr id="711" name="Short term: We will be outsourcing both OBU and RSU to validate the business model before investing in hardware engineering. Getting to market fast matters more than unit economics right now.…"/>
          <p:cNvSpPr txBox="1"/>
          <p:nvPr>
            <p:ph type="body" idx="1"/>
          </p:nvPr>
        </p:nvSpPr>
        <p:spPr>
          <a:xfrm>
            <a:off x="259570" y="2505781"/>
            <a:ext cx="23864861" cy="9814467"/>
          </a:xfrm>
          <a:prstGeom prst="rect">
            <a:avLst/>
          </a:prstGeom>
        </p:spPr>
        <p:txBody>
          <a:bodyPr/>
          <a:lstStyle/>
          <a:p>
            <a:pPr>
              <a:defRPr b="1"/>
            </a:pPr>
            <a:r>
              <a:t xml:space="preserve">Short term: </a:t>
            </a:r>
            <a:r>
              <a:rPr b="0"/>
              <a:t>We will be outsourcing both OBU and RSU to validate the business model before investing in hardware engineering. Getting to market fast matters more than unit economics right now.</a:t>
            </a:r>
            <a:endParaRPr b="0"/>
          </a:p>
          <a:p>
            <a:pPr>
              <a:defRPr b="1"/>
            </a:pPr>
            <a:r>
              <a:t xml:space="preserve">Long term: </a:t>
            </a:r>
            <a:r>
              <a:rPr b="0"/>
              <a:t>We will bring the OBU in-house as its the component that scales with every vehicle, so owning the design has the biggest cost impact. Keep the RSU outsourced longer since it's a one-time install per parking lot.</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3" name="Business Plan"/>
          <p:cNvSpPr txBox="1"/>
          <p:nvPr>
            <p:ph type="title"/>
          </p:nvPr>
        </p:nvSpPr>
        <p:spPr>
          <a:xfrm>
            <a:off x="947981" y="6046993"/>
            <a:ext cx="17713769" cy="4922293"/>
          </a:xfrm>
          <a:prstGeom prst="rect">
            <a:avLst/>
          </a:prstGeom>
        </p:spPr>
        <p:txBody>
          <a:bodyPr/>
          <a:lstStyle>
            <a:lvl1pPr algn="l">
              <a:defRPr b="0" sz="13600"/>
            </a:lvl1pPr>
          </a:lstStyle>
          <a:p>
            <a:pPr/>
            <a:r>
              <a:t>Business Plan</a:t>
            </a:r>
          </a:p>
        </p:txBody>
      </p:sp>
      <p:sp>
        <p:nvSpPr>
          <p:cNvPr id="714"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6" name="Conclusion"/>
          <p:cNvSpPr txBox="1"/>
          <p:nvPr>
            <p:ph type="title"/>
          </p:nvPr>
        </p:nvSpPr>
        <p:spPr>
          <a:xfrm>
            <a:off x="947981" y="6046993"/>
            <a:ext cx="17713769" cy="4922293"/>
          </a:xfrm>
          <a:prstGeom prst="rect">
            <a:avLst/>
          </a:prstGeom>
        </p:spPr>
        <p:txBody>
          <a:bodyPr/>
          <a:lstStyle>
            <a:lvl1pPr algn="l">
              <a:defRPr b="0" sz="13600"/>
            </a:lvl1pPr>
          </a:lstStyle>
          <a:p>
            <a:pPr/>
            <a:r>
              <a:t>Conclusion</a:t>
            </a:r>
          </a:p>
        </p:txBody>
      </p:sp>
      <p:sp>
        <p:nvSpPr>
          <p:cNvPr id="71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1" name="Conclusion Body"/>
          <p:cNvSpPr txBox="1"/>
          <p:nvPr/>
        </p:nvSpPr>
        <p:spPr>
          <a:xfrm>
            <a:off x="947981" y="1500000"/>
            <a:ext cx="22492039" cy="11000000"/>
          </a:xfrm>
          <a:prstGeom prst="rect">
            <a:avLst/>
          </a:prstGeom>
          <a:ln w="12700">
            <a:miter lim="400000"/>
          </a:ln>
        </p:spPr>
        <p:txBody>
          <a:bodyPr lIns="243799" tIns="243799" rIns="243799" bIns="243799">
            <a:normAutofit fontScale="100000" lnSpcReduction="0"/>
          </a:bodyPr>
          <a:lstStyle>
            <a:lvl1pPr defTabSz="2145791">
              <a:defRPr b="0" spc="0" sz="2400">
                <a:solidFill>
                  <a:srgbClr val="FFFFFF"/>
                </a:solidFill>
              </a:defRPr>
            </a:lvl1pPr>
          </a:lstStyle>
          <a:p>
            <a:pPr/>
            <a:r>
              <a:rPr b="1" sz="2800" spc="0">
                <a:solidFill>
                  <a:srgbClr val="FFFFFF"/>
                </a:solidFill>
              </a:rPr>
              <a:t>AutoPark is not just a parking feature — it is the missing link in the autonomous vehicle experience.</a:t>
            </a:r>
          </a:p>
          <a:p>
            <a:pPr/>
            <a:r>
              <a:rPr sz="2400">
                <a:solidFill>
                  <a:srgbClr val="FFFFFF"/>
                </a:solidFill>
              </a:rPr>
              <a:t>We have proven the technical architecture: working OBU/RSU stack, a cloud backend scaling to thousands of gates, and an app that makes self-parking invisible.</a:t>
            </a:r>
          </a:p>
          <a:p>
            <a:pPr/>
            <a:r>
              <a:rPr sz="2400">
                <a:solidFill>
                  <a:srgbClr val="FFFFFF"/>
                </a:solidFill>
              </a:rPr>
              <a:t xml:space="preserve">The economics work: $401 RSU gate payback in </a:t>
            </a:r>
            <a:r>
              <a:rPr b="1" sz="2400">
                <a:solidFill>
                  <a:srgbClr val="FFFFFF"/>
                </a:solidFill>
              </a:rPr>
              <a:t>6 days</a:t>
            </a:r>
            <a:r>
              <a:rPr sz="2400">
                <a:solidFill>
                  <a:srgbClr val="FFFFFF"/>
                </a:solidFill>
              </a:rPr>
              <a:t>, 40:1 LTV:CAC, and a clear path to $1M+ ARR by Year 3.</a:t>
            </a:r>
          </a:p>
          <a:p>
            <a:pPr/>
            <a:r>
              <a:rPr sz="2400">
                <a:solidFill>
                  <a:srgbClr val="FFFFFF"/>
                </a:solidFill>
              </a:rPr>
              <a:t xml:space="preserve">The market is ready: a </a:t>
            </a:r>
            <a:r>
              <a:rPr b="1" sz="2400">
                <a:solidFill>
                  <a:srgbClr val="FFFFFF"/>
                </a:solidFill>
              </a:rPr>
              <a:t>$10B+ smart parking market</a:t>
            </a:r>
            <a:r>
              <a:rPr sz="2400">
                <a:solidFill>
                  <a:srgbClr val="FFFFFF"/>
                </a:solidFill>
              </a:rPr>
              <a:t xml:space="preserve"> growing at 17% annually — and no incumbent with a complete end-to-end solution.</a:t>
            </a:r>
          </a:p>
          <a:p>
            <a:pPr/>
            <a:r>
              <a:rPr b="1" sz="2600" spc="0">
                <a:solidFill>
                  <a:srgbClr val="FFFFFF"/>
                </a:solidFill>
              </a:rPr>
              <a:t>Help us deploy our first 50 pilot RSU gates, sign our first commercial lot, and begin the OEM pilot that puts AutoPark on every autonomous vehicle on the road.</a:t>
            </a:r>
          </a:p>
          <a:p>
            <a:pPr/>
            <a:r>
              <a:rPr b="1" sz="2800" spc="0">
                <a:solidFill>
                  <a:srgbClr val="CADCFC"/>
                </a:solidFill>
              </a:rPr>
              <a:t>The future of parking is autonomous. Help us build it.</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20" name="Templates:"/>
          <p:cNvSpPr txBox="1"/>
          <p:nvPr>
            <p:ph type="title"/>
          </p:nvPr>
        </p:nvSpPr>
        <p:spPr>
          <a:xfrm>
            <a:off x="1661199" y="5222000"/>
            <a:ext cx="21061602" cy="3272001"/>
          </a:xfrm>
          <a:prstGeom prst="rect">
            <a:avLst/>
          </a:prstGeom>
        </p:spPr>
        <p:txBody>
          <a:bodyPr/>
          <a:lstStyle>
            <a:lvl1pPr algn="l">
              <a:defRPr b="0" sz="13600"/>
            </a:lvl1pPr>
          </a:lstStyle>
          <a:p>
            <a:pPr/>
            <a:r>
              <a:t>Templates:</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722" name="01"/>
          <p:cNvSpPr txBox="1"/>
          <p:nvPr>
            <p:ph type="sldNum" sz="quarter" idx="2"/>
          </p:nvPr>
        </p:nvSpPr>
        <p:spPr>
          <a:xfrm>
            <a:off x="1000346" y="12524796"/>
            <a:ext cx="7205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23" name="Reflection"/>
          <p:cNvSpPr txBox="1"/>
          <p:nvPr>
            <p:ph type="title"/>
          </p:nvPr>
        </p:nvSpPr>
        <p:spPr>
          <a:prstGeom prst="rect">
            <a:avLst/>
          </a:prstGeom>
        </p:spPr>
        <p:txBody>
          <a:bodyPr/>
          <a:lstStyle>
            <a:lvl1pPr defTabSz="2145791">
              <a:defRPr spc="211" sz="7040"/>
            </a:lvl1pPr>
          </a:lstStyle>
          <a:p>
            <a:pPr/>
            <a:r>
              <a:t>Reflection</a:t>
            </a:r>
          </a:p>
        </p:txBody>
      </p:sp>
      <p:grpSp>
        <p:nvGrpSpPr>
          <p:cNvPr id="736" name="Google Shape;1534;p132"/>
          <p:cNvGrpSpPr/>
          <p:nvPr/>
        </p:nvGrpSpPr>
        <p:grpSpPr>
          <a:xfrm>
            <a:off x="4022244" y="12655073"/>
            <a:ext cx="15813903" cy="926116"/>
            <a:chOff x="0" y="0"/>
            <a:chExt cx="15813901" cy="926115"/>
          </a:xfrm>
        </p:grpSpPr>
        <p:grpSp>
          <p:nvGrpSpPr>
            <p:cNvPr id="726" name="Google Shape;1535;p132"/>
            <p:cNvGrpSpPr/>
            <p:nvPr/>
          </p:nvGrpSpPr>
          <p:grpSpPr>
            <a:xfrm>
              <a:off x="11585670" y="165308"/>
              <a:ext cx="4228232" cy="595499"/>
              <a:chOff x="0" y="0"/>
              <a:chExt cx="4228231" cy="595498"/>
            </a:xfrm>
          </p:grpSpPr>
          <p:sp>
            <p:nvSpPr>
              <p:cNvPr id="724" name="Chevron"/>
              <p:cNvSpPr/>
              <p:nvPr/>
            </p:nvSpPr>
            <p:spPr>
              <a:xfrm>
                <a:off x="0" y="42862"/>
                <a:ext cx="4228232" cy="509774"/>
              </a:xfrm>
              <a:prstGeom prst="chevron">
                <a:avLst>
                  <a:gd name="adj" fmla="val 50000"/>
                </a:avLst>
              </a:prstGeom>
              <a:solidFill>
                <a:srgbClr val="709CCC"/>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725"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FFF"/>
                    </a:solidFill>
                  </a:defRPr>
                </a:lvl1pPr>
              </a:lstStyle>
              <a:p>
                <a:pPr/>
                <a:r>
                  <a:t>Reflection</a:t>
                </a:r>
              </a:p>
            </p:txBody>
          </p:sp>
        </p:grpSp>
        <p:grpSp>
          <p:nvGrpSpPr>
            <p:cNvPr id="729" name="Google Shape;1536;p132"/>
            <p:cNvGrpSpPr/>
            <p:nvPr/>
          </p:nvGrpSpPr>
          <p:grpSpPr>
            <a:xfrm>
              <a:off x="7724657" y="165308"/>
              <a:ext cx="4228233" cy="595499"/>
              <a:chOff x="0" y="0"/>
              <a:chExt cx="4228231" cy="595498"/>
            </a:xfrm>
          </p:grpSpPr>
          <p:sp>
            <p:nvSpPr>
              <p:cNvPr id="727"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728"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732" name="Google Shape;1537;p132"/>
            <p:cNvGrpSpPr/>
            <p:nvPr/>
          </p:nvGrpSpPr>
          <p:grpSpPr>
            <a:xfrm>
              <a:off x="3858564" y="-1"/>
              <a:ext cx="4228232" cy="926117"/>
              <a:chOff x="0" y="0"/>
              <a:chExt cx="4228231" cy="926115"/>
            </a:xfrm>
          </p:grpSpPr>
          <p:sp>
            <p:nvSpPr>
              <p:cNvPr id="730" name="Chevron"/>
              <p:cNvSpPr/>
              <p:nvPr/>
            </p:nvSpPr>
            <p:spPr>
              <a:xfrm>
                <a:off x="0" y="208171"/>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731"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Scenario Variation and Testing</a:t>
                </a:r>
              </a:p>
            </p:txBody>
          </p:sp>
        </p:grpSp>
        <p:grpSp>
          <p:nvGrpSpPr>
            <p:cNvPr id="735" name="Google Shape;1538;p132"/>
            <p:cNvGrpSpPr/>
            <p:nvPr/>
          </p:nvGrpSpPr>
          <p:grpSpPr>
            <a:xfrm>
              <a:off x="0" y="165308"/>
              <a:ext cx="4228232" cy="595499"/>
              <a:chOff x="0" y="0"/>
              <a:chExt cx="4228231" cy="595498"/>
            </a:xfrm>
          </p:grpSpPr>
          <p:sp>
            <p:nvSpPr>
              <p:cNvPr id="733"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734"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System Showcase</a:t>
                </a:r>
              </a:p>
            </p:txBody>
          </p:sp>
        </p:grpSp>
      </p:grpSp>
      <p:grpSp>
        <p:nvGrpSpPr>
          <p:cNvPr id="739" name="Google Shape;1820;p149"/>
          <p:cNvGrpSpPr/>
          <p:nvPr/>
        </p:nvGrpSpPr>
        <p:grpSpPr>
          <a:xfrm>
            <a:off x="2688419" y="2847314"/>
            <a:ext cx="5463201" cy="1598401"/>
            <a:chOff x="0" y="37770"/>
            <a:chExt cx="5463199" cy="1598400"/>
          </a:xfrm>
        </p:grpSpPr>
        <p:sp>
          <p:nvSpPr>
            <p:cNvPr id="737" name="Rounded Rectangle"/>
            <p:cNvSpPr/>
            <p:nvPr/>
          </p:nvSpPr>
          <p:spPr>
            <a:xfrm>
              <a:off x="0" y="37770"/>
              <a:ext cx="5463200" cy="1598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38" name="Biggest lessons learned"/>
            <p:cNvSpPr/>
            <p:nvPr/>
          </p:nvSpPr>
          <p:spPr>
            <a:xfrm>
              <a:off x="96193" y="836970"/>
              <a:ext cx="5270815"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Biggest lessons learned</a:t>
              </a:r>
            </a:p>
          </p:txBody>
        </p:sp>
      </p:grpSp>
      <p:grpSp>
        <p:nvGrpSpPr>
          <p:cNvPr id="742" name="Google Shape;1821;p149"/>
          <p:cNvGrpSpPr/>
          <p:nvPr/>
        </p:nvGrpSpPr>
        <p:grpSpPr>
          <a:xfrm>
            <a:off x="9906568" y="2847314"/>
            <a:ext cx="5463201" cy="1598401"/>
            <a:chOff x="0" y="37770"/>
            <a:chExt cx="5463199" cy="1598400"/>
          </a:xfrm>
        </p:grpSpPr>
        <p:sp>
          <p:nvSpPr>
            <p:cNvPr id="740" name="Rounded Rectangle"/>
            <p:cNvSpPr/>
            <p:nvPr/>
          </p:nvSpPr>
          <p:spPr>
            <a:xfrm>
              <a:off x="0" y="37770"/>
              <a:ext cx="5463200" cy="1598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41" name="Things we would do differently"/>
            <p:cNvSpPr/>
            <p:nvPr/>
          </p:nvSpPr>
          <p:spPr>
            <a:xfrm>
              <a:off x="96193" y="836970"/>
              <a:ext cx="5270815"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Things we would do differently</a:t>
              </a:r>
            </a:p>
          </p:txBody>
        </p:sp>
      </p:grpSp>
      <p:grpSp>
        <p:nvGrpSpPr>
          <p:cNvPr id="745" name="Google Shape;1822;p149"/>
          <p:cNvGrpSpPr/>
          <p:nvPr/>
        </p:nvGrpSpPr>
        <p:grpSpPr>
          <a:xfrm>
            <a:off x="17124717" y="2847314"/>
            <a:ext cx="5463201" cy="1598401"/>
            <a:chOff x="0" y="37770"/>
            <a:chExt cx="5463199" cy="1598400"/>
          </a:xfrm>
        </p:grpSpPr>
        <p:sp>
          <p:nvSpPr>
            <p:cNvPr id="743" name="Rounded Rectangle"/>
            <p:cNvSpPr/>
            <p:nvPr/>
          </p:nvSpPr>
          <p:spPr>
            <a:xfrm>
              <a:off x="0" y="37770"/>
              <a:ext cx="5463200" cy="1598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44" name="Challenges and pivots that shaped our team"/>
            <p:cNvSpPr/>
            <p:nvPr/>
          </p:nvSpPr>
          <p:spPr>
            <a:xfrm>
              <a:off x="96193" y="836970"/>
              <a:ext cx="5270815"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Challenges and pivots that shaped our team</a:t>
              </a:r>
            </a:p>
          </p:txBody>
        </p:sp>
      </p:grpSp>
      <p:grpSp>
        <p:nvGrpSpPr>
          <p:cNvPr id="748" name="Google Shape;1827;p149"/>
          <p:cNvGrpSpPr/>
          <p:nvPr/>
        </p:nvGrpSpPr>
        <p:grpSpPr>
          <a:xfrm>
            <a:off x="10130968" y="5107510"/>
            <a:ext cx="5014401" cy="1924801"/>
            <a:chOff x="0" y="122220"/>
            <a:chExt cx="5014400" cy="1924799"/>
          </a:xfrm>
        </p:grpSpPr>
        <p:sp>
          <p:nvSpPr>
            <p:cNvPr id="746" name="Rounded Rectangle"/>
            <p:cNvSpPr/>
            <p:nvPr/>
          </p:nvSpPr>
          <p:spPr>
            <a:xfrm>
              <a:off x="0" y="122220"/>
              <a:ext cx="5014401" cy="1924801"/>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47" name="Simulation’s place within aUToronto’s team structure"/>
            <p:cNvSpPr/>
            <p:nvPr/>
          </p:nvSpPr>
          <p:spPr>
            <a:xfrm>
              <a:off x="112126" y="1084620"/>
              <a:ext cx="479014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Simulation’s place within aUToronto’s team structure</a:t>
              </a:r>
            </a:p>
          </p:txBody>
        </p:sp>
      </p:grpSp>
      <p:grpSp>
        <p:nvGrpSpPr>
          <p:cNvPr id="751" name="Google Shape;1826;p149"/>
          <p:cNvGrpSpPr/>
          <p:nvPr/>
        </p:nvGrpSpPr>
        <p:grpSpPr>
          <a:xfrm>
            <a:off x="2912819" y="5107510"/>
            <a:ext cx="5014401" cy="1924801"/>
            <a:chOff x="0" y="0"/>
            <a:chExt cx="5014400" cy="1924799"/>
          </a:xfrm>
        </p:grpSpPr>
        <p:sp>
          <p:nvSpPr>
            <p:cNvPr id="749" name="Rounded Rectangle"/>
            <p:cNvSpPr/>
            <p:nvPr/>
          </p:nvSpPr>
          <p:spPr>
            <a:xfrm>
              <a:off x="0" y="0"/>
              <a:ext cx="5014401" cy="1924800"/>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50" name="Text"/>
            <p:cNvSpPr/>
            <p:nvPr/>
          </p:nvSpPr>
          <p:spPr>
            <a:xfrm>
              <a:off x="112126" y="962400"/>
              <a:ext cx="479014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p:spPr>
          <p:txBody>
            <a:bodyPr wrap="square" lIns="348733" tIns="348733" rIns="348733" bIns="348733" numCol="1" anchor="ctr">
              <a:spAutoFit/>
            </a:bodyPr>
            <a:lstStyle/>
            <a:p>
              <a:pPr defTabSz="2438400">
                <a:defRPr b="0" spc="0" sz="3400">
                  <a:solidFill>
                    <a:srgbClr val="FFFFFF"/>
                  </a:solidFill>
                  <a:latin typeface="Arial"/>
                  <a:ea typeface="Arial"/>
                  <a:cs typeface="Arial"/>
                  <a:sym typeface="Arial"/>
                </a:defRPr>
              </a:pPr>
            </a:p>
          </p:txBody>
        </p:sp>
      </p:grpSp>
      <p:grpSp>
        <p:nvGrpSpPr>
          <p:cNvPr id="754" name="Google Shape;1826;p149"/>
          <p:cNvGrpSpPr/>
          <p:nvPr/>
        </p:nvGrpSpPr>
        <p:grpSpPr>
          <a:xfrm>
            <a:off x="17349117" y="4991795"/>
            <a:ext cx="5014401" cy="1924801"/>
            <a:chOff x="0" y="0"/>
            <a:chExt cx="5014400" cy="1924799"/>
          </a:xfrm>
        </p:grpSpPr>
        <p:sp>
          <p:nvSpPr>
            <p:cNvPr id="752" name="Rounded Rectangle"/>
            <p:cNvSpPr/>
            <p:nvPr/>
          </p:nvSpPr>
          <p:spPr>
            <a:xfrm>
              <a:off x="0" y="0"/>
              <a:ext cx="5014401" cy="1924800"/>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753" name="Text"/>
            <p:cNvSpPr/>
            <p:nvPr/>
          </p:nvSpPr>
          <p:spPr>
            <a:xfrm>
              <a:off x="112126" y="962400"/>
              <a:ext cx="479014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p:spPr>
          <p:txBody>
            <a:bodyPr wrap="square" lIns="348733" tIns="348733" rIns="348733" bIns="348733" numCol="1" anchor="ctr">
              <a:spAutoFit/>
            </a:bodyPr>
            <a:lstStyle/>
            <a:p>
              <a:pPr defTabSz="2438400">
                <a:defRPr b="0" spc="0" sz="3400">
                  <a:solidFill>
                    <a:srgbClr val="FFFFFF"/>
                  </a:solidFill>
                  <a:latin typeface="Arial"/>
                  <a:ea typeface="Arial"/>
                  <a:cs typeface="Arial"/>
                  <a:sym typeface="Arial"/>
                </a:defRPr>
              </a:pPr>
            </a:p>
          </p:txBody>
        </p:sp>
      </p:gr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6" name="Google Shape;218;p35"/>
          <p:cNvSpPr txBox="1"/>
          <p:nvPr>
            <p:ph type="title"/>
          </p:nvPr>
        </p:nvSpPr>
        <p:spPr>
          <a:xfrm>
            <a:off x="831199" y="277666"/>
            <a:ext cx="22721602" cy="1527201"/>
          </a:xfrm>
          <a:prstGeom prst="rect">
            <a:avLst/>
          </a:prstGeom>
        </p:spPr>
        <p:txBody>
          <a:bodyPr/>
          <a:lstStyle/>
          <a:p>
            <a:pPr defTabSz="1780032">
              <a:defRPr spc="70" sz="7008"/>
            </a:pPr>
            <a:r>
              <a:t xml:space="preserve">aUToBridge R2Y4 </a:t>
            </a:r>
            <a:r>
              <a:rPr spc="58" sz="5840"/>
              <a:t>- Simulation Framework</a:t>
            </a:r>
          </a:p>
        </p:txBody>
      </p:sp>
      <p:sp>
        <p:nvSpPr>
          <p:cNvPr id="757" name="Google Shape;219;p35"/>
          <p:cNvSpPr txBox="1"/>
          <p:nvPr>
            <p:ph type="sldNum" sz="quarter" idx="2"/>
          </p:nvPr>
        </p:nvSpPr>
        <p:spPr>
          <a:xfrm>
            <a:off x="853304" y="12524796"/>
            <a:ext cx="867584"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761" name="Group"/>
          <p:cNvGrpSpPr/>
          <p:nvPr/>
        </p:nvGrpSpPr>
        <p:grpSpPr>
          <a:xfrm>
            <a:off x="3781487" y="5895579"/>
            <a:ext cx="17421076" cy="2325784"/>
            <a:chOff x="0" y="0"/>
            <a:chExt cx="17421074" cy="2325782"/>
          </a:xfrm>
        </p:grpSpPr>
        <p:sp>
          <p:nvSpPr>
            <p:cNvPr id="758" name="Rectangle"/>
            <p:cNvSpPr/>
            <p:nvPr/>
          </p:nvSpPr>
          <p:spPr>
            <a:xfrm>
              <a:off x="15065309" y="0"/>
              <a:ext cx="639933" cy="633876"/>
            </a:xfrm>
            <a:prstGeom prst="rect">
              <a:avLst/>
            </a:prstGeom>
            <a:solidFill>
              <a:srgbClr val="FDF2D0"/>
            </a:solidFill>
            <a:ln w="38100" cap="flat">
              <a:solidFill>
                <a:srgbClr val="F1C696"/>
              </a:solidFill>
              <a:prstDash val="solid"/>
              <a:miter lim="400000"/>
            </a:ln>
            <a:effectLst/>
          </p:spPr>
          <p:txBody>
            <a:bodyPr wrap="square" lIns="50800" tIns="50800" rIns="50800" bIns="50800" numCol="1" anchor="ctr">
              <a:noAutofit/>
            </a:bodyPr>
            <a:lstStyle/>
            <a:p>
              <a:pPr>
                <a:defRPr spc="0" sz="2600">
                  <a:solidFill>
                    <a:srgbClr val="FFFFFF"/>
                  </a:solidFill>
                </a:defRPr>
              </a:pPr>
            </a:p>
          </p:txBody>
        </p:sp>
        <p:sp>
          <p:nvSpPr>
            <p:cNvPr id="759" name="Vehicle Dynamics (aUToBridge)"/>
            <p:cNvSpPr/>
            <p:nvPr/>
          </p:nvSpPr>
          <p:spPr>
            <a:xfrm>
              <a:off x="0" y="8499"/>
              <a:ext cx="14741950" cy="2317284"/>
            </a:xfrm>
            <a:prstGeom prst="rect">
              <a:avLst/>
            </a:prstGeom>
            <a:solidFill>
              <a:srgbClr val="FDF2D0"/>
            </a:solidFill>
            <a:ln w="38100" cap="flat">
              <a:solidFill>
                <a:srgbClr val="F1C696"/>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Vehicle Dynamics (aUToBridge)</a:t>
              </a:r>
            </a:p>
          </p:txBody>
        </p:sp>
        <p:sp>
          <p:nvSpPr>
            <p:cNvPr id="760" name="Simulink"/>
            <p:cNvSpPr txBox="1"/>
            <p:nvPr/>
          </p:nvSpPr>
          <p:spPr>
            <a:xfrm>
              <a:off x="15467524" y="39686"/>
              <a:ext cx="1953551" cy="482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2438338">
                <a:defRPr b="0" spc="0" sz="2500"/>
              </a:lvl1pPr>
            </a:lstStyle>
            <a:p>
              <a:pPr/>
              <a:r>
                <a:t>Simulink</a:t>
              </a:r>
            </a:p>
          </p:txBody>
        </p:sp>
      </p:grpSp>
      <p:sp>
        <p:nvSpPr>
          <p:cNvPr id="762" name="Line"/>
          <p:cNvSpPr/>
          <p:nvPr/>
        </p:nvSpPr>
        <p:spPr>
          <a:xfrm>
            <a:off x="6192047" y="5127528"/>
            <a:ext cx="1" cy="762784"/>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763" name="Line"/>
          <p:cNvSpPr/>
          <p:nvPr/>
        </p:nvSpPr>
        <p:spPr>
          <a:xfrm>
            <a:off x="6192047" y="8275350"/>
            <a:ext cx="1" cy="762785"/>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764" name="Line"/>
          <p:cNvSpPr/>
          <p:nvPr/>
        </p:nvSpPr>
        <p:spPr>
          <a:xfrm flipV="1">
            <a:off x="16018344" y="5127528"/>
            <a:ext cx="1" cy="762784"/>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765" name="Line"/>
          <p:cNvSpPr/>
          <p:nvPr/>
        </p:nvSpPr>
        <p:spPr>
          <a:xfrm flipV="1">
            <a:off x="16018344" y="8269828"/>
            <a:ext cx="1" cy="762784"/>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grpSp>
        <p:nvGrpSpPr>
          <p:cNvPr id="769" name="Group"/>
          <p:cNvGrpSpPr/>
          <p:nvPr/>
        </p:nvGrpSpPr>
        <p:grpSpPr>
          <a:xfrm>
            <a:off x="3771688" y="9064058"/>
            <a:ext cx="17709366" cy="2163483"/>
            <a:chOff x="0" y="3615"/>
            <a:chExt cx="17709365" cy="2163482"/>
          </a:xfrm>
        </p:grpSpPr>
        <p:sp>
          <p:nvSpPr>
            <p:cNvPr id="766" name="RoadRunner"/>
            <p:cNvSpPr/>
            <p:nvPr/>
          </p:nvSpPr>
          <p:spPr>
            <a:xfrm>
              <a:off x="0" y="3615"/>
              <a:ext cx="14727934" cy="2163483"/>
            </a:xfrm>
            <a:prstGeom prst="rect">
              <a:avLst/>
            </a:prstGeom>
            <a:solidFill>
              <a:srgbClr val="E2A3A3">
                <a:alpha val="81896"/>
              </a:srgbClr>
            </a:solidFill>
            <a:ln w="38100" cap="flat">
              <a:solidFill>
                <a:srgbClr val="B98688"/>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RoadRunner</a:t>
              </a:r>
            </a:p>
          </p:txBody>
        </p:sp>
        <p:sp>
          <p:nvSpPr>
            <p:cNvPr id="767" name="Visualization"/>
            <p:cNvSpPr txBox="1"/>
            <p:nvPr/>
          </p:nvSpPr>
          <p:spPr>
            <a:xfrm>
              <a:off x="15853578" y="126999"/>
              <a:ext cx="1855788" cy="470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2438338">
                <a:defRPr b="0" spc="0" sz="2500"/>
              </a:lvl1pPr>
            </a:lstStyle>
            <a:p>
              <a:pPr/>
              <a:r>
                <a:t>Visualization</a:t>
              </a:r>
            </a:p>
          </p:txBody>
        </p:sp>
        <p:sp>
          <p:nvSpPr>
            <p:cNvPr id="768" name="Rectangle"/>
            <p:cNvSpPr/>
            <p:nvPr/>
          </p:nvSpPr>
          <p:spPr>
            <a:xfrm>
              <a:off x="15061973" y="68526"/>
              <a:ext cx="639932" cy="633877"/>
            </a:xfrm>
            <a:prstGeom prst="rect">
              <a:avLst/>
            </a:prstGeom>
            <a:solidFill>
              <a:srgbClr val="E2A3A3">
                <a:alpha val="82579"/>
              </a:srgbClr>
            </a:solidFill>
            <a:ln w="38100" cap="flat">
              <a:solidFill>
                <a:srgbClr val="AD7E7F"/>
              </a:solidFill>
              <a:prstDash val="solid"/>
              <a:miter lim="400000"/>
            </a:ln>
            <a:effectLst/>
          </p:spPr>
          <p:txBody>
            <a:bodyPr wrap="square" lIns="50800" tIns="50800" rIns="50800" bIns="50800" numCol="1" anchor="ctr">
              <a:noAutofit/>
            </a:bodyPr>
            <a:lstStyle/>
            <a:p>
              <a:pPr>
                <a:defRPr spc="0" sz="2600">
                  <a:solidFill>
                    <a:srgbClr val="FFFFFF"/>
                  </a:solidFill>
                </a:defRPr>
              </a:pPr>
            </a:p>
          </p:txBody>
        </p:sp>
      </p:grpSp>
      <p:sp>
        <p:nvSpPr>
          <p:cNvPr id="770" name="Line"/>
          <p:cNvSpPr/>
          <p:nvPr/>
        </p:nvSpPr>
        <p:spPr>
          <a:xfrm flipH="1">
            <a:off x="13155734" y="4040002"/>
            <a:ext cx="1027191" cy="1"/>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771" name="Line"/>
          <p:cNvSpPr/>
          <p:nvPr/>
        </p:nvSpPr>
        <p:spPr>
          <a:xfrm flipH="1">
            <a:off x="7910780" y="4040025"/>
            <a:ext cx="1027191" cy="1"/>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grpSp>
        <p:nvGrpSpPr>
          <p:cNvPr id="778" name="Group"/>
          <p:cNvGrpSpPr/>
          <p:nvPr/>
        </p:nvGrpSpPr>
        <p:grpSpPr>
          <a:xfrm>
            <a:off x="3747122" y="3002321"/>
            <a:ext cx="18317834" cy="2075408"/>
            <a:chOff x="0" y="0"/>
            <a:chExt cx="18317831" cy="2075407"/>
          </a:xfrm>
        </p:grpSpPr>
        <p:grpSp>
          <p:nvGrpSpPr>
            <p:cNvPr id="775" name="Group"/>
            <p:cNvGrpSpPr/>
            <p:nvPr/>
          </p:nvGrpSpPr>
          <p:grpSpPr>
            <a:xfrm>
              <a:off x="0" y="5882"/>
              <a:ext cx="14745381" cy="2069526"/>
              <a:chOff x="0" y="0"/>
              <a:chExt cx="14745380" cy="2069524"/>
            </a:xfrm>
          </p:grpSpPr>
          <p:sp>
            <p:nvSpPr>
              <p:cNvPr id="772" name="Controls"/>
              <p:cNvSpPr/>
              <p:nvPr/>
            </p:nvSpPr>
            <p:spPr>
              <a:xfrm>
                <a:off x="0" y="0"/>
                <a:ext cx="4113965" cy="2069525"/>
              </a:xfrm>
              <a:prstGeom prst="rect">
                <a:avLst/>
              </a:prstGeom>
              <a:solidFill>
                <a:srgbClr val="B2E0E0"/>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Controls</a:t>
                </a:r>
              </a:p>
            </p:txBody>
          </p:sp>
          <p:sp>
            <p:nvSpPr>
              <p:cNvPr id="773" name="Planning"/>
              <p:cNvSpPr/>
              <p:nvPr/>
            </p:nvSpPr>
            <p:spPr>
              <a:xfrm>
                <a:off x="5242034" y="0"/>
                <a:ext cx="4113966" cy="2069525"/>
              </a:xfrm>
              <a:prstGeom prst="rect">
                <a:avLst/>
              </a:prstGeom>
              <a:solidFill>
                <a:srgbClr val="B2E0E0"/>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Planning</a:t>
                </a:r>
              </a:p>
            </p:txBody>
          </p:sp>
          <p:sp>
            <p:nvSpPr>
              <p:cNvPr id="774" name="Localization"/>
              <p:cNvSpPr/>
              <p:nvPr/>
            </p:nvSpPr>
            <p:spPr>
              <a:xfrm>
                <a:off x="10484069" y="0"/>
                <a:ext cx="4261312" cy="2069525"/>
              </a:xfrm>
              <a:prstGeom prst="rect">
                <a:avLst/>
              </a:prstGeom>
              <a:solidFill>
                <a:srgbClr val="B2E0E0"/>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Localization</a:t>
                </a:r>
              </a:p>
            </p:txBody>
          </p:sp>
        </p:grpSp>
        <p:sp>
          <p:nvSpPr>
            <p:cNvPr id="776" name="Rectangle"/>
            <p:cNvSpPr/>
            <p:nvPr/>
          </p:nvSpPr>
          <p:spPr>
            <a:xfrm>
              <a:off x="15099312" y="0"/>
              <a:ext cx="654788" cy="633876"/>
            </a:xfrm>
            <a:prstGeom prst="rect">
              <a:avLst/>
            </a:prstGeom>
            <a:solidFill>
              <a:srgbClr val="B2E0E0"/>
            </a:solidFill>
            <a:ln w="38100" cap="flat">
              <a:solidFill>
                <a:srgbClr val="769696"/>
              </a:solidFill>
              <a:prstDash val="solid"/>
              <a:miter lim="400000"/>
            </a:ln>
            <a:effectLst/>
          </p:spPr>
          <p:txBody>
            <a:bodyPr wrap="square" lIns="50800" tIns="50800" rIns="50800" bIns="50800" numCol="1" anchor="ctr">
              <a:noAutofit/>
            </a:bodyPr>
            <a:lstStyle/>
            <a:p>
              <a:pPr>
                <a:defRPr spc="0" sz="2600"/>
              </a:pPr>
            </a:p>
          </p:txBody>
        </p:sp>
        <p:sp>
          <p:nvSpPr>
            <p:cNvPr id="777" name="Vehicle Software"/>
            <p:cNvSpPr txBox="1"/>
            <p:nvPr/>
          </p:nvSpPr>
          <p:spPr>
            <a:xfrm>
              <a:off x="15780847" y="75637"/>
              <a:ext cx="2536986" cy="482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2438338">
                <a:defRPr b="0" spc="0" sz="2500"/>
              </a:lvl1pPr>
            </a:lstStyle>
            <a:p>
              <a:pPr/>
              <a:r>
                <a:t>Vehicle Software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78"/>
                                        </p:tgtEl>
                                        <p:attrNameLst>
                                          <p:attrName>style.visibility</p:attrName>
                                        </p:attrNameLst>
                                      </p:cBhvr>
                                      <p:to>
                                        <p:strVal val="visible"/>
                                      </p:to>
                                    </p:set>
                                    <p:animEffect filter="fade" transition="in">
                                      <p:cBhvr>
                                        <p:cTn id="7" dur="300"/>
                                        <p:tgtEl>
                                          <p:spTgt spid="778"/>
                                        </p:tgtEl>
                                      </p:cBhvr>
                                    </p:animEffect>
                                  </p:childTnLst>
                                </p:cTn>
                              </p:par>
                            </p:childTnLst>
                          </p:cTn>
                        </p:par>
                        <p:par>
                          <p:cTn id="8" fill="hold">
                            <p:stCondLst>
                              <p:cond delay="300"/>
                            </p:stCondLst>
                            <p:childTnLst>
                              <p:par>
                                <p:cTn id="9" presetClass="entr" nodeType="afterEffect" presetID="9" grpId="2" fill="hold">
                                  <p:stCondLst>
                                    <p:cond delay="0"/>
                                  </p:stCondLst>
                                  <p:iterate type="el" backwards="0">
                                    <p:tmAbs val="0"/>
                                  </p:iterate>
                                  <p:childTnLst>
                                    <p:set>
                                      <p:cBhvr>
                                        <p:cTn id="10" fill="hold"/>
                                        <p:tgtEl>
                                          <p:spTgt spid="770"/>
                                        </p:tgtEl>
                                        <p:attrNameLst>
                                          <p:attrName>style.visibility</p:attrName>
                                        </p:attrNameLst>
                                      </p:cBhvr>
                                      <p:to>
                                        <p:strVal val="visible"/>
                                      </p:to>
                                    </p:set>
                                    <p:animEffect filter="dissolve" transition="in">
                                      <p:cBhvr>
                                        <p:cTn id="11" dur="300"/>
                                        <p:tgtEl>
                                          <p:spTgt spid="770"/>
                                        </p:tgtEl>
                                      </p:cBhvr>
                                    </p:animEffect>
                                  </p:childTnLst>
                                </p:cTn>
                              </p:par>
                            </p:childTnLst>
                          </p:cTn>
                        </p:par>
                        <p:par>
                          <p:cTn id="12" fill="hold">
                            <p:stCondLst>
                              <p:cond delay="600"/>
                            </p:stCondLst>
                            <p:childTnLst>
                              <p:par>
                                <p:cTn id="13" presetClass="entr" nodeType="afterEffect" presetID="9" grpId="3" fill="hold">
                                  <p:stCondLst>
                                    <p:cond delay="0"/>
                                  </p:stCondLst>
                                  <p:iterate type="el" backwards="0">
                                    <p:tmAbs val="0"/>
                                  </p:iterate>
                                  <p:childTnLst>
                                    <p:set>
                                      <p:cBhvr>
                                        <p:cTn id="14" fill="hold"/>
                                        <p:tgtEl>
                                          <p:spTgt spid="771"/>
                                        </p:tgtEl>
                                        <p:attrNameLst>
                                          <p:attrName>style.visibility</p:attrName>
                                        </p:attrNameLst>
                                      </p:cBhvr>
                                      <p:to>
                                        <p:strVal val="visible"/>
                                      </p:to>
                                    </p:set>
                                    <p:animEffect filter="dissolve" transition="in">
                                      <p:cBhvr>
                                        <p:cTn id="15" dur="300"/>
                                        <p:tgtEl>
                                          <p:spTgt spid="771"/>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9" grpId="4" fill="hold">
                                  <p:stCondLst>
                                    <p:cond delay="0"/>
                                  </p:stCondLst>
                                  <p:iterate type="el" backwards="0">
                                    <p:tmAbs val="0"/>
                                  </p:iterate>
                                  <p:childTnLst>
                                    <p:set>
                                      <p:cBhvr>
                                        <p:cTn id="19" fill="hold"/>
                                        <p:tgtEl>
                                          <p:spTgt spid="762"/>
                                        </p:tgtEl>
                                        <p:attrNameLst>
                                          <p:attrName>style.visibility</p:attrName>
                                        </p:attrNameLst>
                                      </p:cBhvr>
                                      <p:to>
                                        <p:strVal val="visible"/>
                                      </p:to>
                                    </p:set>
                                    <p:animEffect filter="dissolve" transition="in">
                                      <p:cBhvr>
                                        <p:cTn id="20" dur="300"/>
                                        <p:tgtEl>
                                          <p:spTgt spid="762"/>
                                        </p:tgtEl>
                                      </p:cBhvr>
                                    </p:animEffect>
                                  </p:childTnLst>
                                </p:cTn>
                              </p:par>
                            </p:childTnLst>
                          </p:cTn>
                        </p:par>
                        <p:par>
                          <p:cTn id="21" fill="hold">
                            <p:stCondLst>
                              <p:cond delay="300"/>
                            </p:stCondLst>
                            <p:childTnLst>
                              <p:par>
                                <p:cTn id="22" presetClass="entr" nodeType="afterEffect" presetID="9" grpId="5" fill="hold">
                                  <p:stCondLst>
                                    <p:cond delay="0"/>
                                  </p:stCondLst>
                                  <p:iterate type="el" backwards="0">
                                    <p:tmAbs val="0"/>
                                  </p:iterate>
                                  <p:childTnLst>
                                    <p:set>
                                      <p:cBhvr>
                                        <p:cTn id="23" fill="hold"/>
                                        <p:tgtEl>
                                          <p:spTgt spid="764"/>
                                        </p:tgtEl>
                                        <p:attrNameLst>
                                          <p:attrName>style.visibility</p:attrName>
                                        </p:attrNameLst>
                                      </p:cBhvr>
                                      <p:to>
                                        <p:strVal val="visible"/>
                                      </p:to>
                                    </p:set>
                                    <p:animEffect filter="dissolve" transition="in">
                                      <p:cBhvr>
                                        <p:cTn id="24" dur="300"/>
                                        <p:tgtEl>
                                          <p:spTgt spid="764"/>
                                        </p:tgtEl>
                                      </p:cBhvr>
                                    </p:animEffect>
                                  </p:childTnLst>
                                </p:cTn>
                              </p:par>
                            </p:childTnLst>
                          </p:cTn>
                        </p:par>
                        <p:par>
                          <p:cTn id="25" fill="hold">
                            <p:stCondLst>
                              <p:cond delay="600"/>
                            </p:stCondLst>
                            <p:childTnLst>
                              <p:par>
                                <p:cTn id="26" presetClass="entr" nodeType="afterEffect" presetID="10" grpId="6" fill="hold">
                                  <p:stCondLst>
                                    <p:cond delay="0"/>
                                  </p:stCondLst>
                                  <p:iterate type="el" backwards="0">
                                    <p:tmAbs val="0"/>
                                  </p:iterate>
                                  <p:childTnLst>
                                    <p:set>
                                      <p:cBhvr>
                                        <p:cTn id="27" fill="hold"/>
                                        <p:tgtEl>
                                          <p:spTgt spid="761"/>
                                        </p:tgtEl>
                                        <p:attrNameLst>
                                          <p:attrName>style.visibility</p:attrName>
                                        </p:attrNameLst>
                                      </p:cBhvr>
                                      <p:to>
                                        <p:strVal val="visible"/>
                                      </p:to>
                                    </p:set>
                                    <p:animEffect filter="fade" transition="in">
                                      <p:cBhvr>
                                        <p:cTn id="28" dur="300"/>
                                        <p:tgtEl>
                                          <p:spTgt spid="761"/>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ID="9" grpId="7" fill="hold">
                                  <p:stCondLst>
                                    <p:cond delay="0"/>
                                  </p:stCondLst>
                                  <p:iterate type="el" backwards="0">
                                    <p:tmAbs val="0"/>
                                  </p:iterate>
                                  <p:childTnLst>
                                    <p:set>
                                      <p:cBhvr>
                                        <p:cTn id="32" fill="hold"/>
                                        <p:tgtEl>
                                          <p:spTgt spid="765"/>
                                        </p:tgtEl>
                                        <p:attrNameLst>
                                          <p:attrName>style.visibility</p:attrName>
                                        </p:attrNameLst>
                                      </p:cBhvr>
                                      <p:to>
                                        <p:strVal val="visible"/>
                                      </p:to>
                                    </p:set>
                                    <p:animEffect filter="dissolve" transition="in">
                                      <p:cBhvr>
                                        <p:cTn id="33" dur="300"/>
                                        <p:tgtEl>
                                          <p:spTgt spid="765"/>
                                        </p:tgtEl>
                                      </p:cBhvr>
                                    </p:animEffect>
                                  </p:childTnLst>
                                </p:cTn>
                              </p:par>
                            </p:childTnLst>
                          </p:cTn>
                        </p:par>
                        <p:par>
                          <p:cTn id="34" fill="hold">
                            <p:stCondLst>
                              <p:cond delay="300"/>
                            </p:stCondLst>
                            <p:childTnLst>
                              <p:par>
                                <p:cTn id="35" presetClass="entr" nodeType="afterEffect" presetID="9" grpId="8" fill="hold">
                                  <p:stCondLst>
                                    <p:cond delay="0"/>
                                  </p:stCondLst>
                                  <p:iterate type="el" backwards="0">
                                    <p:tmAbs val="0"/>
                                  </p:iterate>
                                  <p:childTnLst>
                                    <p:set>
                                      <p:cBhvr>
                                        <p:cTn id="36" fill="hold"/>
                                        <p:tgtEl>
                                          <p:spTgt spid="763"/>
                                        </p:tgtEl>
                                        <p:attrNameLst>
                                          <p:attrName>style.visibility</p:attrName>
                                        </p:attrNameLst>
                                      </p:cBhvr>
                                      <p:to>
                                        <p:strVal val="visible"/>
                                      </p:to>
                                    </p:set>
                                    <p:animEffect filter="dissolve" transition="in">
                                      <p:cBhvr>
                                        <p:cTn id="37" dur="300"/>
                                        <p:tgtEl>
                                          <p:spTgt spid="763"/>
                                        </p:tgtEl>
                                      </p:cBhvr>
                                    </p:animEffect>
                                  </p:childTnLst>
                                </p:cTn>
                              </p:par>
                            </p:childTnLst>
                          </p:cTn>
                        </p:par>
                        <p:par>
                          <p:cTn id="38" fill="hold">
                            <p:stCondLst>
                              <p:cond delay="600"/>
                            </p:stCondLst>
                            <p:childTnLst>
                              <p:par>
                                <p:cTn id="39" presetClass="entr" nodeType="afterEffect" presetID="10" grpId="9" fill="hold">
                                  <p:stCondLst>
                                    <p:cond delay="0"/>
                                  </p:stCondLst>
                                  <p:iterate type="el" backwards="0">
                                    <p:tmAbs val="0"/>
                                  </p:iterate>
                                  <p:childTnLst>
                                    <p:set>
                                      <p:cBhvr>
                                        <p:cTn id="40" fill="hold"/>
                                        <p:tgtEl>
                                          <p:spTgt spid="769"/>
                                        </p:tgtEl>
                                        <p:attrNameLst>
                                          <p:attrName>style.visibility</p:attrName>
                                        </p:attrNameLst>
                                      </p:cBhvr>
                                      <p:to>
                                        <p:strVal val="visible"/>
                                      </p:to>
                                    </p:set>
                                    <p:animEffect filter="fade" transition="in">
                                      <p:cBhvr>
                                        <p:cTn id="41" dur="300"/>
                                        <p:tgtEl>
                                          <p:spTgt spid="7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65" grpId="7"/>
      <p:bldP build="whole" bldLvl="1" animBg="1" rev="0" advAuto="0" spid="770" grpId="2"/>
      <p:bldP build="whole" bldLvl="1" animBg="1" rev="0" advAuto="0" spid="764" grpId="5"/>
      <p:bldP build="whole" bldLvl="1" animBg="1" rev="0" advAuto="0" spid="763" grpId="8"/>
      <p:bldP build="whole" bldLvl="1" animBg="1" rev="0" advAuto="0" spid="769" grpId="9"/>
      <p:bldP build="whole" bldLvl="1" animBg="1" rev="0" advAuto="0" spid="778" grpId="1"/>
      <p:bldP build="whole" bldLvl="1" animBg="1" rev="0" advAuto="0" spid="761" grpId="6"/>
      <p:bldP build="whole" bldLvl="1" animBg="1" rev="0" advAuto="0" spid="771" grpId="3"/>
      <p:bldP build="whole" bldLvl="1" animBg="1" rev="0" advAuto="0" spid="762" grpId="4"/>
    </p:bld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2"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83" name="Automation for Executing Simulation"/>
          <p:cNvSpPr txBox="1"/>
          <p:nvPr>
            <p:ph type="title"/>
          </p:nvPr>
        </p:nvSpPr>
        <p:spPr>
          <a:prstGeom prst="rect">
            <a:avLst/>
          </a:prstGeom>
        </p:spPr>
        <p:txBody>
          <a:bodyPr/>
          <a:lstStyle>
            <a:lvl1pPr defTabSz="2145791">
              <a:defRPr spc="211" sz="7040"/>
            </a:lvl1pPr>
          </a:lstStyle>
          <a:p>
            <a:pPr/>
            <a:r>
              <a:t>Automation for Executing Simulation</a:t>
            </a:r>
          </a:p>
        </p:txBody>
      </p:sp>
      <p:pic>
        <p:nvPicPr>
          <p:cNvPr id="784" name="pasted-movie.png" descr="pasted-movie.png"/>
          <p:cNvPicPr>
            <a:picLocks noChangeAspect="1"/>
          </p:cNvPicPr>
          <p:nvPr/>
        </p:nvPicPr>
        <p:blipFill>
          <a:blip r:embed="rId2">
            <a:extLst/>
          </a:blip>
          <a:stretch>
            <a:fillRect/>
          </a:stretch>
        </p:blipFill>
        <p:spPr>
          <a:xfrm>
            <a:off x="1410229" y="3667033"/>
            <a:ext cx="2081541" cy="2081542"/>
          </a:xfrm>
          <a:prstGeom prst="rect">
            <a:avLst/>
          </a:prstGeom>
          <a:ln w="12700">
            <a:miter lim="400000"/>
          </a:ln>
        </p:spPr>
      </p:pic>
      <p:pic>
        <p:nvPicPr>
          <p:cNvPr id="785" name="pasted-movie.png" descr="pasted-movie.png"/>
          <p:cNvPicPr>
            <a:picLocks noChangeAspect="1"/>
          </p:cNvPicPr>
          <p:nvPr/>
        </p:nvPicPr>
        <p:blipFill>
          <a:blip r:embed="rId3">
            <a:extLst/>
          </a:blip>
          <a:stretch>
            <a:fillRect/>
          </a:stretch>
        </p:blipFill>
        <p:spPr>
          <a:xfrm>
            <a:off x="1339457" y="6666478"/>
            <a:ext cx="2223085" cy="2223085"/>
          </a:xfrm>
          <a:prstGeom prst="rect">
            <a:avLst/>
          </a:prstGeom>
          <a:ln w="12700">
            <a:miter lim="400000"/>
          </a:ln>
        </p:spPr>
      </p:pic>
      <p:sp>
        <p:nvSpPr>
          <p:cNvPr id="786" name="Sanity test triggered by push…"/>
          <p:cNvSpPr/>
          <p:nvPr/>
        </p:nvSpPr>
        <p:spPr>
          <a:xfrm>
            <a:off x="4212479" y="3861991"/>
            <a:ext cx="10107325" cy="1742627"/>
          </a:xfrm>
          <a:prstGeom prst="rect">
            <a:avLst/>
          </a:prstGeom>
          <a:solidFill>
            <a:srgbClr val="565E82"/>
          </a:solidFill>
          <a:ln w="38100">
            <a:solidFill>
              <a:srgbClr val="2D4582"/>
            </a:solidFill>
            <a:miter lim="400000"/>
          </a:ln>
          <a:extLst>
            <a:ext uri="{C572A759-6A51-4108-AA02-DFA0A04FC94B}">
              <ma14:wrappingTextBoxFlag xmlns:ma14="http://schemas.microsoft.com/office/mac/drawingml/2011/main" val="1"/>
            </a:ext>
          </a:extLst>
        </p:spPr>
        <p:txBody>
          <a:bodyPr lIns="50800" tIns="50800" rIns="50800" bIns="50800" anchor="ctr"/>
          <a:lstStyle/>
          <a:p>
            <a:pPr>
              <a:defRPr spc="96" sz="3200">
                <a:solidFill>
                  <a:srgbClr val="FFFFFF"/>
                </a:solidFill>
              </a:defRPr>
            </a:pPr>
            <a:r>
              <a:t xml:space="preserve">Sanity test triggered by push </a:t>
            </a:r>
          </a:p>
          <a:p>
            <a:pPr>
              <a:defRPr spc="96" sz="3200">
                <a:solidFill>
                  <a:srgbClr val="FFFFFF"/>
                </a:solidFill>
              </a:defRPr>
            </a:pPr>
            <a:r>
              <a:t>or merge requests</a:t>
            </a:r>
          </a:p>
        </p:txBody>
      </p:sp>
      <p:sp>
        <p:nvSpPr>
          <p:cNvPr id="787" name="Daily scheduled builds"/>
          <p:cNvSpPr/>
          <p:nvPr/>
        </p:nvSpPr>
        <p:spPr>
          <a:xfrm>
            <a:off x="4212479" y="6906707"/>
            <a:ext cx="10107325" cy="1742628"/>
          </a:xfrm>
          <a:prstGeom prst="rect">
            <a:avLst/>
          </a:prstGeom>
          <a:solidFill>
            <a:srgbClr val="565E82"/>
          </a:solidFill>
          <a:ln w="38100">
            <a:solidFill>
              <a:srgbClr val="2D4582"/>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6" sz="3200">
                <a:solidFill>
                  <a:srgbClr val="FFFFFF"/>
                </a:solidFill>
              </a:defRPr>
            </a:lvl1pPr>
          </a:lstStyle>
          <a:p>
            <a:pPr/>
            <a:r>
              <a:t>Daily scheduled builds</a:t>
            </a:r>
          </a:p>
        </p:txBody>
      </p:sp>
      <p:pic>
        <p:nvPicPr>
          <p:cNvPr id="788" name="pasted-movie.png" descr="pasted-movie.png"/>
          <p:cNvPicPr>
            <a:picLocks noChangeAspect="1"/>
          </p:cNvPicPr>
          <p:nvPr/>
        </p:nvPicPr>
        <p:blipFill>
          <a:blip r:embed="rId4">
            <a:extLst/>
          </a:blip>
          <a:stretch>
            <a:fillRect/>
          </a:stretch>
        </p:blipFill>
        <p:spPr>
          <a:xfrm>
            <a:off x="1410229" y="9807465"/>
            <a:ext cx="2081541" cy="2081542"/>
          </a:xfrm>
          <a:prstGeom prst="rect">
            <a:avLst/>
          </a:prstGeom>
          <a:ln w="12700">
            <a:miter lim="400000"/>
          </a:ln>
        </p:spPr>
      </p:pic>
      <p:sp>
        <p:nvSpPr>
          <p:cNvPr id="789" name="Artifacts for result analysis"/>
          <p:cNvSpPr/>
          <p:nvPr/>
        </p:nvSpPr>
        <p:spPr>
          <a:xfrm>
            <a:off x="4212479" y="9951422"/>
            <a:ext cx="10107325" cy="1742628"/>
          </a:xfrm>
          <a:prstGeom prst="rect">
            <a:avLst/>
          </a:prstGeom>
          <a:solidFill>
            <a:srgbClr val="565E82"/>
          </a:solidFill>
          <a:ln w="38100">
            <a:solidFill>
              <a:srgbClr val="2D4582"/>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6" sz="3200">
                <a:solidFill>
                  <a:srgbClr val="FFFFFF"/>
                </a:solidFill>
              </a:defRPr>
            </a:lvl1pPr>
          </a:lstStyle>
          <a:p>
            <a:pPr/>
            <a:r>
              <a:t>Artifacts for result analysis</a:t>
            </a:r>
          </a:p>
        </p:txBody>
      </p:sp>
      <p:pic>
        <p:nvPicPr>
          <p:cNvPr id="790" name="Screenshot from 2026-02-12 13-29-26.png" descr="Screenshot from 2026-02-12 13-29-26.png"/>
          <p:cNvPicPr>
            <a:picLocks noChangeAspect="1"/>
          </p:cNvPicPr>
          <p:nvPr/>
        </p:nvPicPr>
        <p:blipFill>
          <a:blip r:embed="rId5">
            <a:extLst/>
          </a:blip>
          <a:stretch>
            <a:fillRect/>
          </a:stretch>
        </p:blipFill>
        <p:spPr>
          <a:xfrm>
            <a:off x="14969742" y="3095746"/>
            <a:ext cx="8964090" cy="9364548"/>
          </a:xfrm>
          <a:prstGeom prst="rect">
            <a:avLst/>
          </a:prstGeom>
          <a:ln w="12700">
            <a:miter lim="400000"/>
          </a:ln>
        </p:spPr>
      </p:pic>
      <p:grpSp>
        <p:nvGrpSpPr>
          <p:cNvPr id="803" name="Google Shape;1534;p132"/>
          <p:cNvGrpSpPr/>
          <p:nvPr/>
        </p:nvGrpSpPr>
        <p:grpSpPr>
          <a:xfrm>
            <a:off x="4022244" y="12655073"/>
            <a:ext cx="15813903" cy="926116"/>
            <a:chOff x="0" y="0"/>
            <a:chExt cx="15813901" cy="926115"/>
          </a:xfrm>
        </p:grpSpPr>
        <p:grpSp>
          <p:nvGrpSpPr>
            <p:cNvPr id="793" name="Google Shape;1535;p132"/>
            <p:cNvGrpSpPr/>
            <p:nvPr/>
          </p:nvGrpSpPr>
          <p:grpSpPr>
            <a:xfrm>
              <a:off x="11585670" y="165308"/>
              <a:ext cx="4228232" cy="595499"/>
              <a:chOff x="0" y="0"/>
              <a:chExt cx="4228231" cy="595498"/>
            </a:xfrm>
          </p:grpSpPr>
          <p:sp>
            <p:nvSpPr>
              <p:cNvPr id="791"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792"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796" name="Google Shape;1536;p132"/>
            <p:cNvGrpSpPr/>
            <p:nvPr/>
          </p:nvGrpSpPr>
          <p:grpSpPr>
            <a:xfrm>
              <a:off x="7724657" y="165308"/>
              <a:ext cx="4228233" cy="595499"/>
              <a:chOff x="0" y="0"/>
              <a:chExt cx="4228231" cy="595498"/>
            </a:xfrm>
          </p:grpSpPr>
          <p:sp>
            <p:nvSpPr>
              <p:cNvPr id="794"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795"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799" name="Google Shape;1537;p132"/>
            <p:cNvGrpSpPr/>
            <p:nvPr/>
          </p:nvGrpSpPr>
          <p:grpSpPr>
            <a:xfrm>
              <a:off x="3858564" y="-1"/>
              <a:ext cx="4228232" cy="926117"/>
              <a:chOff x="0" y="0"/>
              <a:chExt cx="4228231" cy="926115"/>
            </a:xfrm>
          </p:grpSpPr>
          <p:sp>
            <p:nvSpPr>
              <p:cNvPr id="797" name="Chevron"/>
              <p:cNvSpPr/>
              <p:nvPr/>
            </p:nvSpPr>
            <p:spPr>
              <a:xfrm>
                <a:off x="0" y="208171"/>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798"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Scenario Variation and Testing</a:t>
                </a:r>
              </a:p>
            </p:txBody>
          </p:sp>
        </p:grpSp>
        <p:grpSp>
          <p:nvGrpSpPr>
            <p:cNvPr id="802" name="Google Shape;1538;p132"/>
            <p:cNvGrpSpPr/>
            <p:nvPr/>
          </p:nvGrpSpPr>
          <p:grpSpPr>
            <a:xfrm>
              <a:off x="0" y="165308"/>
              <a:ext cx="4228232" cy="595499"/>
              <a:chOff x="0" y="0"/>
              <a:chExt cx="4228231" cy="595498"/>
            </a:xfrm>
          </p:grpSpPr>
          <p:sp>
            <p:nvSpPr>
              <p:cNvPr id="800" name="Chevron"/>
              <p:cNvSpPr/>
              <p:nvPr/>
            </p:nvSpPr>
            <p:spPr>
              <a:xfrm>
                <a:off x="0" y="42862"/>
                <a:ext cx="4228232" cy="509774"/>
              </a:xfrm>
              <a:prstGeom prst="chevron">
                <a:avLst>
                  <a:gd name="adj" fmla="val 50000"/>
                </a:avLst>
              </a:prstGeom>
              <a:solidFill>
                <a:srgbClr val="629DD1"/>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801"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System Showcase</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84"/>
                                        </p:tgtEl>
                                        <p:attrNameLst>
                                          <p:attrName>style.visibility</p:attrName>
                                        </p:attrNameLst>
                                      </p:cBhvr>
                                      <p:to>
                                        <p:strVal val="visible"/>
                                      </p:to>
                                    </p:set>
                                    <p:animEffect filter="fade" transition="in">
                                      <p:cBhvr>
                                        <p:cTn id="7" dur="300"/>
                                        <p:tgtEl>
                                          <p:spTgt spid="784"/>
                                        </p:tgtEl>
                                      </p:cBhvr>
                                    </p:animEffect>
                                  </p:childTnLst>
                                </p:cTn>
                              </p:par>
                            </p:childTnLst>
                          </p:cTn>
                        </p:par>
                        <p:par>
                          <p:cTn id="8" fill="hold">
                            <p:stCondLst>
                              <p:cond delay="300"/>
                            </p:stCondLst>
                            <p:childTnLst>
                              <p:par>
                                <p:cTn id="9" presetClass="entr" nodeType="afterEffect" presetID="10" grpId="2" fill="hold">
                                  <p:stCondLst>
                                    <p:cond delay="0"/>
                                  </p:stCondLst>
                                  <p:iterate type="el" backwards="0">
                                    <p:tmAbs val="0"/>
                                  </p:iterate>
                                  <p:childTnLst>
                                    <p:set>
                                      <p:cBhvr>
                                        <p:cTn id="10" fill="hold"/>
                                        <p:tgtEl>
                                          <p:spTgt spid="786"/>
                                        </p:tgtEl>
                                        <p:attrNameLst>
                                          <p:attrName>style.visibility</p:attrName>
                                        </p:attrNameLst>
                                      </p:cBhvr>
                                      <p:to>
                                        <p:strVal val="visible"/>
                                      </p:to>
                                    </p:set>
                                    <p:animEffect filter="fade" transition="in">
                                      <p:cBhvr>
                                        <p:cTn id="11" dur="300"/>
                                        <p:tgtEl>
                                          <p:spTgt spid="78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785"/>
                                        </p:tgtEl>
                                        <p:attrNameLst>
                                          <p:attrName>style.visibility</p:attrName>
                                        </p:attrNameLst>
                                      </p:cBhvr>
                                      <p:to>
                                        <p:strVal val="visible"/>
                                      </p:to>
                                    </p:set>
                                    <p:animEffect filter="fade" transition="in">
                                      <p:cBhvr>
                                        <p:cTn id="16" dur="300"/>
                                        <p:tgtEl>
                                          <p:spTgt spid="785"/>
                                        </p:tgtEl>
                                      </p:cBhvr>
                                    </p:animEffect>
                                  </p:childTnLst>
                                </p:cTn>
                              </p:par>
                            </p:childTnLst>
                          </p:cTn>
                        </p:par>
                        <p:par>
                          <p:cTn id="17" fill="hold">
                            <p:stCondLst>
                              <p:cond delay="300"/>
                            </p:stCondLst>
                            <p:childTnLst>
                              <p:par>
                                <p:cTn id="18" presetClass="entr" nodeType="afterEffect" presetID="10" grpId="4" fill="hold">
                                  <p:stCondLst>
                                    <p:cond delay="0"/>
                                  </p:stCondLst>
                                  <p:iterate type="el" backwards="0">
                                    <p:tmAbs val="0"/>
                                  </p:iterate>
                                  <p:childTnLst>
                                    <p:set>
                                      <p:cBhvr>
                                        <p:cTn id="19" fill="hold"/>
                                        <p:tgtEl>
                                          <p:spTgt spid="787"/>
                                        </p:tgtEl>
                                        <p:attrNameLst>
                                          <p:attrName>style.visibility</p:attrName>
                                        </p:attrNameLst>
                                      </p:cBhvr>
                                      <p:to>
                                        <p:strVal val="visible"/>
                                      </p:to>
                                    </p:set>
                                    <p:animEffect filter="fade" transition="in">
                                      <p:cBhvr>
                                        <p:cTn id="20" dur="300"/>
                                        <p:tgtEl>
                                          <p:spTgt spid="787"/>
                                        </p:tgtEl>
                                      </p:cBhvr>
                                    </p:animEffect>
                                  </p:childTnLst>
                                </p:cTn>
                              </p:par>
                            </p:childTnLst>
                          </p:cTn>
                        </p:par>
                        <p:par>
                          <p:cTn id="21" fill="hold">
                            <p:stCondLst>
                              <p:cond delay="600"/>
                            </p:stCondLst>
                            <p:childTnLst>
                              <p:par>
                                <p:cTn id="22" presetClass="entr" nodeType="afterEffect" presetID="10" grpId="5" fill="hold">
                                  <p:stCondLst>
                                    <p:cond delay="0"/>
                                  </p:stCondLst>
                                  <p:iterate type="el" backwards="0">
                                    <p:tmAbs val="0"/>
                                  </p:iterate>
                                  <p:childTnLst>
                                    <p:set>
                                      <p:cBhvr>
                                        <p:cTn id="23" fill="hold"/>
                                        <p:tgtEl>
                                          <p:spTgt spid="790"/>
                                        </p:tgtEl>
                                        <p:attrNameLst>
                                          <p:attrName>style.visibility</p:attrName>
                                        </p:attrNameLst>
                                      </p:cBhvr>
                                      <p:to>
                                        <p:strVal val="visible"/>
                                      </p:to>
                                    </p:set>
                                    <p:animEffect filter="fade" transition="in">
                                      <p:cBhvr>
                                        <p:cTn id="24" dur="300"/>
                                        <p:tgtEl>
                                          <p:spTgt spid="790"/>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788"/>
                                        </p:tgtEl>
                                        <p:attrNameLst>
                                          <p:attrName>style.visibility</p:attrName>
                                        </p:attrNameLst>
                                      </p:cBhvr>
                                      <p:to>
                                        <p:strVal val="visible"/>
                                      </p:to>
                                    </p:set>
                                    <p:animEffect filter="fade" transition="in">
                                      <p:cBhvr>
                                        <p:cTn id="29" dur="300"/>
                                        <p:tgtEl>
                                          <p:spTgt spid="788"/>
                                        </p:tgtEl>
                                      </p:cBhvr>
                                    </p:animEffect>
                                  </p:childTnLst>
                                </p:cTn>
                              </p:par>
                            </p:childTnLst>
                          </p:cTn>
                        </p:par>
                        <p:par>
                          <p:cTn id="30" fill="hold">
                            <p:stCondLst>
                              <p:cond delay="300"/>
                            </p:stCondLst>
                            <p:childTnLst>
                              <p:par>
                                <p:cTn id="31" presetClass="entr" nodeType="afterEffect" presetID="10" grpId="7" fill="hold">
                                  <p:stCondLst>
                                    <p:cond delay="0"/>
                                  </p:stCondLst>
                                  <p:iterate type="el" backwards="0">
                                    <p:tmAbs val="0"/>
                                  </p:iterate>
                                  <p:childTnLst>
                                    <p:set>
                                      <p:cBhvr>
                                        <p:cTn id="32" fill="hold"/>
                                        <p:tgtEl>
                                          <p:spTgt spid="789"/>
                                        </p:tgtEl>
                                        <p:attrNameLst>
                                          <p:attrName>style.visibility</p:attrName>
                                        </p:attrNameLst>
                                      </p:cBhvr>
                                      <p:to>
                                        <p:strVal val="visible"/>
                                      </p:to>
                                    </p:set>
                                    <p:animEffect filter="fade" transition="in">
                                      <p:cBhvr>
                                        <p:cTn id="33" dur="300"/>
                                        <p:tgtEl>
                                          <p:spTgt spid="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86" grpId="2"/>
      <p:bldP build="whole" bldLvl="1" animBg="1" rev="0" advAuto="0" spid="788" grpId="6"/>
      <p:bldP build="whole" bldLvl="1" animBg="1" rev="0" advAuto="0" spid="789" grpId="7"/>
      <p:bldP build="whole" bldLvl="1" animBg="1" rev="0" advAuto="0" spid="785" grpId="3"/>
      <p:bldP build="whole" bldLvl="1" animBg="1" rev="0" advAuto="0" spid="784" grpId="1"/>
      <p:bldP build="whole" bldLvl="1" animBg="1" rev="0" advAuto="0" spid="790" grpId="5"/>
      <p:bldP build="whole" bldLvl="1" animBg="1" rev="0" advAuto="0" spid="787" grpId="4"/>
    </p:bldLst>
  </p:timing>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6" name="Innovation - AI-Assisted Triage"/>
          <p:cNvSpPr txBox="1"/>
          <p:nvPr>
            <p:ph type="title"/>
          </p:nvPr>
        </p:nvSpPr>
        <p:spPr>
          <a:prstGeom prst="rect">
            <a:avLst/>
          </a:prstGeom>
        </p:spPr>
        <p:txBody>
          <a:bodyPr/>
          <a:lstStyle>
            <a:lvl1pPr defTabSz="2145791">
              <a:defRPr spc="211" sz="7040"/>
            </a:lvl1pPr>
          </a:lstStyle>
          <a:p>
            <a:pPr/>
            <a:r>
              <a:t>Innovation - AI-Assisted Triage</a:t>
            </a:r>
          </a:p>
        </p:txBody>
      </p:sp>
      <p:pic>
        <p:nvPicPr>
          <p:cNvPr id="807" name="pasted-image.tiff" descr="pasted-image.tiff"/>
          <p:cNvPicPr>
            <a:picLocks noChangeAspect="1"/>
          </p:cNvPicPr>
          <p:nvPr/>
        </p:nvPicPr>
        <p:blipFill>
          <a:blip r:embed="rId2">
            <a:extLst/>
          </a:blip>
          <a:stretch>
            <a:fillRect/>
          </a:stretch>
        </p:blipFill>
        <p:spPr>
          <a:xfrm>
            <a:off x="4154505" y="3534645"/>
            <a:ext cx="4250243" cy="1466334"/>
          </a:xfrm>
          <a:prstGeom prst="rect">
            <a:avLst/>
          </a:prstGeom>
          <a:ln w="12700">
            <a:miter lim="400000"/>
          </a:ln>
        </p:spPr>
      </p:pic>
      <p:sp>
        <p:nvSpPr>
          <p:cNvPr id="808" name="Locally-built large language model (LLM)"/>
          <p:cNvSpPr/>
          <p:nvPr/>
        </p:nvSpPr>
        <p:spPr>
          <a:xfrm>
            <a:off x="9441307" y="3087891"/>
            <a:ext cx="14438918" cy="1084501"/>
          </a:xfrm>
          <a:prstGeom prst="rect">
            <a:avLst/>
          </a:prstGeom>
          <a:solidFill>
            <a:srgbClr val="FFE68E"/>
          </a:solidFill>
          <a:ln w="38100">
            <a:solidFill>
              <a:srgbClr val="FFCC99"/>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3" sz="3100"/>
            </a:lvl1pPr>
          </a:lstStyle>
          <a:p>
            <a:pPr/>
            <a:r>
              <a:t>Locally-built large language model (LLM)</a:t>
            </a:r>
          </a:p>
        </p:txBody>
      </p:sp>
      <p:sp>
        <p:nvSpPr>
          <p:cNvPr id="809" name="Line"/>
          <p:cNvSpPr/>
          <p:nvPr/>
        </p:nvSpPr>
        <p:spPr>
          <a:xfrm>
            <a:off x="12920424" y="6023224"/>
            <a:ext cx="1" cy="1056449"/>
          </a:xfrm>
          <a:prstGeom prst="line">
            <a:avLst/>
          </a:prstGeom>
          <a:ln w="50800">
            <a:solidFill>
              <a:srgbClr val="000000"/>
            </a:solidFill>
            <a:miter lim="400000"/>
            <a:tailEnd type="triangle"/>
          </a:ln>
        </p:spPr>
        <p:txBody>
          <a:bodyPr lIns="50800" tIns="50800" rIns="50800" bIns="50800" anchor="ctr"/>
          <a:lstStyle/>
          <a:p>
            <a:pPr defTabSz="2438400">
              <a:lnSpc>
                <a:spcPct val="90000"/>
              </a:lnSpc>
              <a:defRPr b="0" spc="0" sz="2400"/>
            </a:pPr>
          </a:p>
        </p:txBody>
      </p:sp>
      <p:sp>
        <p:nvSpPr>
          <p:cNvPr id="810" name="Store semantic representation of codebase for context-aware analysis"/>
          <p:cNvSpPr/>
          <p:nvPr/>
        </p:nvSpPr>
        <p:spPr>
          <a:xfrm>
            <a:off x="9441307" y="4539146"/>
            <a:ext cx="14438918" cy="1219078"/>
          </a:xfrm>
          <a:prstGeom prst="rect">
            <a:avLst/>
          </a:prstGeom>
          <a:solidFill>
            <a:srgbClr val="FFE68E"/>
          </a:solidFill>
          <a:ln w="38100">
            <a:solidFill>
              <a:srgbClr val="FFCC99"/>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3" sz="3100"/>
            </a:lvl1pPr>
          </a:lstStyle>
          <a:p>
            <a:pPr/>
            <a:r>
              <a:t>Store semantic representation of codebase for context-aware analysis</a:t>
            </a:r>
          </a:p>
        </p:txBody>
      </p:sp>
      <p:pic>
        <p:nvPicPr>
          <p:cNvPr id="811" name="pasted-image.tiff" descr="pasted-image.tiff"/>
          <p:cNvPicPr>
            <a:picLocks noChangeAspect="1"/>
          </p:cNvPicPr>
          <p:nvPr/>
        </p:nvPicPr>
        <p:blipFill>
          <a:blip r:embed="rId3">
            <a:extLst/>
          </a:blip>
          <a:stretch>
            <a:fillRect/>
          </a:stretch>
        </p:blipFill>
        <p:spPr>
          <a:xfrm>
            <a:off x="4318000" y="7251441"/>
            <a:ext cx="4426668" cy="1466335"/>
          </a:xfrm>
          <a:prstGeom prst="rect">
            <a:avLst/>
          </a:prstGeom>
          <a:ln w="12700">
            <a:miter lim="400000"/>
          </a:ln>
        </p:spPr>
      </p:pic>
      <p:sp>
        <p:nvSpPr>
          <p:cNvPr id="812" name="Create a secure bridge to expose local LLM to web-based CI/CD dashboard"/>
          <p:cNvSpPr/>
          <p:nvPr/>
        </p:nvSpPr>
        <p:spPr>
          <a:xfrm>
            <a:off x="9441307" y="7240058"/>
            <a:ext cx="14438918" cy="1428234"/>
          </a:xfrm>
          <a:prstGeom prst="rect">
            <a:avLst/>
          </a:prstGeom>
          <a:solidFill>
            <a:srgbClr val="FFE68E"/>
          </a:solidFill>
          <a:ln w="38100">
            <a:solidFill>
              <a:srgbClr val="FFCC99"/>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3" sz="3100"/>
            </a:lvl1pPr>
          </a:lstStyle>
          <a:p>
            <a:pPr/>
            <a:r>
              <a:t>Create a secure bridge to expose local LLM to web-based CI/CD dashboard</a:t>
            </a:r>
          </a:p>
        </p:txBody>
      </p:sp>
      <p:pic>
        <p:nvPicPr>
          <p:cNvPr id="813" name="pasted-image.tiff" descr="pasted-image.tiff"/>
          <p:cNvPicPr>
            <a:picLocks noChangeAspect="1"/>
          </p:cNvPicPr>
          <p:nvPr/>
        </p:nvPicPr>
        <p:blipFill>
          <a:blip r:embed="rId4">
            <a:extLst/>
          </a:blip>
          <a:stretch>
            <a:fillRect/>
          </a:stretch>
        </p:blipFill>
        <p:spPr>
          <a:xfrm>
            <a:off x="11707324" y="10298907"/>
            <a:ext cx="2426201" cy="2426201"/>
          </a:xfrm>
          <a:prstGeom prst="rect">
            <a:avLst/>
          </a:prstGeom>
          <a:ln w="12700">
            <a:miter lim="400000"/>
          </a:ln>
        </p:spPr>
      </p:pic>
      <p:sp>
        <p:nvSpPr>
          <p:cNvPr id="814" name="Line"/>
          <p:cNvSpPr/>
          <p:nvPr/>
        </p:nvSpPr>
        <p:spPr>
          <a:xfrm flipH="1">
            <a:off x="9675997" y="11301250"/>
            <a:ext cx="1713130" cy="1"/>
          </a:xfrm>
          <a:prstGeom prst="line">
            <a:avLst/>
          </a:prstGeom>
          <a:ln w="50800">
            <a:solidFill>
              <a:srgbClr val="000000"/>
            </a:solidFill>
            <a:miter lim="400000"/>
            <a:tailEnd type="triangle"/>
          </a:ln>
        </p:spPr>
        <p:txBody>
          <a:bodyPr lIns="50800" tIns="50800" rIns="50800" bIns="50800" anchor="ctr"/>
          <a:lstStyle/>
          <a:p>
            <a:pPr defTabSz="2438400">
              <a:lnSpc>
                <a:spcPct val="90000"/>
              </a:lnSpc>
              <a:defRPr b="0" spc="0" sz="2400"/>
            </a:pPr>
          </a:p>
        </p:txBody>
      </p:sp>
      <p:pic>
        <p:nvPicPr>
          <p:cNvPr id="815" name="pasted-image.tiff" descr="pasted-image.tiff"/>
          <p:cNvPicPr>
            <a:picLocks noChangeAspect="1"/>
          </p:cNvPicPr>
          <p:nvPr/>
        </p:nvPicPr>
        <p:blipFill>
          <a:blip r:embed="rId5">
            <a:extLst/>
          </a:blip>
          <a:stretch>
            <a:fillRect/>
          </a:stretch>
        </p:blipFill>
        <p:spPr>
          <a:xfrm>
            <a:off x="3685764" y="9332030"/>
            <a:ext cx="4762717" cy="1828114"/>
          </a:xfrm>
          <a:prstGeom prst="rect">
            <a:avLst/>
          </a:prstGeom>
          <a:ln w="12700">
            <a:miter lim="400000"/>
          </a:ln>
        </p:spPr>
      </p:pic>
      <p:sp>
        <p:nvSpPr>
          <p:cNvPr id="816" name="Obtain commit information (code differences, simulation results)"/>
          <p:cNvSpPr/>
          <p:nvPr/>
        </p:nvSpPr>
        <p:spPr>
          <a:xfrm>
            <a:off x="2626415" y="10987288"/>
            <a:ext cx="6881415" cy="1428234"/>
          </a:xfrm>
          <a:prstGeom prst="rect">
            <a:avLst/>
          </a:prstGeom>
          <a:solidFill>
            <a:srgbClr val="FFE68E"/>
          </a:solidFill>
          <a:ln w="38100">
            <a:solidFill>
              <a:srgbClr val="FFCC99"/>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3" sz="3100"/>
            </a:lvl1pPr>
          </a:lstStyle>
          <a:p>
            <a:pPr/>
            <a:r>
              <a:t>Obtain commit information (code differences, simulation results)</a:t>
            </a:r>
          </a:p>
        </p:txBody>
      </p:sp>
      <p:sp>
        <p:nvSpPr>
          <p:cNvPr id="817" name="Line"/>
          <p:cNvSpPr/>
          <p:nvPr/>
        </p:nvSpPr>
        <p:spPr>
          <a:xfrm>
            <a:off x="12920425" y="8828678"/>
            <a:ext cx="1" cy="1328895"/>
          </a:xfrm>
          <a:prstGeom prst="line">
            <a:avLst/>
          </a:prstGeom>
          <a:ln w="50800">
            <a:solidFill>
              <a:srgbClr val="000000"/>
            </a:solidFill>
            <a:miter lim="400000"/>
            <a:tailEnd type="triangle"/>
          </a:ln>
        </p:spPr>
        <p:txBody>
          <a:bodyPr lIns="50800" tIns="50800" rIns="50800" bIns="50800" anchor="ctr"/>
          <a:lstStyle/>
          <a:p>
            <a:pPr defTabSz="2438400">
              <a:lnSpc>
                <a:spcPct val="90000"/>
              </a:lnSpc>
              <a:defRPr b="0" spc="0" sz="2400"/>
            </a:pPr>
          </a:p>
        </p:txBody>
      </p:sp>
      <p:sp>
        <p:nvSpPr>
          <p:cNvPr id="818" name="Line"/>
          <p:cNvSpPr/>
          <p:nvPr/>
        </p:nvSpPr>
        <p:spPr>
          <a:xfrm>
            <a:off x="14558404" y="11468723"/>
            <a:ext cx="1713129" cy="1"/>
          </a:xfrm>
          <a:prstGeom prst="line">
            <a:avLst/>
          </a:prstGeom>
          <a:ln w="50800">
            <a:solidFill>
              <a:srgbClr val="000000"/>
            </a:solidFill>
            <a:miter lim="400000"/>
            <a:tailEnd type="triangle"/>
          </a:ln>
        </p:spPr>
        <p:txBody>
          <a:bodyPr lIns="50800" tIns="50800" rIns="50800" bIns="50800" anchor="ctr"/>
          <a:lstStyle/>
          <a:p>
            <a:pPr defTabSz="2438400">
              <a:lnSpc>
                <a:spcPct val="90000"/>
              </a:lnSpc>
              <a:defRPr b="0" spc="0" sz="2400"/>
            </a:pPr>
          </a:p>
        </p:txBody>
      </p:sp>
      <p:sp>
        <p:nvSpPr>
          <p:cNvPr id="819" name="AI-assisted triage"/>
          <p:cNvSpPr/>
          <p:nvPr/>
        </p:nvSpPr>
        <p:spPr>
          <a:xfrm>
            <a:off x="16715461" y="10797891"/>
            <a:ext cx="6881415" cy="1428234"/>
          </a:xfrm>
          <a:prstGeom prst="rect">
            <a:avLst/>
          </a:prstGeom>
          <a:solidFill>
            <a:srgbClr val="FFE68E"/>
          </a:solidFill>
          <a:ln w="38100">
            <a:solidFill>
              <a:srgbClr val="FFCC99"/>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93" sz="3100"/>
            </a:lvl1pPr>
          </a:lstStyle>
          <a:p>
            <a:pPr/>
            <a:r>
              <a:t>AI-assisted triage</a:t>
            </a:r>
          </a:p>
        </p:txBody>
      </p:sp>
      <p:pic>
        <p:nvPicPr>
          <p:cNvPr id="820" name="pasted-image.tiff" descr="pasted-image.tiff"/>
          <p:cNvPicPr>
            <a:picLocks noChangeAspect="1"/>
          </p:cNvPicPr>
          <p:nvPr/>
        </p:nvPicPr>
        <p:blipFill>
          <a:blip r:embed="rId6">
            <a:extLst/>
          </a:blip>
          <a:srcRect l="0" t="0" r="0" b="15682"/>
          <a:stretch>
            <a:fillRect/>
          </a:stretch>
        </p:blipFill>
        <p:spPr>
          <a:xfrm>
            <a:off x="16313971" y="9004164"/>
            <a:ext cx="3023653" cy="1699651"/>
          </a:xfrm>
          <a:prstGeom prst="rect">
            <a:avLst/>
          </a:prstGeom>
          <a:ln w="12700">
            <a:miter lim="400000"/>
          </a:ln>
        </p:spPr>
      </p:pic>
      <p:grpSp>
        <p:nvGrpSpPr>
          <p:cNvPr id="833" name="Google Shape;1534;p132"/>
          <p:cNvGrpSpPr/>
          <p:nvPr/>
        </p:nvGrpSpPr>
        <p:grpSpPr>
          <a:xfrm>
            <a:off x="4022244" y="12655073"/>
            <a:ext cx="15813903" cy="926116"/>
            <a:chOff x="0" y="0"/>
            <a:chExt cx="15813901" cy="926115"/>
          </a:xfrm>
        </p:grpSpPr>
        <p:grpSp>
          <p:nvGrpSpPr>
            <p:cNvPr id="823" name="Google Shape;1535;p132"/>
            <p:cNvGrpSpPr/>
            <p:nvPr/>
          </p:nvGrpSpPr>
          <p:grpSpPr>
            <a:xfrm>
              <a:off x="11585670" y="165308"/>
              <a:ext cx="4228232" cy="595499"/>
              <a:chOff x="0" y="0"/>
              <a:chExt cx="4228231" cy="595498"/>
            </a:xfrm>
          </p:grpSpPr>
          <p:sp>
            <p:nvSpPr>
              <p:cNvPr id="821"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822"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826" name="Google Shape;1536;p132"/>
            <p:cNvGrpSpPr/>
            <p:nvPr/>
          </p:nvGrpSpPr>
          <p:grpSpPr>
            <a:xfrm>
              <a:off x="7724657" y="165308"/>
              <a:ext cx="4228233" cy="595499"/>
              <a:chOff x="0" y="0"/>
              <a:chExt cx="4228231" cy="595498"/>
            </a:xfrm>
          </p:grpSpPr>
          <p:sp>
            <p:nvSpPr>
              <p:cNvPr id="824"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825"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829" name="Google Shape;1537;p132"/>
            <p:cNvGrpSpPr/>
            <p:nvPr/>
          </p:nvGrpSpPr>
          <p:grpSpPr>
            <a:xfrm>
              <a:off x="3858564" y="-1"/>
              <a:ext cx="4228232" cy="926117"/>
              <a:chOff x="0" y="0"/>
              <a:chExt cx="4228231" cy="926115"/>
            </a:xfrm>
          </p:grpSpPr>
          <p:sp>
            <p:nvSpPr>
              <p:cNvPr id="827" name="Chevron"/>
              <p:cNvSpPr/>
              <p:nvPr/>
            </p:nvSpPr>
            <p:spPr>
              <a:xfrm>
                <a:off x="0" y="208171"/>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828"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Scenario Variation and Testing</a:t>
                </a:r>
              </a:p>
            </p:txBody>
          </p:sp>
        </p:grpSp>
        <p:grpSp>
          <p:nvGrpSpPr>
            <p:cNvPr id="832" name="Google Shape;1538;p132"/>
            <p:cNvGrpSpPr/>
            <p:nvPr/>
          </p:nvGrpSpPr>
          <p:grpSpPr>
            <a:xfrm>
              <a:off x="0" y="165308"/>
              <a:ext cx="4228232" cy="595499"/>
              <a:chOff x="0" y="0"/>
              <a:chExt cx="4228231" cy="595498"/>
            </a:xfrm>
          </p:grpSpPr>
          <p:sp>
            <p:nvSpPr>
              <p:cNvPr id="830" name="Chevron"/>
              <p:cNvSpPr/>
              <p:nvPr/>
            </p:nvSpPr>
            <p:spPr>
              <a:xfrm>
                <a:off x="0" y="42862"/>
                <a:ext cx="4228232" cy="509774"/>
              </a:xfrm>
              <a:prstGeom prst="chevron">
                <a:avLst>
                  <a:gd name="adj" fmla="val 50000"/>
                </a:avLst>
              </a:prstGeom>
              <a:solidFill>
                <a:srgbClr val="629DD1"/>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831"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System Showcase</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807"/>
                                        </p:tgtEl>
                                        <p:attrNameLst>
                                          <p:attrName>style.visibility</p:attrName>
                                        </p:attrNameLst>
                                      </p:cBhvr>
                                      <p:to>
                                        <p:strVal val="visible"/>
                                      </p:to>
                                    </p:set>
                                    <p:animEffect filter="fade" transition="in">
                                      <p:cBhvr>
                                        <p:cTn id="7" dur="300"/>
                                        <p:tgtEl>
                                          <p:spTgt spid="807"/>
                                        </p:tgtEl>
                                      </p:cBhvr>
                                    </p:animEffect>
                                  </p:childTnLst>
                                </p:cTn>
                              </p:par>
                            </p:childTnLst>
                          </p:cTn>
                        </p:par>
                        <p:par>
                          <p:cTn id="8" fill="hold">
                            <p:stCondLst>
                              <p:cond delay="300"/>
                            </p:stCondLst>
                            <p:childTnLst>
                              <p:par>
                                <p:cTn id="9" presetClass="entr" nodeType="afterEffect" presetID="10" grpId="2" fill="hold">
                                  <p:stCondLst>
                                    <p:cond delay="0"/>
                                  </p:stCondLst>
                                  <p:iterate type="el" backwards="0">
                                    <p:tmAbs val="0"/>
                                  </p:iterate>
                                  <p:childTnLst>
                                    <p:set>
                                      <p:cBhvr>
                                        <p:cTn id="10" fill="hold"/>
                                        <p:tgtEl>
                                          <p:spTgt spid="808"/>
                                        </p:tgtEl>
                                        <p:attrNameLst>
                                          <p:attrName>style.visibility</p:attrName>
                                        </p:attrNameLst>
                                      </p:cBhvr>
                                      <p:to>
                                        <p:strVal val="visible"/>
                                      </p:to>
                                    </p:set>
                                    <p:animEffect filter="fade" transition="in">
                                      <p:cBhvr>
                                        <p:cTn id="11" dur="300"/>
                                        <p:tgtEl>
                                          <p:spTgt spid="808"/>
                                        </p:tgtEl>
                                      </p:cBhvr>
                                    </p:animEffect>
                                  </p:childTnLst>
                                </p:cTn>
                              </p:par>
                            </p:childTnLst>
                          </p:cTn>
                        </p:par>
                        <p:par>
                          <p:cTn id="12" fill="hold">
                            <p:stCondLst>
                              <p:cond delay="600"/>
                            </p:stCondLst>
                            <p:childTnLst>
                              <p:par>
                                <p:cTn id="13" presetClass="entr" nodeType="afterEffect" presetID="10" grpId="3" fill="hold">
                                  <p:stCondLst>
                                    <p:cond delay="0"/>
                                  </p:stCondLst>
                                  <p:iterate type="el" backwards="0">
                                    <p:tmAbs val="0"/>
                                  </p:iterate>
                                  <p:childTnLst>
                                    <p:set>
                                      <p:cBhvr>
                                        <p:cTn id="14" fill="hold"/>
                                        <p:tgtEl>
                                          <p:spTgt spid="810"/>
                                        </p:tgtEl>
                                        <p:attrNameLst>
                                          <p:attrName>style.visibility</p:attrName>
                                        </p:attrNameLst>
                                      </p:cBhvr>
                                      <p:to>
                                        <p:strVal val="visible"/>
                                      </p:to>
                                    </p:set>
                                    <p:animEffect filter="fade" transition="in">
                                      <p:cBhvr>
                                        <p:cTn id="15" dur="300"/>
                                        <p:tgtEl>
                                          <p:spTgt spid="810"/>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1" presetID="22" grpId="4" fill="hold">
                                  <p:stCondLst>
                                    <p:cond delay="0"/>
                                  </p:stCondLst>
                                  <p:iterate type="el" backwards="0">
                                    <p:tmAbs val="0"/>
                                  </p:iterate>
                                  <p:childTnLst>
                                    <p:set>
                                      <p:cBhvr>
                                        <p:cTn id="19" fill="hold"/>
                                        <p:tgtEl>
                                          <p:spTgt spid="809"/>
                                        </p:tgtEl>
                                        <p:attrNameLst>
                                          <p:attrName>style.visibility</p:attrName>
                                        </p:attrNameLst>
                                      </p:cBhvr>
                                      <p:to>
                                        <p:strVal val="visible"/>
                                      </p:to>
                                    </p:set>
                                    <p:animEffect filter="wipe(up)" transition="in">
                                      <p:cBhvr>
                                        <p:cTn id="20" dur="300"/>
                                        <p:tgtEl>
                                          <p:spTgt spid="809"/>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811"/>
                                        </p:tgtEl>
                                        <p:attrNameLst>
                                          <p:attrName>style.visibility</p:attrName>
                                        </p:attrNameLst>
                                      </p:cBhvr>
                                      <p:to>
                                        <p:strVal val="visible"/>
                                      </p:to>
                                    </p:set>
                                    <p:animEffect filter="fade" transition="in">
                                      <p:cBhvr>
                                        <p:cTn id="25" dur="300"/>
                                        <p:tgtEl>
                                          <p:spTgt spid="811"/>
                                        </p:tgtEl>
                                      </p:cBhvr>
                                    </p:animEffect>
                                  </p:childTnLst>
                                </p:cTn>
                              </p:par>
                            </p:childTnLst>
                          </p:cTn>
                        </p:par>
                        <p:par>
                          <p:cTn id="26" fill="hold">
                            <p:stCondLst>
                              <p:cond delay="300"/>
                            </p:stCondLst>
                            <p:childTnLst>
                              <p:par>
                                <p:cTn id="27" presetClass="entr" nodeType="afterEffect" presetID="10" grpId="6" fill="hold">
                                  <p:stCondLst>
                                    <p:cond delay="0"/>
                                  </p:stCondLst>
                                  <p:iterate type="el" backwards="0">
                                    <p:tmAbs val="0"/>
                                  </p:iterate>
                                  <p:childTnLst>
                                    <p:set>
                                      <p:cBhvr>
                                        <p:cTn id="28" fill="hold"/>
                                        <p:tgtEl>
                                          <p:spTgt spid="812"/>
                                        </p:tgtEl>
                                        <p:attrNameLst>
                                          <p:attrName>style.visibility</p:attrName>
                                        </p:attrNameLst>
                                      </p:cBhvr>
                                      <p:to>
                                        <p:strVal val="visible"/>
                                      </p:to>
                                    </p:set>
                                    <p:animEffect filter="fade" transition="in">
                                      <p:cBhvr>
                                        <p:cTn id="29" dur="300"/>
                                        <p:tgtEl>
                                          <p:spTgt spid="812"/>
                                        </p:tgtEl>
                                      </p:cBhvr>
                                    </p:animEffect>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1" presetID="22" grpId="7" fill="hold">
                                  <p:stCondLst>
                                    <p:cond delay="0"/>
                                  </p:stCondLst>
                                  <p:iterate type="el" backwards="0">
                                    <p:tmAbs val="0"/>
                                  </p:iterate>
                                  <p:childTnLst>
                                    <p:set>
                                      <p:cBhvr>
                                        <p:cTn id="33" fill="hold"/>
                                        <p:tgtEl>
                                          <p:spTgt spid="817"/>
                                        </p:tgtEl>
                                        <p:attrNameLst>
                                          <p:attrName>style.visibility</p:attrName>
                                        </p:attrNameLst>
                                      </p:cBhvr>
                                      <p:to>
                                        <p:strVal val="visible"/>
                                      </p:to>
                                    </p:set>
                                    <p:animEffect filter="wipe(up)" transition="in">
                                      <p:cBhvr>
                                        <p:cTn id="34" dur="300"/>
                                        <p:tgtEl>
                                          <p:spTgt spid="817"/>
                                        </p:tgtEl>
                                      </p:cBhvr>
                                    </p:animEffect>
                                  </p:childTnLst>
                                </p:cTn>
                              </p:par>
                            </p:childTnLst>
                          </p:cTn>
                        </p:par>
                      </p:childTnLst>
                    </p:cTn>
                  </p:par>
                  <p:par>
                    <p:cTn id="35" fill="hold">
                      <p:stCondLst>
                        <p:cond delay="indefinite"/>
                      </p:stCondLst>
                      <p:childTnLst>
                        <p:par>
                          <p:cTn id="36" fill="hold">
                            <p:stCondLst>
                              <p:cond delay="0"/>
                            </p:stCondLst>
                            <p:childTnLst>
                              <p:par>
                                <p:cTn id="37" presetClass="entr" nodeType="clickEffect" presetID="10" grpId="8" fill="hold">
                                  <p:stCondLst>
                                    <p:cond delay="0"/>
                                  </p:stCondLst>
                                  <p:iterate type="el" backwards="0">
                                    <p:tmAbs val="0"/>
                                  </p:iterate>
                                  <p:childTnLst>
                                    <p:set>
                                      <p:cBhvr>
                                        <p:cTn id="38" fill="hold"/>
                                        <p:tgtEl>
                                          <p:spTgt spid="813"/>
                                        </p:tgtEl>
                                        <p:attrNameLst>
                                          <p:attrName>style.visibility</p:attrName>
                                        </p:attrNameLst>
                                      </p:cBhvr>
                                      <p:to>
                                        <p:strVal val="visible"/>
                                      </p:to>
                                    </p:set>
                                    <p:animEffect filter="fade" transition="in">
                                      <p:cBhvr>
                                        <p:cTn id="39" dur="300"/>
                                        <p:tgtEl>
                                          <p:spTgt spid="813"/>
                                        </p:tgtEl>
                                      </p:cBhvr>
                                    </p:animEffect>
                                  </p:childTnLst>
                                </p:cTn>
                              </p:par>
                            </p:childTnLst>
                          </p:cTn>
                        </p:par>
                      </p:childTnLst>
                    </p:cTn>
                  </p:par>
                  <p:par>
                    <p:cTn id="40" fill="hold">
                      <p:stCondLst>
                        <p:cond delay="indefinite"/>
                      </p:stCondLst>
                      <p:childTnLst>
                        <p:par>
                          <p:cTn id="41" fill="hold">
                            <p:stCondLst>
                              <p:cond delay="0"/>
                            </p:stCondLst>
                            <p:childTnLst>
                              <p:par>
                                <p:cTn id="42" presetClass="entr" nodeType="clickEffect" presetSubtype="2" presetID="22" grpId="9" fill="hold">
                                  <p:stCondLst>
                                    <p:cond delay="0"/>
                                  </p:stCondLst>
                                  <p:iterate type="el" backwards="0">
                                    <p:tmAbs val="0"/>
                                  </p:iterate>
                                  <p:childTnLst>
                                    <p:set>
                                      <p:cBhvr>
                                        <p:cTn id="43" fill="hold"/>
                                        <p:tgtEl>
                                          <p:spTgt spid="814"/>
                                        </p:tgtEl>
                                        <p:attrNameLst>
                                          <p:attrName>style.visibility</p:attrName>
                                        </p:attrNameLst>
                                      </p:cBhvr>
                                      <p:to>
                                        <p:strVal val="visible"/>
                                      </p:to>
                                    </p:set>
                                    <p:animEffect filter="wipe(right)" transition="in">
                                      <p:cBhvr>
                                        <p:cTn id="44" dur="300"/>
                                        <p:tgtEl>
                                          <p:spTgt spid="814"/>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ID="10" grpId="10" fill="hold">
                                  <p:stCondLst>
                                    <p:cond delay="0"/>
                                  </p:stCondLst>
                                  <p:iterate type="el" backwards="0">
                                    <p:tmAbs val="0"/>
                                  </p:iterate>
                                  <p:childTnLst>
                                    <p:set>
                                      <p:cBhvr>
                                        <p:cTn id="48" fill="hold"/>
                                        <p:tgtEl>
                                          <p:spTgt spid="815"/>
                                        </p:tgtEl>
                                        <p:attrNameLst>
                                          <p:attrName>style.visibility</p:attrName>
                                        </p:attrNameLst>
                                      </p:cBhvr>
                                      <p:to>
                                        <p:strVal val="visible"/>
                                      </p:to>
                                    </p:set>
                                    <p:animEffect filter="fade" transition="in">
                                      <p:cBhvr>
                                        <p:cTn id="49" dur="300"/>
                                        <p:tgtEl>
                                          <p:spTgt spid="815"/>
                                        </p:tgtEl>
                                      </p:cBhvr>
                                    </p:animEffect>
                                  </p:childTnLst>
                                </p:cTn>
                              </p:par>
                            </p:childTnLst>
                          </p:cTn>
                        </p:par>
                        <p:par>
                          <p:cTn id="50" fill="hold">
                            <p:stCondLst>
                              <p:cond delay="300"/>
                            </p:stCondLst>
                            <p:childTnLst>
                              <p:par>
                                <p:cTn id="51" presetClass="entr" nodeType="afterEffect" presetID="10" grpId="11" fill="hold">
                                  <p:stCondLst>
                                    <p:cond delay="0"/>
                                  </p:stCondLst>
                                  <p:iterate type="el" backwards="0">
                                    <p:tmAbs val="0"/>
                                  </p:iterate>
                                  <p:childTnLst>
                                    <p:set>
                                      <p:cBhvr>
                                        <p:cTn id="52" fill="hold"/>
                                        <p:tgtEl>
                                          <p:spTgt spid="816"/>
                                        </p:tgtEl>
                                        <p:attrNameLst>
                                          <p:attrName>style.visibility</p:attrName>
                                        </p:attrNameLst>
                                      </p:cBhvr>
                                      <p:to>
                                        <p:strVal val="visible"/>
                                      </p:to>
                                    </p:set>
                                    <p:animEffect filter="fade" transition="in">
                                      <p:cBhvr>
                                        <p:cTn id="53" dur="300"/>
                                        <p:tgtEl>
                                          <p:spTgt spid="816"/>
                                        </p:tgtEl>
                                      </p:cBhvr>
                                    </p:animEffect>
                                  </p:childTnLst>
                                </p:cTn>
                              </p:par>
                            </p:childTnLst>
                          </p:cTn>
                        </p:par>
                      </p:childTnLst>
                    </p:cTn>
                  </p:par>
                  <p:par>
                    <p:cTn id="54" fill="hold">
                      <p:stCondLst>
                        <p:cond delay="indefinite"/>
                      </p:stCondLst>
                      <p:childTnLst>
                        <p:par>
                          <p:cTn id="55" fill="hold">
                            <p:stCondLst>
                              <p:cond delay="0"/>
                            </p:stCondLst>
                            <p:childTnLst>
                              <p:par>
                                <p:cTn id="56" presetClass="entr" nodeType="clickEffect" presetSubtype="8" presetID="22" grpId="12" fill="hold">
                                  <p:stCondLst>
                                    <p:cond delay="0"/>
                                  </p:stCondLst>
                                  <p:iterate type="el" backwards="0">
                                    <p:tmAbs val="0"/>
                                  </p:iterate>
                                  <p:childTnLst>
                                    <p:set>
                                      <p:cBhvr>
                                        <p:cTn id="57" fill="hold"/>
                                        <p:tgtEl>
                                          <p:spTgt spid="818"/>
                                        </p:tgtEl>
                                        <p:attrNameLst>
                                          <p:attrName>style.visibility</p:attrName>
                                        </p:attrNameLst>
                                      </p:cBhvr>
                                      <p:to>
                                        <p:strVal val="visible"/>
                                      </p:to>
                                    </p:set>
                                    <p:animEffect filter="wipe(left)" transition="in">
                                      <p:cBhvr>
                                        <p:cTn id="58" dur="300"/>
                                        <p:tgtEl>
                                          <p:spTgt spid="818"/>
                                        </p:tgtEl>
                                      </p:cBhvr>
                                    </p:animEffect>
                                  </p:childTnLst>
                                </p:cTn>
                              </p:par>
                            </p:childTnLst>
                          </p:cTn>
                        </p:par>
                      </p:childTnLst>
                    </p:cTn>
                  </p:par>
                  <p:par>
                    <p:cTn id="59" fill="hold">
                      <p:stCondLst>
                        <p:cond delay="indefinite"/>
                      </p:stCondLst>
                      <p:childTnLst>
                        <p:par>
                          <p:cTn id="60" fill="hold">
                            <p:stCondLst>
                              <p:cond delay="0"/>
                            </p:stCondLst>
                            <p:childTnLst>
                              <p:par>
                                <p:cTn id="61" presetClass="entr" nodeType="clickEffect" presetID="10" grpId="13" fill="hold">
                                  <p:stCondLst>
                                    <p:cond delay="0"/>
                                  </p:stCondLst>
                                  <p:iterate type="el" backwards="0">
                                    <p:tmAbs val="0"/>
                                  </p:iterate>
                                  <p:childTnLst>
                                    <p:set>
                                      <p:cBhvr>
                                        <p:cTn id="62" fill="hold"/>
                                        <p:tgtEl>
                                          <p:spTgt spid="819"/>
                                        </p:tgtEl>
                                        <p:attrNameLst>
                                          <p:attrName>style.visibility</p:attrName>
                                        </p:attrNameLst>
                                      </p:cBhvr>
                                      <p:to>
                                        <p:strVal val="visible"/>
                                      </p:to>
                                    </p:set>
                                    <p:animEffect filter="fade" transition="in">
                                      <p:cBhvr>
                                        <p:cTn id="63" dur="300"/>
                                        <p:tgtEl>
                                          <p:spTgt spid="819"/>
                                        </p:tgtEl>
                                      </p:cBhvr>
                                    </p:animEffect>
                                  </p:childTnLst>
                                </p:cTn>
                              </p:par>
                            </p:childTnLst>
                          </p:cTn>
                        </p:par>
                        <p:par>
                          <p:cTn id="64" fill="hold">
                            <p:stCondLst>
                              <p:cond delay="300"/>
                            </p:stCondLst>
                            <p:childTnLst>
                              <p:par>
                                <p:cTn id="65" presetClass="entr" nodeType="afterEffect" presetID="10" grpId="14" fill="hold">
                                  <p:stCondLst>
                                    <p:cond delay="0"/>
                                  </p:stCondLst>
                                  <p:iterate type="el" backwards="0">
                                    <p:tmAbs val="0"/>
                                  </p:iterate>
                                  <p:childTnLst>
                                    <p:set>
                                      <p:cBhvr>
                                        <p:cTn id="66" fill="hold"/>
                                        <p:tgtEl>
                                          <p:spTgt spid="820"/>
                                        </p:tgtEl>
                                        <p:attrNameLst>
                                          <p:attrName>style.visibility</p:attrName>
                                        </p:attrNameLst>
                                      </p:cBhvr>
                                      <p:to>
                                        <p:strVal val="visible"/>
                                      </p:to>
                                    </p:set>
                                    <p:animEffect filter="fade" transition="in">
                                      <p:cBhvr>
                                        <p:cTn id="67" dur="300"/>
                                        <p:tgtEl>
                                          <p:spTgt spid="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20" grpId="14"/>
      <p:bldP build="whole" bldLvl="1" animBg="1" rev="0" advAuto="0" spid="817" grpId="7"/>
      <p:bldP build="whole" bldLvl="1" animBg="1" rev="0" advAuto="0" spid="808" grpId="2"/>
      <p:bldP build="whole" bldLvl="1" animBg="1" rev="0" advAuto="0" spid="810" grpId="3"/>
      <p:bldP build="whole" bldLvl="1" animBg="1" rev="0" advAuto="0" spid="811" grpId="5"/>
      <p:bldP build="whole" bldLvl="1" animBg="1" rev="0" advAuto="0" spid="818" grpId="12"/>
      <p:bldP build="whole" bldLvl="1" animBg="1" rev="0" advAuto="0" spid="816" grpId="11"/>
      <p:bldP build="whole" bldLvl="1" animBg="1" rev="0" advAuto="0" spid="819" grpId="13"/>
      <p:bldP build="whole" bldLvl="1" animBg="1" rev="0" advAuto="0" spid="809" grpId="4"/>
      <p:bldP build="whole" bldLvl="1" animBg="1" rev="0" advAuto="0" spid="813" grpId="8"/>
      <p:bldP build="whole" bldLvl="1" animBg="1" rev="0" advAuto="0" spid="812" grpId="6"/>
      <p:bldP build="whole" bldLvl="1" animBg="1" rev="0" advAuto="0" spid="814" grpId="9"/>
      <p:bldP build="whole" bldLvl="1" animBg="1" rev="0" advAuto="0" spid="815" grpId="10"/>
      <p:bldP build="whole" bldLvl="1" animBg="1" rev="0" advAuto="0" spid="807" grpId="1"/>
    </p:bld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5"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6" name="Major Feature Testing"/>
          <p:cNvSpPr txBox="1"/>
          <p:nvPr>
            <p:ph type="title"/>
          </p:nvPr>
        </p:nvSpPr>
        <p:spPr>
          <a:prstGeom prst="rect">
            <a:avLst/>
          </a:prstGeom>
        </p:spPr>
        <p:txBody>
          <a:bodyPr/>
          <a:lstStyle>
            <a:lvl1pPr defTabSz="2145791">
              <a:defRPr spc="211" sz="7040"/>
            </a:lvl1pPr>
          </a:lstStyle>
          <a:p>
            <a:pPr/>
            <a:r>
              <a:t>Major Feature Testing</a:t>
            </a:r>
          </a:p>
        </p:txBody>
      </p:sp>
      <p:sp>
        <p:nvSpPr>
          <p:cNvPr id="837" name="Rounded Rectangle"/>
          <p:cNvSpPr/>
          <p:nvPr/>
        </p:nvSpPr>
        <p:spPr>
          <a:xfrm>
            <a:off x="2400282" y="3502241"/>
            <a:ext cx="5697779" cy="8325832"/>
          </a:xfrm>
          <a:prstGeom prst="roundRect">
            <a:avLst>
              <a:gd name="adj" fmla="val 18942"/>
            </a:avLst>
          </a:prstGeom>
          <a:solidFill>
            <a:srgbClr val="856C92"/>
          </a:solidFill>
          <a:ln w="63500">
            <a:solidFill>
              <a:srgbClr val="C09CD9"/>
            </a:solidFill>
            <a:miter lim="400000"/>
          </a:ln>
        </p:spPr>
        <p:txBody>
          <a:bodyPr lIns="50800" tIns="50800" rIns="50800" bIns="50800" anchor="ctr"/>
          <a:lstStyle/>
          <a:p>
            <a:pPr defTabSz="1130300">
              <a:defRPr b="0" spc="0" sz="3200"/>
            </a:pPr>
          </a:p>
        </p:txBody>
      </p:sp>
      <p:sp>
        <p:nvSpPr>
          <p:cNvPr id="838" name="Rounded Rectangle"/>
          <p:cNvSpPr/>
          <p:nvPr/>
        </p:nvSpPr>
        <p:spPr>
          <a:xfrm>
            <a:off x="9083943" y="3476841"/>
            <a:ext cx="5697780" cy="8325832"/>
          </a:xfrm>
          <a:prstGeom prst="roundRect">
            <a:avLst>
              <a:gd name="adj" fmla="val 18942"/>
            </a:avLst>
          </a:prstGeom>
          <a:solidFill>
            <a:srgbClr val="856C92"/>
          </a:solidFill>
          <a:ln w="63500">
            <a:solidFill>
              <a:srgbClr val="C09CD9"/>
            </a:solidFill>
            <a:miter lim="400000"/>
          </a:ln>
        </p:spPr>
        <p:txBody>
          <a:bodyPr lIns="50800" tIns="50800" rIns="50800" bIns="50800" anchor="ctr"/>
          <a:lstStyle/>
          <a:p>
            <a:pPr defTabSz="1130300">
              <a:defRPr b="0" spc="0" sz="3200"/>
            </a:pPr>
          </a:p>
        </p:txBody>
      </p:sp>
      <p:sp>
        <p:nvSpPr>
          <p:cNvPr id="839" name="Rounded Rectangle"/>
          <p:cNvSpPr/>
          <p:nvPr/>
        </p:nvSpPr>
        <p:spPr>
          <a:xfrm>
            <a:off x="15767606" y="3476841"/>
            <a:ext cx="5697779" cy="8325832"/>
          </a:xfrm>
          <a:prstGeom prst="roundRect">
            <a:avLst>
              <a:gd name="adj" fmla="val 18942"/>
            </a:avLst>
          </a:prstGeom>
          <a:solidFill>
            <a:srgbClr val="856C92"/>
          </a:solidFill>
          <a:ln w="63500">
            <a:solidFill>
              <a:srgbClr val="C09CD9"/>
            </a:solidFill>
            <a:miter lim="400000"/>
          </a:ln>
        </p:spPr>
        <p:txBody>
          <a:bodyPr lIns="50800" tIns="50800" rIns="50800" bIns="50800" anchor="ctr"/>
          <a:lstStyle/>
          <a:p>
            <a:pPr defTabSz="1130300">
              <a:defRPr b="0" spc="0" sz="3200"/>
            </a:pPr>
          </a:p>
        </p:txBody>
      </p:sp>
      <p:sp>
        <p:nvSpPr>
          <p:cNvPr id="840" name="Perception"/>
          <p:cNvSpPr txBox="1"/>
          <p:nvPr/>
        </p:nvSpPr>
        <p:spPr>
          <a:xfrm>
            <a:off x="3974723" y="3850395"/>
            <a:ext cx="2459255" cy="66647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defRPr spc="114" sz="3800">
                <a:solidFill>
                  <a:srgbClr val="FFFFFF"/>
                </a:solidFill>
              </a:defRPr>
            </a:lvl1pPr>
          </a:lstStyle>
          <a:p>
            <a:pPr/>
            <a:r>
              <a:t>Perception</a:t>
            </a:r>
          </a:p>
        </p:txBody>
      </p:sp>
      <p:sp>
        <p:nvSpPr>
          <p:cNvPr id="841" name="Planning &amp; Controls"/>
          <p:cNvSpPr txBox="1"/>
          <p:nvPr/>
        </p:nvSpPr>
        <p:spPr>
          <a:xfrm>
            <a:off x="9646794" y="3850395"/>
            <a:ext cx="4572077" cy="66647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defRPr spc="114" sz="3800">
                <a:solidFill>
                  <a:srgbClr val="FFFFFF"/>
                </a:solidFill>
              </a:defRPr>
            </a:lvl1pPr>
          </a:lstStyle>
          <a:p>
            <a:pPr/>
            <a:r>
              <a:t>Planning &amp; Controls</a:t>
            </a:r>
          </a:p>
        </p:txBody>
      </p:sp>
      <p:sp>
        <p:nvSpPr>
          <p:cNvPr id="842" name="Localization"/>
          <p:cNvSpPr txBox="1"/>
          <p:nvPr/>
        </p:nvSpPr>
        <p:spPr>
          <a:xfrm>
            <a:off x="17226886" y="3850395"/>
            <a:ext cx="2779218" cy="66647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ormAutofit fontScale="100000" lnSpcReduction="0"/>
          </a:bodyPr>
          <a:lstStyle>
            <a:lvl1pPr>
              <a:defRPr spc="114" sz="3800">
                <a:solidFill>
                  <a:srgbClr val="FFFFFF"/>
                </a:solidFill>
              </a:defRPr>
            </a:lvl1pPr>
          </a:lstStyle>
          <a:p>
            <a:pPr/>
            <a:r>
              <a:t>Localization</a:t>
            </a:r>
          </a:p>
        </p:txBody>
      </p:sp>
      <p:sp>
        <p:nvSpPr>
          <p:cNvPr id="843" name="Overview"/>
          <p:cNvSpPr/>
          <p:nvPr/>
        </p:nvSpPr>
        <p:spPr>
          <a:xfrm>
            <a:off x="2778897" y="4958184"/>
            <a:ext cx="4850907"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Overview</a:t>
            </a:r>
          </a:p>
        </p:txBody>
      </p:sp>
      <p:sp>
        <p:nvSpPr>
          <p:cNvPr id="844" name="Scenario Variation"/>
          <p:cNvSpPr/>
          <p:nvPr/>
        </p:nvSpPr>
        <p:spPr>
          <a:xfrm>
            <a:off x="2823718" y="7142619"/>
            <a:ext cx="4850907"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Scenario Variation</a:t>
            </a:r>
          </a:p>
        </p:txBody>
      </p:sp>
      <p:sp>
        <p:nvSpPr>
          <p:cNvPr id="845" name="Metrics"/>
          <p:cNvSpPr/>
          <p:nvPr/>
        </p:nvSpPr>
        <p:spPr>
          <a:xfrm>
            <a:off x="2823718" y="9327054"/>
            <a:ext cx="4850907"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Metrics</a:t>
            </a:r>
          </a:p>
        </p:txBody>
      </p:sp>
      <p:sp>
        <p:nvSpPr>
          <p:cNvPr id="846" name="Overview"/>
          <p:cNvSpPr/>
          <p:nvPr/>
        </p:nvSpPr>
        <p:spPr>
          <a:xfrm>
            <a:off x="9484969" y="4958184"/>
            <a:ext cx="4850907"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Overview</a:t>
            </a:r>
          </a:p>
        </p:txBody>
      </p:sp>
      <p:sp>
        <p:nvSpPr>
          <p:cNvPr id="847" name="Scenario Variation"/>
          <p:cNvSpPr/>
          <p:nvPr/>
        </p:nvSpPr>
        <p:spPr>
          <a:xfrm>
            <a:off x="9529791" y="7142619"/>
            <a:ext cx="4850906"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Scenario Variation</a:t>
            </a:r>
          </a:p>
        </p:txBody>
      </p:sp>
      <p:sp>
        <p:nvSpPr>
          <p:cNvPr id="848" name="Metrics"/>
          <p:cNvSpPr/>
          <p:nvPr/>
        </p:nvSpPr>
        <p:spPr>
          <a:xfrm>
            <a:off x="9529791" y="9327054"/>
            <a:ext cx="4850906"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Metrics</a:t>
            </a:r>
          </a:p>
        </p:txBody>
      </p:sp>
      <p:sp>
        <p:nvSpPr>
          <p:cNvPr id="849" name="Overview"/>
          <p:cNvSpPr/>
          <p:nvPr/>
        </p:nvSpPr>
        <p:spPr>
          <a:xfrm>
            <a:off x="16168631" y="4958184"/>
            <a:ext cx="4850907"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Overview</a:t>
            </a:r>
          </a:p>
        </p:txBody>
      </p:sp>
      <p:sp>
        <p:nvSpPr>
          <p:cNvPr id="850" name="Scenario Variation"/>
          <p:cNvSpPr/>
          <p:nvPr/>
        </p:nvSpPr>
        <p:spPr>
          <a:xfrm>
            <a:off x="16213452" y="7142619"/>
            <a:ext cx="4850906"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Scenario Variation</a:t>
            </a:r>
          </a:p>
        </p:txBody>
      </p:sp>
      <p:sp>
        <p:nvSpPr>
          <p:cNvPr id="851" name="Metrics"/>
          <p:cNvSpPr/>
          <p:nvPr/>
        </p:nvSpPr>
        <p:spPr>
          <a:xfrm>
            <a:off x="16213452" y="9327054"/>
            <a:ext cx="4850906" cy="1463701"/>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Metrics</a:t>
            </a:r>
          </a:p>
        </p:txBody>
      </p:sp>
      <p:grpSp>
        <p:nvGrpSpPr>
          <p:cNvPr id="864" name="Google Shape;1534;p132"/>
          <p:cNvGrpSpPr/>
          <p:nvPr/>
        </p:nvGrpSpPr>
        <p:grpSpPr>
          <a:xfrm>
            <a:off x="4025882" y="12655073"/>
            <a:ext cx="15813902" cy="926116"/>
            <a:chOff x="0" y="0"/>
            <a:chExt cx="15813901" cy="926115"/>
          </a:xfrm>
        </p:grpSpPr>
        <p:grpSp>
          <p:nvGrpSpPr>
            <p:cNvPr id="854" name="Google Shape;1535;p132"/>
            <p:cNvGrpSpPr/>
            <p:nvPr/>
          </p:nvGrpSpPr>
          <p:grpSpPr>
            <a:xfrm>
              <a:off x="11585670" y="165308"/>
              <a:ext cx="4228232" cy="595499"/>
              <a:chOff x="0" y="0"/>
              <a:chExt cx="4228231" cy="595498"/>
            </a:xfrm>
          </p:grpSpPr>
          <p:sp>
            <p:nvSpPr>
              <p:cNvPr id="852"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853"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857" name="Google Shape;1536;p132"/>
            <p:cNvGrpSpPr/>
            <p:nvPr/>
          </p:nvGrpSpPr>
          <p:grpSpPr>
            <a:xfrm>
              <a:off x="7724657" y="165308"/>
              <a:ext cx="4228233" cy="595499"/>
              <a:chOff x="0" y="0"/>
              <a:chExt cx="4228231" cy="595498"/>
            </a:xfrm>
          </p:grpSpPr>
          <p:sp>
            <p:nvSpPr>
              <p:cNvPr id="855"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856"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860" name="Google Shape;1537;p132"/>
            <p:cNvGrpSpPr/>
            <p:nvPr/>
          </p:nvGrpSpPr>
          <p:grpSpPr>
            <a:xfrm>
              <a:off x="3858564" y="-1"/>
              <a:ext cx="4228232" cy="926117"/>
              <a:chOff x="0" y="0"/>
              <a:chExt cx="4228231" cy="926115"/>
            </a:xfrm>
          </p:grpSpPr>
          <p:sp>
            <p:nvSpPr>
              <p:cNvPr id="858" name="Chevron"/>
              <p:cNvSpPr/>
              <p:nvPr/>
            </p:nvSpPr>
            <p:spPr>
              <a:xfrm>
                <a:off x="0" y="208171"/>
                <a:ext cx="4228232" cy="509774"/>
              </a:xfrm>
              <a:prstGeom prst="chevron">
                <a:avLst>
                  <a:gd name="adj" fmla="val 50000"/>
                </a:avLst>
              </a:prstGeom>
              <a:solidFill>
                <a:srgbClr val="709CCC"/>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859"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Scenario Variation and Testing</a:t>
                </a:r>
              </a:p>
            </p:txBody>
          </p:sp>
        </p:grpSp>
        <p:grpSp>
          <p:nvGrpSpPr>
            <p:cNvPr id="863" name="Google Shape;1538;p132"/>
            <p:cNvGrpSpPr/>
            <p:nvPr/>
          </p:nvGrpSpPr>
          <p:grpSpPr>
            <a:xfrm>
              <a:off x="0" y="165308"/>
              <a:ext cx="4228232" cy="595499"/>
              <a:chOff x="0" y="0"/>
              <a:chExt cx="4228231" cy="595498"/>
            </a:xfrm>
          </p:grpSpPr>
          <p:sp>
            <p:nvSpPr>
              <p:cNvPr id="861"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862"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System Showcase</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843"/>
                                        </p:tgtEl>
                                        <p:attrNameLst>
                                          <p:attrName>style.visibility</p:attrName>
                                        </p:attrNameLst>
                                      </p:cBhvr>
                                      <p:to>
                                        <p:strVal val="visible"/>
                                      </p:to>
                                    </p:set>
                                    <p:animEffect filter="wipe(left)" transition="in">
                                      <p:cBhvr>
                                        <p:cTn id="7" dur="300"/>
                                        <p:tgtEl>
                                          <p:spTgt spid="843"/>
                                        </p:tgtEl>
                                      </p:cBhvr>
                                    </p:animEffect>
                                  </p:childTnLst>
                                </p:cTn>
                              </p:par>
                            </p:childTnLst>
                          </p:cTn>
                        </p:par>
                        <p:par>
                          <p:cTn id="8" fill="hold">
                            <p:stCondLst>
                              <p:cond delay="300"/>
                            </p:stCondLst>
                            <p:childTnLst>
                              <p:par>
                                <p:cTn id="9" presetClass="entr" nodeType="afterEffect" presetSubtype="8" presetID="22" grpId="2" fill="hold">
                                  <p:stCondLst>
                                    <p:cond delay="0"/>
                                  </p:stCondLst>
                                  <p:iterate type="el" backwards="0">
                                    <p:tmAbs val="0"/>
                                  </p:iterate>
                                  <p:childTnLst>
                                    <p:set>
                                      <p:cBhvr>
                                        <p:cTn id="10" fill="hold"/>
                                        <p:tgtEl>
                                          <p:spTgt spid="846"/>
                                        </p:tgtEl>
                                        <p:attrNameLst>
                                          <p:attrName>style.visibility</p:attrName>
                                        </p:attrNameLst>
                                      </p:cBhvr>
                                      <p:to>
                                        <p:strVal val="visible"/>
                                      </p:to>
                                    </p:set>
                                    <p:animEffect filter="wipe(left)" transition="in">
                                      <p:cBhvr>
                                        <p:cTn id="11" dur="300"/>
                                        <p:tgtEl>
                                          <p:spTgt spid="846"/>
                                        </p:tgtEl>
                                      </p:cBhvr>
                                    </p:animEffect>
                                  </p:childTnLst>
                                </p:cTn>
                              </p:par>
                            </p:childTnLst>
                          </p:cTn>
                        </p:par>
                        <p:par>
                          <p:cTn id="12" fill="hold">
                            <p:stCondLst>
                              <p:cond delay="600"/>
                            </p:stCondLst>
                            <p:childTnLst>
                              <p:par>
                                <p:cTn id="13" presetClass="entr" nodeType="afterEffect" presetSubtype="8" presetID="22" grpId="3" fill="hold">
                                  <p:stCondLst>
                                    <p:cond delay="0"/>
                                  </p:stCondLst>
                                  <p:iterate type="el" backwards="0">
                                    <p:tmAbs val="0"/>
                                  </p:iterate>
                                  <p:childTnLst>
                                    <p:set>
                                      <p:cBhvr>
                                        <p:cTn id="14" fill="hold"/>
                                        <p:tgtEl>
                                          <p:spTgt spid="849"/>
                                        </p:tgtEl>
                                        <p:attrNameLst>
                                          <p:attrName>style.visibility</p:attrName>
                                        </p:attrNameLst>
                                      </p:cBhvr>
                                      <p:to>
                                        <p:strVal val="visible"/>
                                      </p:to>
                                    </p:set>
                                    <p:animEffect filter="wipe(left)" transition="in">
                                      <p:cBhvr>
                                        <p:cTn id="15" dur="300"/>
                                        <p:tgtEl>
                                          <p:spTgt spid="849"/>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8" presetID="22" grpId="4" fill="hold">
                                  <p:stCondLst>
                                    <p:cond delay="0"/>
                                  </p:stCondLst>
                                  <p:iterate type="el" backwards="0">
                                    <p:tmAbs val="0"/>
                                  </p:iterate>
                                  <p:childTnLst>
                                    <p:set>
                                      <p:cBhvr>
                                        <p:cTn id="19" fill="hold"/>
                                        <p:tgtEl>
                                          <p:spTgt spid="844"/>
                                        </p:tgtEl>
                                        <p:attrNameLst>
                                          <p:attrName>style.visibility</p:attrName>
                                        </p:attrNameLst>
                                      </p:cBhvr>
                                      <p:to>
                                        <p:strVal val="visible"/>
                                      </p:to>
                                    </p:set>
                                    <p:animEffect filter="wipe(left)" transition="in">
                                      <p:cBhvr>
                                        <p:cTn id="20" dur="300"/>
                                        <p:tgtEl>
                                          <p:spTgt spid="844"/>
                                        </p:tgtEl>
                                      </p:cBhvr>
                                    </p:animEffect>
                                  </p:childTnLst>
                                </p:cTn>
                              </p:par>
                            </p:childTnLst>
                          </p:cTn>
                        </p:par>
                        <p:par>
                          <p:cTn id="21" fill="hold">
                            <p:stCondLst>
                              <p:cond delay="300"/>
                            </p:stCondLst>
                            <p:childTnLst>
                              <p:par>
                                <p:cTn id="22" presetClass="entr" nodeType="afterEffect" presetSubtype="8" presetID="22" grpId="5" fill="hold">
                                  <p:stCondLst>
                                    <p:cond delay="0"/>
                                  </p:stCondLst>
                                  <p:iterate type="el" backwards="0">
                                    <p:tmAbs val="0"/>
                                  </p:iterate>
                                  <p:childTnLst>
                                    <p:set>
                                      <p:cBhvr>
                                        <p:cTn id="23" fill="hold"/>
                                        <p:tgtEl>
                                          <p:spTgt spid="847"/>
                                        </p:tgtEl>
                                        <p:attrNameLst>
                                          <p:attrName>style.visibility</p:attrName>
                                        </p:attrNameLst>
                                      </p:cBhvr>
                                      <p:to>
                                        <p:strVal val="visible"/>
                                      </p:to>
                                    </p:set>
                                    <p:animEffect filter="wipe(left)" transition="in">
                                      <p:cBhvr>
                                        <p:cTn id="24" dur="300"/>
                                        <p:tgtEl>
                                          <p:spTgt spid="847"/>
                                        </p:tgtEl>
                                      </p:cBhvr>
                                    </p:animEffect>
                                  </p:childTnLst>
                                </p:cTn>
                              </p:par>
                            </p:childTnLst>
                          </p:cTn>
                        </p:par>
                        <p:par>
                          <p:cTn id="25" fill="hold">
                            <p:stCondLst>
                              <p:cond delay="600"/>
                            </p:stCondLst>
                            <p:childTnLst>
                              <p:par>
                                <p:cTn id="26" presetClass="entr" nodeType="afterEffect" presetSubtype="8" presetID="22" grpId="6" fill="hold">
                                  <p:stCondLst>
                                    <p:cond delay="0"/>
                                  </p:stCondLst>
                                  <p:iterate type="el" backwards="0">
                                    <p:tmAbs val="0"/>
                                  </p:iterate>
                                  <p:childTnLst>
                                    <p:set>
                                      <p:cBhvr>
                                        <p:cTn id="27" fill="hold"/>
                                        <p:tgtEl>
                                          <p:spTgt spid="850"/>
                                        </p:tgtEl>
                                        <p:attrNameLst>
                                          <p:attrName>style.visibility</p:attrName>
                                        </p:attrNameLst>
                                      </p:cBhvr>
                                      <p:to>
                                        <p:strVal val="visible"/>
                                      </p:to>
                                    </p:set>
                                    <p:animEffect filter="wipe(left)" transition="in">
                                      <p:cBhvr>
                                        <p:cTn id="28" dur="300"/>
                                        <p:tgtEl>
                                          <p:spTgt spid="850"/>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2" grpId="7" fill="hold">
                                  <p:stCondLst>
                                    <p:cond delay="0"/>
                                  </p:stCondLst>
                                  <p:iterate type="el" backwards="0">
                                    <p:tmAbs val="0"/>
                                  </p:iterate>
                                  <p:childTnLst>
                                    <p:set>
                                      <p:cBhvr>
                                        <p:cTn id="32" fill="hold"/>
                                        <p:tgtEl>
                                          <p:spTgt spid="845"/>
                                        </p:tgtEl>
                                        <p:attrNameLst>
                                          <p:attrName>style.visibility</p:attrName>
                                        </p:attrNameLst>
                                      </p:cBhvr>
                                      <p:to>
                                        <p:strVal val="visible"/>
                                      </p:to>
                                    </p:set>
                                    <p:animEffect filter="wipe(left)" transition="in">
                                      <p:cBhvr>
                                        <p:cTn id="33" dur="300"/>
                                        <p:tgtEl>
                                          <p:spTgt spid="845"/>
                                        </p:tgtEl>
                                      </p:cBhvr>
                                    </p:animEffect>
                                  </p:childTnLst>
                                </p:cTn>
                              </p:par>
                            </p:childTnLst>
                          </p:cTn>
                        </p:par>
                        <p:par>
                          <p:cTn id="34" fill="hold">
                            <p:stCondLst>
                              <p:cond delay="300"/>
                            </p:stCondLst>
                            <p:childTnLst>
                              <p:par>
                                <p:cTn id="35" presetClass="entr" nodeType="afterEffect" presetSubtype="8" presetID="22" grpId="8" fill="hold">
                                  <p:stCondLst>
                                    <p:cond delay="0"/>
                                  </p:stCondLst>
                                  <p:iterate type="el" backwards="0">
                                    <p:tmAbs val="0"/>
                                  </p:iterate>
                                  <p:childTnLst>
                                    <p:set>
                                      <p:cBhvr>
                                        <p:cTn id="36" fill="hold"/>
                                        <p:tgtEl>
                                          <p:spTgt spid="848"/>
                                        </p:tgtEl>
                                        <p:attrNameLst>
                                          <p:attrName>style.visibility</p:attrName>
                                        </p:attrNameLst>
                                      </p:cBhvr>
                                      <p:to>
                                        <p:strVal val="visible"/>
                                      </p:to>
                                    </p:set>
                                    <p:animEffect filter="wipe(left)" transition="in">
                                      <p:cBhvr>
                                        <p:cTn id="37" dur="300"/>
                                        <p:tgtEl>
                                          <p:spTgt spid="848"/>
                                        </p:tgtEl>
                                      </p:cBhvr>
                                    </p:animEffect>
                                  </p:childTnLst>
                                </p:cTn>
                              </p:par>
                            </p:childTnLst>
                          </p:cTn>
                        </p:par>
                        <p:par>
                          <p:cTn id="38" fill="hold">
                            <p:stCondLst>
                              <p:cond delay="600"/>
                            </p:stCondLst>
                            <p:childTnLst>
                              <p:par>
                                <p:cTn id="39" presetClass="entr" nodeType="afterEffect" presetSubtype="8" presetID="22" grpId="9" fill="hold">
                                  <p:stCondLst>
                                    <p:cond delay="0"/>
                                  </p:stCondLst>
                                  <p:iterate type="el" backwards="0">
                                    <p:tmAbs val="0"/>
                                  </p:iterate>
                                  <p:childTnLst>
                                    <p:set>
                                      <p:cBhvr>
                                        <p:cTn id="40" fill="hold"/>
                                        <p:tgtEl>
                                          <p:spTgt spid="851"/>
                                        </p:tgtEl>
                                        <p:attrNameLst>
                                          <p:attrName>style.visibility</p:attrName>
                                        </p:attrNameLst>
                                      </p:cBhvr>
                                      <p:to>
                                        <p:strVal val="visible"/>
                                      </p:to>
                                    </p:set>
                                    <p:animEffect filter="wipe(left)" transition="in">
                                      <p:cBhvr>
                                        <p:cTn id="41" dur="300"/>
                                        <p:tgtEl>
                                          <p:spTgt spid="8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47" grpId="5"/>
      <p:bldP build="whole" bldLvl="1" animBg="1" rev="0" advAuto="0" spid="843" grpId="1"/>
      <p:bldP build="whole" bldLvl="1" animBg="1" rev="0" advAuto="0" spid="850" grpId="6"/>
      <p:bldP build="whole" bldLvl="1" animBg="1" rev="0" advAuto="0" spid="851" grpId="9"/>
      <p:bldP build="whole" bldLvl="1" animBg="1" rev="0" advAuto="0" spid="844" grpId="4"/>
      <p:bldP build="whole" bldLvl="1" animBg="1" rev="0" advAuto="0" spid="848" grpId="8"/>
      <p:bldP build="whole" bldLvl="1" animBg="1" rev="0" advAuto="0" spid="849" grpId="3"/>
      <p:bldP build="whole" bldLvl="1" animBg="1" rev="0" advAuto="0" spid="846" grpId="2"/>
      <p:bldP build="whole" bldLvl="1" animBg="1" rev="0" advAuto="0" spid="845" grpId="7"/>
    </p:bld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6"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67" name="Simulation Pipeline"/>
          <p:cNvSpPr txBox="1"/>
          <p:nvPr>
            <p:ph type="title"/>
          </p:nvPr>
        </p:nvSpPr>
        <p:spPr>
          <a:prstGeom prst="rect">
            <a:avLst/>
          </a:prstGeom>
        </p:spPr>
        <p:txBody>
          <a:bodyPr/>
          <a:lstStyle>
            <a:lvl1pPr defTabSz="2145791">
              <a:defRPr spc="211" sz="7040"/>
            </a:lvl1pPr>
          </a:lstStyle>
          <a:p>
            <a:pPr/>
            <a:r>
              <a:t>Simulation Pipeline</a:t>
            </a:r>
          </a:p>
        </p:txBody>
      </p:sp>
      <p:sp>
        <p:nvSpPr>
          <p:cNvPr id="868" name="Group"/>
          <p:cNvSpPr/>
          <p:nvPr/>
        </p:nvSpPr>
        <p:spPr>
          <a:xfrm>
            <a:off x="20807162" y="8306877"/>
            <a:ext cx="1270001" cy="1270001"/>
          </a:xfrm>
          <a:prstGeom prst="line">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338">
              <a:defRPr b="0" spc="0" sz="2400"/>
            </a:lvl1pPr>
          </a:lstStyle>
          <a:p>
            <a:pPr/>
            <a:r>
              <a:t>Visualization</a:t>
            </a:r>
          </a:p>
        </p:txBody>
      </p:sp>
      <p:sp>
        <p:nvSpPr>
          <p:cNvPr id="869" name="Group"/>
          <p:cNvSpPr/>
          <p:nvPr/>
        </p:nvSpPr>
        <p:spPr>
          <a:xfrm>
            <a:off x="3764679" y="2765950"/>
            <a:ext cx="14741951" cy="4399309"/>
          </a:xfrm>
          <a:prstGeom prst="rect">
            <a:avLst/>
          </a:prstGeom>
          <a:solidFill>
            <a:srgbClr val="BCDFDF"/>
          </a:solidFill>
          <a:ln w="25400">
            <a:solidFill>
              <a:schemeClr val="accent2">
                <a:hueOff val="-380435"/>
                <a:satOff val="28785"/>
                <a:lumOff val="23919"/>
              </a:schemeClr>
            </a:solidFill>
            <a:miter lim="400000"/>
          </a:ln>
        </p:spPr>
        <p:txBody>
          <a:bodyPr lIns="50800" tIns="50800" rIns="50800" bIns="50800" anchor="ctr"/>
          <a:lstStyle/>
          <a:p>
            <a:pPr>
              <a:defRPr spc="0" sz="2400"/>
            </a:pPr>
          </a:p>
        </p:txBody>
      </p:sp>
      <p:sp>
        <p:nvSpPr>
          <p:cNvPr id="870" name="Rectangle"/>
          <p:cNvSpPr/>
          <p:nvPr/>
        </p:nvSpPr>
        <p:spPr>
          <a:xfrm>
            <a:off x="19154492" y="7989939"/>
            <a:ext cx="639933" cy="633876"/>
          </a:xfrm>
          <a:prstGeom prst="rect">
            <a:avLst/>
          </a:prstGeom>
          <a:solidFill>
            <a:srgbClr val="E2A3A3">
              <a:alpha val="82579"/>
            </a:srgbClr>
          </a:solidFill>
          <a:ln w="25400">
            <a:solidFill>
              <a:srgbClr val="AD7E7F"/>
            </a:solidFill>
            <a:miter lim="400000"/>
          </a:ln>
        </p:spPr>
        <p:txBody>
          <a:bodyPr lIns="50800" tIns="50800" rIns="50800" bIns="50800" anchor="ctr"/>
          <a:lstStyle/>
          <a:p>
            <a:pPr>
              <a:defRPr spc="0" sz="2400">
                <a:solidFill>
                  <a:srgbClr val="FFFFFF"/>
                </a:solidFill>
              </a:defRPr>
            </a:pPr>
          </a:p>
        </p:txBody>
      </p:sp>
      <p:sp>
        <p:nvSpPr>
          <p:cNvPr id="871" name="CARLA"/>
          <p:cNvSpPr/>
          <p:nvPr/>
        </p:nvSpPr>
        <p:spPr>
          <a:xfrm>
            <a:off x="3771687" y="7989939"/>
            <a:ext cx="14727937" cy="2163483"/>
          </a:xfrm>
          <a:prstGeom prst="rect">
            <a:avLst/>
          </a:prstGeom>
          <a:solidFill>
            <a:srgbClr val="E2A3A3">
              <a:alpha val="81896"/>
            </a:srgbClr>
          </a:solidFill>
          <a:ln w="25400">
            <a:solidFill>
              <a:srgbClr val="B98688"/>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72" sz="2400"/>
            </a:lvl1pPr>
          </a:lstStyle>
          <a:p>
            <a:pPr/>
            <a:r>
              <a:t>CARLA</a:t>
            </a:r>
          </a:p>
        </p:txBody>
      </p:sp>
      <p:sp>
        <p:nvSpPr>
          <p:cNvPr id="872" name="Line"/>
          <p:cNvSpPr/>
          <p:nvPr/>
        </p:nvSpPr>
        <p:spPr>
          <a:xfrm flipV="1">
            <a:off x="11135654" y="7193909"/>
            <a:ext cx="1" cy="754679"/>
          </a:xfrm>
          <a:prstGeom prst="line">
            <a:avLst/>
          </a:prstGeom>
          <a:ln w="254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873" name="Weather and Obstacle Variation, Sensor Status"/>
          <p:cNvSpPr/>
          <p:nvPr/>
        </p:nvSpPr>
        <p:spPr>
          <a:xfrm>
            <a:off x="9693599" y="10849299"/>
            <a:ext cx="2884112" cy="1696874"/>
          </a:xfrm>
          <a:prstGeom prst="rect">
            <a:avLst/>
          </a:prstGeom>
          <a:solidFill>
            <a:srgbClr val="E095AD"/>
          </a:solidFill>
          <a:ln w="25400">
            <a:solidFill>
              <a:srgbClr val="81A3A3"/>
            </a:solidFill>
            <a:miter lim="400000"/>
          </a:ln>
          <a:extLst>
            <a:ext uri="{C572A759-6A51-4108-AA02-DFA0A04FC94B}">
              <ma14:wrappingTextBoxFlag xmlns:ma14="http://schemas.microsoft.com/office/mac/drawingml/2011/main" val="1"/>
            </a:ext>
          </a:extLst>
        </p:spPr>
        <p:txBody>
          <a:bodyPr lIns="50800" tIns="50800" rIns="50800" bIns="50800" anchor="ctr"/>
          <a:lstStyle>
            <a:lvl1pPr>
              <a:defRPr spc="72" sz="2400"/>
            </a:lvl1pPr>
          </a:lstStyle>
          <a:p>
            <a:pPr/>
            <a:r>
              <a:t>Weather and Obstacle Variation, Sensor Status</a:t>
            </a:r>
          </a:p>
        </p:txBody>
      </p:sp>
      <p:sp>
        <p:nvSpPr>
          <p:cNvPr id="874" name="Text"/>
          <p:cNvSpPr txBox="1"/>
          <p:nvPr/>
        </p:nvSpPr>
        <p:spPr>
          <a:xfrm>
            <a:off x="853304" y="12524796"/>
            <a:ext cx="867584" cy="870499"/>
          </a:xfrm>
          <a:prstGeom prst="rect">
            <a:avLst/>
          </a:prstGeom>
          <a:ln w="12700">
            <a:miter lim="400000"/>
          </a:ln>
          <a:extLst>
            <a:ext uri="{C572A759-6A51-4108-AA02-DFA0A04FC94B}">
              <ma14:wrappingTextBoxFlag xmlns:ma14="http://schemas.microsoft.com/office/mac/drawingml/2011/main" val="1"/>
            </a:ext>
          </a:extLst>
        </p:spPr>
        <p:txBody>
          <a:bodyPr wrap="none" lIns="243799" tIns="243799" rIns="243799" bIns="243799" anchor="ctr">
            <a:spAutoFit/>
          </a:bodyPr>
          <a:lstStyle>
            <a:lvl1pPr algn="r" defTabSz="2438400">
              <a:defRPr b="0" spc="0" sz="2600">
                <a:solidFill>
                  <a:srgbClr val="595959"/>
                </a:solidFill>
                <a:latin typeface="Arial"/>
                <a:ea typeface="Arial"/>
                <a:cs typeface="Arial"/>
                <a:sym typeface="Arial"/>
              </a:defRPr>
            </a:lvl1pPr>
          </a:lstStyle>
          <a:p>
            <a:pPr/>
            <a:fld id="{86CB4B4D-7CA3-9044-876B-883B54F8677D}" type="slidenum"/>
          </a:p>
        </p:txBody>
      </p:sp>
      <p:grpSp>
        <p:nvGrpSpPr>
          <p:cNvPr id="877" name="Group"/>
          <p:cNvGrpSpPr/>
          <p:nvPr/>
        </p:nvGrpSpPr>
        <p:grpSpPr>
          <a:xfrm>
            <a:off x="19025943" y="2759954"/>
            <a:ext cx="3218521" cy="633877"/>
            <a:chOff x="0" y="0"/>
            <a:chExt cx="3218519" cy="633875"/>
          </a:xfrm>
        </p:grpSpPr>
        <p:sp>
          <p:nvSpPr>
            <p:cNvPr id="875" name="Rectangle"/>
            <p:cNvSpPr/>
            <p:nvPr/>
          </p:nvSpPr>
          <p:spPr>
            <a:xfrm>
              <a:off x="0" y="0"/>
              <a:ext cx="654787" cy="633876"/>
            </a:xfrm>
            <a:prstGeom prst="rect">
              <a:avLst/>
            </a:prstGeom>
            <a:solidFill>
              <a:srgbClr val="B2E0E0"/>
            </a:solidFill>
            <a:ln w="38100" cap="flat">
              <a:solidFill>
                <a:srgbClr val="769696"/>
              </a:solidFill>
              <a:prstDash val="solid"/>
              <a:miter lim="400000"/>
            </a:ln>
            <a:effectLst/>
          </p:spPr>
          <p:txBody>
            <a:bodyPr wrap="square" lIns="50800" tIns="50800" rIns="50800" bIns="50800" numCol="1" anchor="ctr">
              <a:noAutofit/>
            </a:bodyPr>
            <a:lstStyle/>
            <a:p>
              <a:pPr>
                <a:defRPr spc="0" sz="2600"/>
              </a:pPr>
            </a:p>
          </p:txBody>
        </p:sp>
        <p:sp>
          <p:nvSpPr>
            <p:cNvPr id="876" name="Vehicle Software"/>
            <p:cNvSpPr txBox="1"/>
            <p:nvPr/>
          </p:nvSpPr>
          <p:spPr>
            <a:xfrm>
              <a:off x="681534" y="75637"/>
              <a:ext cx="2536986" cy="482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2438338">
                <a:defRPr b="0" spc="0" sz="2500"/>
              </a:lvl1pPr>
            </a:lstStyle>
            <a:p>
              <a:pPr/>
              <a:r>
                <a:t>Vehicle Software</a:t>
              </a:r>
            </a:p>
          </p:txBody>
        </p:sp>
      </p:grpSp>
      <p:grpSp>
        <p:nvGrpSpPr>
          <p:cNvPr id="881" name="Group"/>
          <p:cNvGrpSpPr/>
          <p:nvPr/>
        </p:nvGrpSpPr>
        <p:grpSpPr>
          <a:xfrm>
            <a:off x="4003080" y="3030249"/>
            <a:ext cx="14098824" cy="3979487"/>
            <a:chOff x="0" y="0"/>
            <a:chExt cx="14098823" cy="3979485"/>
          </a:xfrm>
        </p:grpSpPr>
        <p:sp>
          <p:nvSpPr>
            <p:cNvPr id="878" name="Group"/>
            <p:cNvSpPr/>
            <p:nvPr/>
          </p:nvSpPr>
          <p:spPr>
            <a:xfrm>
              <a:off x="7641826" y="0"/>
              <a:ext cx="6456998" cy="1871286"/>
            </a:xfrm>
            <a:prstGeom prst="rect">
              <a:avLst/>
            </a:prstGeom>
            <a:solidFill>
              <a:srgbClr val="9DE7CB"/>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2DOD</a:t>
              </a:r>
            </a:p>
          </p:txBody>
        </p:sp>
        <p:sp>
          <p:nvSpPr>
            <p:cNvPr id="879" name="Group"/>
            <p:cNvSpPr/>
            <p:nvPr/>
          </p:nvSpPr>
          <p:spPr>
            <a:xfrm>
              <a:off x="7643413" y="2108200"/>
              <a:ext cx="6455411" cy="1871286"/>
            </a:xfrm>
            <a:prstGeom prst="rect">
              <a:avLst/>
            </a:prstGeom>
            <a:solidFill>
              <a:srgbClr val="9DE7CB"/>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3DOD</a:t>
              </a:r>
            </a:p>
          </p:txBody>
        </p:sp>
        <p:sp>
          <p:nvSpPr>
            <p:cNvPr id="880" name="Group"/>
            <p:cNvSpPr/>
            <p:nvPr/>
          </p:nvSpPr>
          <p:spPr>
            <a:xfrm>
              <a:off x="0" y="1117600"/>
              <a:ext cx="6587172" cy="1871286"/>
            </a:xfrm>
            <a:prstGeom prst="rect">
              <a:avLst/>
            </a:prstGeom>
            <a:solidFill>
              <a:srgbClr val="9DE7CB"/>
            </a:solidFill>
            <a:ln w="38100" cap="flat">
              <a:solidFill>
                <a:srgbClr val="81A3A3"/>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defRPr spc="102" sz="3400"/>
              </a:lvl1pPr>
            </a:lstStyle>
            <a:p>
              <a:pPr/>
              <a:r>
                <a:t>Tracking</a:t>
              </a:r>
            </a:p>
          </p:txBody>
        </p:sp>
      </p:grpSp>
      <p:sp>
        <p:nvSpPr>
          <p:cNvPr id="882" name="Line"/>
          <p:cNvSpPr/>
          <p:nvPr/>
        </p:nvSpPr>
        <p:spPr>
          <a:xfrm flipH="1">
            <a:off x="10615678" y="5736525"/>
            <a:ext cx="971006" cy="1"/>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883" name="Line"/>
          <p:cNvSpPr/>
          <p:nvPr/>
        </p:nvSpPr>
        <p:spPr>
          <a:xfrm flipH="1">
            <a:off x="10587698" y="4669725"/>
            <a:ext cx="1026966" cy="1"/>
          </a:xfrm>
          <a:prstGeom prst="line">
            <a:avLst/>
          </a:prstGeom>
          <a:ln w="381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sp>
        <p:nvSpPr>
          <p:cNvPr id="884" name="Line"/>
          <p:cNvSpPr/>
          <p:nvPr/>
        </p:nvSpPr>
        <p:spPr>
          <a:xfrm flipV="1">
            <a:off x="11135654" y="10202687"/>
            <a:ext cx="1" cy="647988"/>
          </a:xfrm>
          <a:prstGeom prst="line">
            <a:avLst/>
          </a:prstGeom>
          <a:ln w="25400">
            <a:solidFill>
              <a:srgbClr val="000000"/>
            </a:solidFill>
            <a:miter lim="400000"/>
            <a:tailEnd type="triangle"/>
          </a:ln>
        </p:spPr>
        <p:txBody>
          <a:bodyPr lIns="50800" tIns="50800" rIns="50800" bIns="50800" anchor="ctr"/>
          <a:lstStyle/>
          <a:p>
            <a:pPr defTabSz="2438338">
              <a:defRPr b="0" spc="0" sz="2400">
                <a:solidFill>
                  <a:srgbClr val="5E5E5E"/>
                </a:solidFill>
              </a:defRPr>
            </a:pPr>
          </a:p>
        </p:txBody>
      </p:sp>
      <p:grpSp>
        <p:nvGrpSpPr>
          <p:cNvPr id="897" name="Google Shape;1534;p132"/>
          <p:cNvGrpSpPr/>
          <p:nvPr/>
        </p:nvGrpSpPr>
        <p:grpSpPr>
          <a:xfrm>
            <a:off x="4025882" y="12655073"/>
            <a:ext cx="15813902" cy="926116"/>
            <a:chOff x="0" y="0"/>
            <a:chExt cx="15813901" cy="926115"/>
          </a:xfrm>
        </p:grpSpPr>
        <p:grpSp>
          <p:nvGrpSpPr>
            <p:cNvPr id="887" name="Google Shape;1535;p132"/>
            <p:cNvGrpSpPr/>
            <p:nvPr/>
          </p:nvGrpSpPr>
          <p:grpSpPr>
            <a:xfrm>
              <a:off x="11585670" y="165308"/>
              <a:ext cx="4228232" cy="595499"/>
              <a:chOff x="0" y="0"/>
              <a:chExt cx="4228231" cy="595498"/>
            </a:xfrm>
          </p:grpSpPr>
          <p:sp>
            <p:nvSpPr>
              <p:cNvPr id="885"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886"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890" name="Google Shape;1536;p132"/>
            <p:cNvGrpSpPr/>
            <p:nvPr/>
          </p:nvGrpSpPr>
          <p:grpSpPr>
            <a:xfrm>
              <a:off x="7724657" y="165308"/>
              <a:ext cx="4228233" cy="595499"/>
              <a:chOff x="0" y="0"/>
              <a:chExt cx="4228231" cy="595498"/>
            </a:xfrm>
          </p:grpSpPr>
          <p:sp>
            <p:nvSpPr>
              <p:cNvPr id="888"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889"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893" name="Google Shape;1537;p132"/>
            <p:cNvGrpSpPr/>
            <p:nvPr/>
          </p:nvGrpSpPr>
          <p:grpSpPr>
            <a:xfrm>
              <a:off x="3858564" y="-1"/>
              <a:ext cx="4228232" cy="926117"/>
              <a:chOff x="0" y="0"/>
              <a:chExt cx="4228231" cy="926115"/>
            </a:xfrm>
          </p:grpSpPr>
          <p:sp>
            <p:nvSpPr>
              <p:cNvPr id="891" name="Chevron"/>
              <p:cNvSpPr/>
              <p:nvPr/>
            </p:nvSpPr>
            <p:spPr>
              <a:xfrm>
                <a:off x="0" y="208171"/>
                <a:ext cx="4228232" cy="509774"/>
              </a:xfrm>
              <a:prstGeom prst="chevron">
                <a:avLst>
                  <a:gd name="adj" fmla="val 50000"/>
                </a:avLst>
              </a:prstGeom>
              <a:solidFill>
                <a:srgbClr val="709CCC"/>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892"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Scenario Variation and Testing</a:t>
                </a:r>
              </a:p>
            </p:txBody>
          </p:sp>
        </p:grpSp>
        <p:grpSp>
          <p:nvGrpSpPr>
            <p:cNvPr id="896" name="Google Shape;1538;p132"/>
            <p:cNvGrpSpPr/>
            <p:nvPr/>
          </p:nvGrpSpPr>
          <p:grpSpPr>
            <a:xfrm>
              <a:off x="0" y="165308"/>
              <a:ext cx="4228232" cy="595499"/>
              <a:chOff x="0" y="0"/>
              <a:chExt cx="4228231" cy="595498"/>
            </a:xfrm>
          </p:grpSpPr>
          <p:sp>
            <p:nvSpPr>
              <p:cNvPr id="894"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895"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System Showcase</a:t>
                </a:r>
              </a:p>
            </p:txBody>
          </p:sp>
        </p:grpSp>
      </p:gr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899" name="Google Shape;523;p60"/>
          <p:cNvSpPr txBox="1"/>
          <p:nvPr>
            <p:ph type="sldNum" sz="quarter" idx="2"/>
          </p:nvPr>
        </p:nvSpPr>
        <p:spPr>
          <a:xfrm>
            <a:off x="783954" y="12435903"/>
            <a:ext cx="737486" cy="9090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00" name="Google Shape;939;p98"/>
          <p:cNvSpPr txBox="1"/>
          <p:nvPr>
            <p:ph type="title"/>
          </p:nvPr>
        </p:nvSpPr>
        <p:spPr>
          <a:xfrm>
            <a:off x="783933" y="474133"/>
            <a:ext cx="22589602" cy="2001601"/>
          </a:xfrm>
          <a:prstGeom prst="rect">
            <a:avLst/>
          </a:prstGeom>
        </p:spPr>
        <p:txBody>
          <a:bodyPr/>
          <a:lstStyle>
            <a:lvl1pPr defTabSz="2072640">
              <a:defRPr sz="6800"/>
            </a:lvl1pPr>
          </a:lstStyle>
          <a:p>
            <a:pPr/>
            <a:r>
              <a:t>Perception – Scenario Variations: Lidar Fog Modelling</a:t>
            </a:r>
          </a:p>
        </p:txBody>
      </p:sp>
      <p:sp>
        <p:nvSpPr>
          <p:cNvPr id="901" name="Google Shape;940;p98"/>
          <p:cNvSpPr txBox="1"/>
          <p:nvPr/>
        </p:nvSpPr>
        <p:spPr>
          <a:xfrm>
            <a:off x="19259866" y="11194933"/>
            <a:ext cx="7060801" cy="78528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p>
            <a:pPr algn="l" defTabSz="2438400">
              <a:lnSpc>
                <a:spcPct val="115000"/>
              </a:lnSpc>
              <a:spcBef>
                <a:spcPts val="3200"/>
              </a:spcBef>
              <a:defRPr b="0" spc="0" sz="2000" u="sng">
                <a:solidFill>
                  <a:srgbClr val="0097A7"/>
                </a:solidFill>
                <a:latin typeface="Helvetica Neue"/>
                <a:ea typeface="Helvetica Neue"/>
                <a:cs typeface="Helvetica Neue"/>
                <a:sym typeface="Helvetica Neue"/>
              </a:defRPr>
            </a:pPr>
            <a:r>
              <a:rPr>
                <a:solidFill>
                  <a:srgbClr val="B0D5CD"/>
                </a:solidFill>
                <a:uFill>
                  <a:solidFill>
                    <a:srgbClr val="B0D5CD"/>
                  </a:solidFill>
                </a:uFill>
                <a:hlinkClick r:id="rId3" invalidUrl="" action="" tgtFrame="" tooltip="" history="1" highlightClick="0" endSnd="0"/>
              </a:rPr>
              <a:t>https://arxiv.org/pdf/2108.05249</a:t>
            </a:r>
            <a:r>
              <a:rPr u="none">
                <a:solidFill>
                  <a:srgbClr val="000000"/>
                </a:solidFill>
              </a:rPr>
              <a:t xml:space="preserve"> </a:t>
            </a:r>
          </a:p>
        </p:txBody>
      </p:sp>
      <p:grpSp>
        <p:nvGrpSpPr>
          <p:cNvPr id="914" name="Google Shape;941;p98"/>
          <p:cNvGrpSpPr/>
          <p:nvPr/>
        </p:nvGrpSpPr>
        <p:grpSpPr>
          <a:xfrm>
            <a:off x="1571762" y="11962171"/>
            <a:ext cx="17818815" cy="1035064"/>
            <a:chOff x="0" y="4233"/>
            <a:chExt cx="17818814" cy="1035062"/>
          </a:xfrm>
        </p:grpSpPr>
        <p:grpSp>
          <p:nvGrpSpPr>
            <p:cNvPr id="904" name="Google Shape;942;p98"/>
            <p:cNvGrpSpPr/>
            <p:nvPr/>
          </p:nvGrpSpPr>
          <p:grpSpPr>
            <a:xfrm>
              <a:off x="13054520" y="188383"/>
              <a:ext cx="4764295" cy="666764"/>
              <a:chOff x="0" y="2116"/>
              <a:chExt cx="4764293" cy="666762"/>
            </a:xfrm>
          </p:grpSpPr>
          <p:sp>
            <p:nvSpPr>
              <p:cNvPr id="902" name="Chevron"/>
              <p:cNvSpPr/>
              <p:nvPr/>
            </p:nvSpPr>
            <p:spPr>
              <a:xfrm>
                <a:off x="0" y="48296"/>
                <a:ext cx="4764294" cy="574404"/>
              </a:xfrm>
              <a:prstGeom prst="chevron">
                <a:avLst>
                  <a:gd name="adj" fmla="val 50000"/>
                </a:avLst>
              </a:prstGeom>
              <a:solidFill>
                <a:srgbClr val="EFEFEF"/>
              </a:solidFill>
              <a:ln w="25400" cap="flat">
                <a:solidFill>
                  <a:srgbClr val="595959"/>
                </a:solidFill>
                <a:prstDash val="solid"/>
                <a:round/>
              </a:ln>
              <a:effectLst/>
            </p:spPr>
            <p:txBody>
              <a:bodyPr wrap="square" lIns="0" tIns="0" rIns="0" bIns="0" numCol="1" anchor="ctr">
                <a:noAutofit/>
              </a:bodyPr>
              <a:lstStyle/>
              <a:p>
                <a:pPr defTabSz="2438400">
                  <a:spcBef>
                    <a:spcPts val="1300"/>
                  </a:spcBef>
                  <a:defRPr spc="0" sz="2400">
                    <a:solidFill>
                      <a:srgbClr val="888888"/>
                    </a:solidFill>
                    <a:latin typeface="Calibri"/>
                    <a:ea typeface="Calibri"/>
                    <a:cs typeface="Calibri"/>
                    <a:sym typeface="Calibri"/>
                  </a:defRPr>
                </a:pPr>
              </a:p>
            </p:txBody>
          </p:sp>
          <p:sp>
            <p:nvSpPr>
              <p:cNvPr id="903" name="Reflection"/>
              <p:cNvSpPr txBox="1"/>
              <p:nvPr/>
            </p:nvSpPr>
            <p:spPr>
              <a:xfrm>
                <a:off x="299902" y="2116"/>
                <a:ext cx="4164492" cy="6667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66" tIns="182866" rIns="182866" bIns="182866" numCol="1" anchor="ctr">
                <a:spAutoFit/>
              </a:bodyPr>
              <a:lstStyle>
                <a:lvl1pPr defTabSz="2438400">
                  <a:spcBef>
                    <a:spcPts val="1300"/>
                  </a:spcBef>
                  <a:defRPr spc="0" sz="2400">
                    <a:solidFill>
                      <a:srgbClr val="888888"/>
                    </a:solidFill>
                    <a:latin typeface="Calibri"/>
                    <a:ea typeface="Calibri"/>
                    <a:cs typeface="Calibri"/>
                    <a:sym typeface="Calibri"/>
                  </a:defRPr>
                </a:lvl1pPr>
              </a:lstStyle>
              <a:p>
                <a:pPr/>
                <a:r>
                  <a:t>Reflection</a:t>
                </a:r>
              </a:p>
            </p:txBody>
          </p:sp>
        </p:grpSp>
        <p:grpSp>
          <p:nvGrpSpPr>
            <p:cNvPr id="907" name="Google Shape;943;p98"/>
            <p:cNvGrpSpPr/>
            <p:nvPr/>
          </p:nvGrpSpPr>
          <p:grpSpPr>
            <a:xfrm>
              <a:off x="8704002" y="188383"/>
              <a:ext cx="4764294" cy="666764"/>
              <a:chOff x="0" y="2116"/>
              <a:chExt cx="4764293" cy="666762"/>
            </a:xfrm>
          </p:grpSpPr>
          <p:sp>
            <p:nvSpPr>
              <p:cNvPr id="905" name="Chevron"/>
              <p:cNvSpPr/>
              <p:nvPr/>
            </p:nvSpPr>
            <p:spPr>
              <a:xfrm>
                <a:off x="0" y="48296"/>
                <a:ext cx="4764294" cy="574404"/>
              </a:xfrm>
              <a:prstGeom prst="chevron">
                <a:avLst>
                  <a:gd name="adj" fmla="val 50000"/>
                </a:avLst>
              </a:prstGeom>
              <a:solidFill>
                <a:srgbClr val="EEEEEE"/>
              </a:solidFill>
              <a:ln w="25400" cap="flat">
                <a:solidFill>
                  <a:srgbClr val="595959"/>
                </a:solidFill>
                <a:prstDash val="solid"/>
                <a:round/>
              </a:ln>
              <a:effectLst/>
            </p:spPr>
            <p:txBody>
              <a:bodyPr wrap="square" lIns="0" tIns="0" rIns="0" bIns="0" numCol="1" anchor="ctr">
                <a:noAutofit/>
              </a:bodyPr>
              <a:lstStyle/>
              <a:p>
                <a:pPr defTabSz="2438400">
                  <a:spcBef>
                    <a:spcPts val="1300"/>
                  </a:spcBef>
                  <a:defRPr spc="0" sz="2400">
                    <a:solidFill>
                      <a:srgbClr val="7F7F7F"/>
                    </a:solidFill>
                    <a:latin typeface="Calibri"/>
                    <a:ea typeface="Calibri"/>
                    <a:cs typeface="Calibri"/>
                    <a:sym typeface="Calibri"/>
                  </a:defRPr>
                </a:pPr>
              </a:p>
            </p:txBody>
          </p:sp>
          <p:sp>
            <p:nvSpPr>
              <p:cNvPr id="906" name="Low Traction Dynamics"/>
              <p:cNvSpPr txBox="1"/>
              <p:nvPr/>
            </p:nvSpPr>
            <p:spPr>
              <a:xfrm>
                <a:off x="299902" y="2116"/>
                <a:ext cx="4164492" cy="6667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66" tIns="182866" rIns="182866" bIns="182866" numCol="1" anchor="ctr">
                <a:spAutoFit/>
              </a:bodyPr>
              <a:lstStyle>
                <a:lvl1pPr defTabSz="2438400">
                  <a:spcBef>
                    <a:spcPts val="1300"/>
                  </a:spcBef>
                  <a:defRPr spc="0" sz="2400">
                    <a:solidFill>
                      <a:srgbClr val="7F7F7F"/>
                    </a:solidFill>
                    <a:latin typeface="Calibri"/>
                    <a:ea typeface="Calibri"/>
                    <a:cs typeface="Calibri"/>
                    <a:sym typeface="Calibri"/>
                  </a:defRPr>
                </a:lvl1pPr>
              </a:lstStyle>
              <a:p>
                <a:pPr/>
                <a:r>
                  <a:t>Low Traction Dynamics</a:t>
                </a:r>
              </a:p>
            </p:txBody>
          </p:sp>
        </p:grpSp>
        <p:grpSp>
          <p:nvGrpSpPr>
            <p:cNvPr id="910" name="Google Shape;944;p98"/>
            <p:cNvGrpSpPr/>
            <p:nvPr/>
          </p:nvGrpSpPr>
          <p:grpSpPr>
            <a:xfrm>
              <a:off x="4347760" y="4233"/>
              <a:ext cx="4764294" cy="1035064"/>
              <a:chOff x="0" y="4233"/>
              <a:chExt cx="4764293" cy="1035062"/>
            </a:xfrm>
          </p:grpSpPr>
          <p:sp>
            <p:nvSpPr>
              <p:cNvPr id="908" name="Chevron"/>
              <p:cNvSpPr/>
              <p:nvPr/>
            </p:nvSpPr>
            <p:spPr>
              <a:xfrm>
                <a:off x="0" y="234563"/>
                <a:ext cx="4764294" cy="574404"/>
              </a:xfrm>
              <a:prstGeom prst="chevron">
                <a:avLst>
                  <a:gd name="adj" fmla="val 50000"/>
                </a:avLst>
              </a:prstGeom>
              <a:solidFill>
                <a:srgbClr val="629DD1"/>
              </a:solidFill>
              <a:ln w="25400" cap="flat">
                <a:solidFill>
                  <a:srgbClr val="595959"/>
                </a:solidFill>
                <a:prstDash val="solid"/>
                <a:round/>
              </a:ln>
              <a:effectLst/>
            </p:spPr>
            <p:txBody>
              <a:bodyPr wrap="square" lIns="0" tIns="0" rIns="0" bIns="0" numCol="1" anchor="ctr">
                <a:noAutofit/>
              </a:bodyPr>
              <a:lstStyle/>
              <a:p>
                <a:pPr defTabSz="2438400">
                  <a:spcBef>
                    <a:spcPts val="1300"/>
                  </a:spcBef>
                  <a:defRPr spc="0" sz="2400">
                    <a:latin typeface="Calibri"/>
                    <a:ea typeface="Calibri"/>
                    <a:cs typeface="Calibri"/>
                    <a:sym typeface="Calibri"/>
                  </a:defRPr>
                </a:pPr>
              </a:p>
            </p:txBody>
          </p:sp>
          <p:sp>
            <p:nvSpPr>
              <p:cNvPr id="909" name="Scenario Variation and Testing"/>
              <p:cNvSpPr txBox="1"/>
              <p:nvPr/>
            </p:nvSpPr>
            <p:spPr>
              <a:xfrm>
                <a:off x="299902" y="4233"/>
                <a:ext cx="4164492" cy="10350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66" tIns="182866" rIns="182866" bIns="182866" numCol="1" anchor="ctr">
                <a:spAutoFit/>
              </a:bodyPr>
              <a:lstStyle>
                <a:lvl1pPr defTabSz="2438400">
                  <a:spcBef>
                    <a:spcPts val="1300"/>
                  </a:spcBef>
                  <a:defRPr spc="0" sz="2400">
                    <a:solidFill>
                      <a:srgbClr val="FFFFFF"/>
                    </a:solidFill>
                    <a:latin typeface="Calibri"/>
                    <a:ea typeface="Calibri"/>
                    <a:cs typeface="Calibri"/>
                    <a:sym typeface="Calibri"/>
                  </a:defRPr>
                </a:lvl1pPr>
              </a:lstStyle>
              <a:p>
                <a:pPr/>
                <a:r>
                  <a:t>Scenario Variation and Testing</a:t>
                </a:r>
              </a:p>
            </p:txBody>
          </p:sp>
        </p:grpSp>
        <p:grpSp>
          <p:nvGrpSpPr>
            <p:cNvPr id="913" name="Google Shape;945;p98"/>
            <p:cNvGrpSpPr/>
            <p:nvPr/>
          </p:nvGrpSpPr>
          <p:grpSpPr>
            <a:xfrm>
              <a:off x="0" y="188383"/>
              <a:ext cx="4764294" cy="666764"/>
              <a:chOff x="0" y="2116"/>
              <a:chExt cx="4764293" cy="666762"/>
            </a:xfrm>
          </p:grpSpPr>
          <p:sp>
            <p:nvSpPr>
              <p:cNvPr id="911" name="Chevron"/>
              <p:cNvSpPr/>
              <p:nvPr/>
            </p:nvSpPr>
            <p:spPr>
              <a:xfrm>
                <a:off x="0" y="48296"/>
                <a:ext cx="4764294" cy="574404"/>
              </a:xfrm>
              <a:prstGeom prst="chevron">
                <a:avLst>
                  <a:gd name="adj" fmla="val 50000"/>
                </a:avLst>
              </a:prstGeom>
              <a:solidFill>
                <a:srgbClr val="EEEEEE"/>
              </a:solidFill>
              <a:ln w="25400" cap="flat">
                <a:solidFill>
                  <a:srgbClr val="595959"/>
                </a:solidFill>
                <a:prstDash val="solid"/>
                <a:round/>
              </a:ln>
              <a:effectLst/>
            </p:spPr>
            <p:txBody>
              <a:bodyPr wrap="square" lIns="0" tIns="0" rIns="0" bIns="0" numCol="1" anchor="ctr">
                <a:noAutofit/>
              </a:bodyPr>
              <a:lstStyle/>
              <a:p>
                <a:pPr defTabSz="2438400">
                  <a:spcBef>
                    <a:spcPts val="1300"/>
                  </a:spcBef>
                  <a:defRPr spc="0" sz="2400">
                    <a:solidFill>
                      <a:srgbClr val="888888"/>
                    </a:solidFill>
                    <a:latin typeface="Calibri"/>
                    <a:ea typeface="Calibri"/>
                    <a:cs typeface="Calibri"/>
                    <a:sym typeface="Calibri"/>
                  </a:defRPr>
                </a:pPr>
              </a:p>
            </p:txBody>
          </p:sp>
          <p:sp>
            <p:nvSpPr>
              <p:cNvPr id="912" name="CI/CD"/>
              <p:cNvSpPr txBox="1"/>
              <p:nvPr/>
            </p:nvSpPr>
            <p:spPr>
              <a:xfrm>
                <a:off x="299902" y="2116"/>
                <a:ext cx="4164492" cy="6667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66" tIns="182866" rIns="182866" bIns="182866" numCol="1" anchor="ctr">
                <a:spAutoFit/>
              </a:bodyPr>
              <a:lstStyle>
                <a:lvl1pPr defTabSz="2438400">
                  <a:spcBef>
                    <a:spcPts val="1300"/>
                  </a:spcBef>
                  <a:defRPr spc="0" sz="2400">
                    <a:solidFill>
                      <a:srgbClr val="888888"/>
                    </a:solidFill>
                    <a:latin typeface="Calibri"/>
                    <a:ea typeface="Calibri"/>
                    <a:cs typeface="Calibri"/>
                    <a:sym typeface="Calibri"/>
                  </a:defRPr>
                </a:lvl1pPr>
              </a:lstStyle>
              <a:p>
                <a:pPr/>
                <a:r>
                  <a:t>CI/CD</a:t>
                </a:r>
              </a:p>
            </p:txBody>
          </p:sp>
        </p:grpSp>
      </p:grpSp>
      <p:grpSp>
        <p:nvGrpSpPr>
          <p:cNvPr id="917" name="Google Shape;946;p98"/>
          <p:cNvGrpSpPr/>
          <p:nvPr/>
        </p:nvGrpSpPr>
        <p:grpSpPr>
          <a:xfrm>
            <a:off x="602413" y="5188066"/>
            <a:ext cx="5113601" cy="2112001"/>
            <a:chOff x="0" y="0"/>
            <a:chExt cx="5113600" cy="2112000"/>
          </a:xfrm>
        </p:grpSpPr>
        <p:sp>
          <p:nvSpPr>
            <p:cNvPr id="915" name="Rounded Rectangle"/>
            <p:cNvSpPr/>
            <p:nvPr/>
          </p:nvSpPr>
          <p:spPr>
            <a:xfrm>
              <a:off x="0" y="0"/>
              <a:ext cx="5113601" cy="2112001"/>
            </a:xfrm>
            <a:prstGeom prst="roundRect">
              <a:avLst>
                <a:gd name="adj" fmla="val 16667"/>
              </a:avLst>
            </a:prstGeom>
            <a:solidFill>
              <a:srgbClr val="D9D2E9"/>
            </a:solidFill>
            <a:ln w="25400" cap="flat">
              <a:solidFill>
                <a:srgbClr val="434343"/>
              </a:solidFill>
              <a:prstDash val="solid"/>
              <a:round/>
            </a:ln>
            <a:effectLst/>
          </p:spPr>
          <p:txBody>
            <a:bodyPr wrap="square" lIns="0" tIns="0" rIns="0" bIns="0" numCol="1" anchor="ctr">
              <a:noAutofit/>
            </a:bodyPr>
            <a:lstStyle/>
            <a:p>
              <a:pPr defTabSz="2438400">
                <a:defRPr b="0" spc="0" sz="3600">
                  <a:latin typeface="Montserrat"/>
                  <a:ea typeface="Montserrat"/>
                  <a:cs typeface="Montserrat"/>
                  <a:sym typeface="Montserrat"/>
                </a:defRPr>
              </a:pPr>
            </a:p>
          </p:txBody>
        </p:sp>
        <p:sp>
          <p:nvSpPr>
            <p:cNvPr id="916" name="Clear sky LiDAR points"/>
            <p:cNvSpPr txBox="1"/>
            <p:nvPr/>
          </p:nvSpPr>
          <p:spPr>
            <a:xfrm>
              <a:off x="115798" y="266100"/>
              <a:ext cx="4882004" cy="157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ctr">
              <a:spAutoFit/>
            </a:bodyPr>
            <a:lstStyle>
              <a:lvl1pPr defTabSz="2438400">
                <a:defRPr b="0" spc="0" sz="3600">
                  <a:latin typeface="Montserrat"/>
                  <a:ea typeface="Montserrat"/>
                  <a:cs typeface="Montserrat"/>
                  <a:sym typeface="Montserrat"/>
                </a:defRPr>
              </a:lvl1pPr>
            </a:lstStyle>
            <a:p>
              <a:pPr/>
              <a:r>
                <a:t>Clear sky LiDAR points</a:t>
              </a:r>
            </a:p>
          </p:txBody>
        </p:sp>
      </p:grpSp>
      <p:grpSp>
        <p:nvGrpSpPr>
          <p:cNvPr id="920" name="Google Shape;947;p98"/>
          <p:cNvGrpSpPr/>
          <p:nvPr/>
        </p:nvGrpSpPr>
        <p:grpSpPr>
          <a:xfrm>
            <a:off x="18055079" y="2919199"/>
            <a:ext cx="5113601" cy="2112002"/>
            <a:chOff x="0" y="6949"/>
            <a:chExt cx="5113600" cy="2112000"/>
          </a:xfrm>
        </p:grpSpPr>
        <p:sp>
          <p:nvSpPr>
            <p:cNvPr id="918" name="Rounded Rectangle"/>
            <p:cNvSpPr/>
            <p:nvPr/>
          </p:nvSpPr>
          <p:spPr>
            <a:xfrm>
              <a:off x="0" y="6949"/>
              <a:ext cx="5113601" cy="2112002"/>
            </a:xfrm>
            <a:prstGeom prst="roundRect">
              <a:avLst>
                <a:gd name="adj" fmla="val 16667"/>
              </a:avLst>
            </a:prstGeom>
            <a:solidFill>
              <a:srgbClr val="D9D2E9"/>
            </a:solidFill>
            <a:ln w="25400" cap="flat">
              <a:solidFill>
                <a:srgbClr val="434343"/>
              </a:solidFill>
              <a:prstDash val="solid"/>
              <a:round/>
            </a:ln>
            <a:effectLst/>
          </p:spPr>
          <p:txBody>
            <a:bodyPr wrap="square" lIns="0" tIns="0" rIns="0" bIns="0" numCol="1" anchor="ctr">
              <a:noAutofit/>
            </a:bodyPr>
            <a:lstStyle/>
            <a:p>
              <a:pPr defTabSz="2438400">
                <a:defRPr b="0" spc="0" sz="3600">
                  <a:latin typeface="Montserrat"/>
                  <a:ea typeface="Montserrat"/>
                  <a:cs typeface="Montserrat"/>
                  <a:sym typeface="Montserrat"/>
                </a:defRPr>
              </a:pPr>
            </a:p>
          </p:txBody>
        </p:sp>
        <p:sp>
          <p:nvSpPr>
            <p:cNvPr id="919" name="Disturbance point with soft intensity i_soft"/>
            <p:cNvSpPr/>
            <p:nvPr/>
          </p:nvSpPr>
          <p:spPr>
            <a:xfrm>
              <a:off x="115798" y="1062950"/>
              <a:ext cx="4882004"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ctr">
              <a:spAutoFit/>
            </a:bodyPr>
            <a:lstStyle/>
            <a:p>
              <a:pPr defTabSz="2438400">
                <a:defRPr b="0" spc="0" sz="3600">
                  <a:latin typeface="Montserrat"/>
                  <a:ea typeface="Montserrat"/>
                  <a:cs typeface="Montserrat"/>
                  <a:sym typeface="Montserrat"/>
                </a:defRPr>
              </a:pPr>
              <a:r>
                <a:t xml:space="preserve">Disturbance point with soft intensity </a:t>
              </a:r>
              <a:r>
                <a:rPr i="1"/>
                <a:t>i_soft</a:t>
              </a:r>
            </a:p>
          </p:txBody>
        </p:sp>
      </p:grpSp>
      <p:grpSp>
        <p:nvGrpSpPr>
          <p:cNvPr id="923" name="Google Shape;948;p98"/>
          <p:cNvGrpSpPr/>
          <p:nvPr/>
        </p:nvGrpSpPr>
        <p:grpSpPr>
          <a:xfrm>
            <a:off x="7105932" y="2988069"/>
            <a:ext cx="8996801" cy="6512001"/>
            <a:chOff x="0" y="0"/>
            <a:chExt cx="8996799" cy="6512000"/>
          </a:xfrm>
        </p:grpSpPr>
        <p:sp>
          <p:nvSpPr>
            <p:cNvPr id="921" name="Polygon"/>
            <p:cNvSpPr/>
            <p:nvPr/>
          </p:nvSpPr>
          <p:spPr>
            <a:xfrm>
              <a:off x="0" y="0"/>
              <a:ext cx="8996800" cy="6512001"/>
            </a:xfrm>
            <a:prstGeom prst="diamond">
              <a:avLst/>
            </a:prstGeom>
            <a:solidFill>
              <a:srgbClr val="FEC1A7"/>
            </a:solidFill>
            <a:ln w="25400" cap="flat">
              <a:solidFill>
                <a:srgbClr val="434343"/>
              </a:solidFill>
              <a:prstDash val="solid"/>
              <a:round/>
            </a:ln>
            <a:effectLst/>
          </p:spPr>
          <p:txBody>
            <a:bodyPr wrap="square" lIns="0" tIns="0" rIns="0" bIns="0" numCol="1" anchor="ctr">
              <a:noAutofit/>
            </a:bodyPr>
            <a:lstStyle/>
            <a:p>
              <a:pPr defTabSz="2438400">
                <a:defRPr b="0" spc="0" sz="3600">
                  <a:latin typeface="Montserrat"/>
                  <a:ea typeface="Montserrat"/>
                  <a:cs typeface="Montserrat"/>
                  <a:sym typeface="Montserrat"/>
                </a:defRPr>
              </a:pPr>
            </a:p>
          </p:txBody>
        </p:sp>
        <p:sp>
          <p:nvSpPr>
            <p:cNvPr id="922" name="Calculate i_soft and i_hard of a hypothetical “soft target” and “hard target” along ray direction"/>
            <p:cNvSpPr txBox="1"/>
            <p:nvPr/>
          </p:nvSpPr>
          <p:spPr>
            <a:xfrm>
              <a:off x="2261900" y="1373900"/>
              <a:ext cx="4473001" cy="3764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ctr">
              <a:spAutoFit/>
            </a:bodyPr>
            <a:lstStyle/>
            <a:p>
              <a:pPr defTabSz="2438400">
                <a:defRPr b="0" spc="0" sz="3600">
                  <a:latin typeface="Montserrat"/>
                  <a:ea typeface="Montserrat"/>
                  <a:cs typeface="Montserrat"/>
                  <a:sym typeface="Montserrat"/>
                </a:defRPr>
              </a:pPr>
              <a:r>
                <a:t xml:space="preserve">Calculate </a:t>
              </a:r>
              <a:r>
                <a:rPr i="1"/>
                <a:t>i_soft</a:t>
              </a:r>
              <a:r>
                <a:t xml:space="preserve"> and </a:t>
              </a:r>
              <a:r>
                <a:rPr i="1"/>
                <a:t>i_hard</a:t>
              </a:r>
              <a:r>
                <a:t xml:space="preserve"> of a hypothetical “soft target” and “hard target” along ray direction</a:t>
              </a:r>
            </a:p>
          </p:txBody>
        </p:sp>
      </p:grpSp>
      <p:grpSp>
        <p:nvGrpSpPr>
          <p:cNvPr id="926" name="Google Shape;949;p98"/>
          <p:cNvGrpSpPr/>
          <p:nvPr/>
        </p:nvGrpSpPr>
        <p:grpSpPr>
          <a:xfrm>
            <a:off x="18055079" y="7670200"/>
            <a:ext cx="5113601" cy="2112001"/>
            <a:chOff x="0" y="0"/>
            <a:chExt cx="5113600" cy="2112000"/>
          </a:xfrm>
        </p:grpSpPr>
        <p:sp>
          <p:nvSpPr>
            <p:cNvPr id="924" name="Rounded Rectangle"/>
            <p:cNvSpPr/>
            <p:nvPr/>
          </p:nvSpPr>
          <p:spPr>
            <a:xfrm>
              <a:off x="0" y="0"/>
              <a:ext cx="5113601" cy="2112001"/>
            </a:xfrm>
            <a:prstGeom prst="roundRect">
              <a:avLst>
                <a:gd name="adj" fmla="val 16667"/>
              </a:avLst>
            </a:prstGeom>
            <a:solidFill>
              <a:srgbClr val="D9D2E9"/>
            </a:solidFill>
            <a:ln w="25400" cap="flat">
              <a:solidFill>
                <a:srgbClr val="434343"/>
              </a:solidFill>
              <a:prstDash val="solid"/>
              <a:round/>
            </a:ln>
            <a:effectLst/>
          </p:spPr>
          <p:txBody>
            <a:bodyPr wrap="square" lIns="0" tIns="0" rIns="0" bIns="0" numCol="1" anchor="ctr">
              <a:noAutofit/>
            </a:bodyPr>
            <a:lstStyle/>
            <a:p>
              <a:pPr defTabSz="2438400">
                <a:defRPr b="0" spc="0" sz="3600">
                  <a:latin typeface="Montserrat"/>
                  <a:ea typeface="Montserrat"/>
                  <a:cs typeface="Montserrat"/>
                  <a:sym typeface="Montserrat"/>
                </a:defRPr>
              </a:pPr>
            </a:p>
          </p:txBody>
        </p:sp>
        <p:sp>
          <p:nvSpPr>
            <p:cNvPr id="925" name="Original point with hard intensity i_hard"/>
            <p:cNvSpPr txBox="1"/>
            <p:nvPr/>
          </p:nvSpPr>
          <p:spPr>
            <a:xfrm>
              <a:off x="115798" y="266100"/>
              <a:ext cx="4882004" cy="157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ctr">
              <a:spAutoFit/>
            </a:bodyPr>
            <a:lstStyle/>
            <a:p>
              <a:pPr defTabSz="2438400">
                <a:defRPr b="0" spc="0" sz="3600">
                  <a:latin typeface="Montserrat"/>
                  <a:ea typeface="Montserrat"/>
                  <a:cs typeface="Montserrat"/>
                  <a:sym typeface="Montserrat"/>
                </a:defRPr>
              </a:pPr>
              <a:r>
                <a:t xml:space="preserve">Original point with hard intensity </a:t>
              </a:r>
              <a:r>
                <a:rPr i="1"/>
                <a:t>i_hard</a:t>
              </a:r>
            </a:p>
          </p:txBody>
        </p:sp>
      </p:grpSp>
      <p:sp>
        <p:nvSpPr>
          <p:cNvPr id="931" name="Google Shape;950;p98"/>
          <p:cNvSpPr/>
          <p:nvPr/>
        </p:nvSpPr>
        <p:spPr>
          <a:xfrm>
            <a:off x="5728847" y="6244067"/>
            <a:ext cx="1364338" cy="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21600"/>
                </a:lnTo>
              </a:path>
            </a:pathLst>
          </a:custGeom>
          <a:ln w="25400">
            <a:solidFill>
              <a:srgbClr val="434343"/>
            </a:solidFill>
            <a:tailEnd type="triangle"/>
          </a:ln>
        </p:spPr>
        <p:txBody>
          <a:bodyPr/>
          <a:lstStyle/>
          <a:p>
            <a:pPr/>
          </a:p>
        </p:txBody>
      </p:sp>
      <p:sp>
        <p:nvSpPr>
          <p:cNvPr id="932" name="Google Shape;951;p98"/>
          <p:cNvSpPr/>
          <p:nvPr/>
        </p:nvSpPr>
        <p:spPr>
          <a:xfrm>
            <a:off x="14878142" y="7146204"/>
            <a:ext cx="3164260" cy="8719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21600"/>
                </a:lnTo>
              </a:path>
            </a:pathLst>
          </a:custGeom>
          <a:ln w="25400">
            <a:solidFill>
              <a:srgbClr val="434343"/>
            </a:solidFill>
            <a:tailEnd type="triangle"/>
          </a:ln>
        </p:spPr>
        <p:txBody>
          <a:bodyPr/>
          <a:lstStyle/>
          <a:p>
            <a:pPr/>
          </a:p>
        </p:txBody>
      </p:sp>
      <p:sp>
        <p:nvSpPr>
          <p:cNvPr id="933" name="Google Shape;952;p98"/>
          <p:cNvSpPr/>
          <p:nvPr/>
        </p:nvSpPr>
        <p:spPr>
          <a:xfrm>
            <a:off x="14957657" y="4622419"/>
            <a:ext cx="3084723" cy="7769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path>
            </a:pathLst>
          </a:custGeom>
          <a:ln w="25400">
            <a:solidFill>
              <a:srgbClr val="434343"/>
            </a:solidFill>
            <a:tailEnd type="triangle"/>
          </a:ln>
        </p:spPr>
        <p:txBody>
          <a:bodyPr/>
          <a:lstStyle/>
          <a:p>
            <a:pPr/>
          </a:p>
        </p:txBody>
      </p:sp>
      <p:sp>
        <p:nvSpPr>
          <p:cNvPr id="930" name="Google Shape;953;p98"/>
          <p:cNvSpPr txBox="1"/>
          <p:nvPr/>
        </p:nvSpPr>
        <p:spPr>
          <a:xfrm>
            <a:off x="13925999" y="3975234"/>
            <a:ext cx="8401601" cy="1033701"/>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p>
            <a:pPr algn="l" defTabSz="2438400">
              <a:defRPr b="0" i="1" spc="0" sz="3600">
                <a:latin typeface="Montserrat"/>
                <a:ea typeface="Montserrat"/>
                <a:cs typeface="Montserrat"/>
                <a:sym typeface="Montserrat"/>
              </a:defRPr>
            </a:pPr>
            <a:r>
              <a:t>i_soft</a:t>
            </a:r>
            <a:r>
              <a:rPr i="0"/>
              <a:t xml:space="preserve"> </a:t>
            </a:r>
            <a:r>
              <a:rPr i="0">
                <a:solidFill>
                  <a:srgbClr val="434343"/>
                </a:solidFill>
              </a:rPr>
              <a:t xml:space="preserve">&gt; </a:t>
            </a:r>
            <a:r>
              <a:t>i_hard</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7"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38" name="Scenario Variation: LiDAR Fog Modelling"/>
          <p:cNvSpPr txBox="1"/>
          <p:nvPr>
            <p:ph type="title"/>
          </p:nvPr>
        </p:nvSpPr>
        <p:spPr>
          <a:prstGeom prst="rect">
            <a:avLst/>
          </a:prstGeom>
        </p:spPr>
        <p:txBody>
          <a:bodyPr/>
          <a:lstStyle>
            <a:lvl1pPr defTabSz="2145791">
              <a:defRPr spc="211" sz="7040"/>
            </a:lvl1pPr>
          </a:lstStyle>
          <a:p>
            <a:pPr/>
            <a:r>
              <a:t>Scenario Variation: LiDAR Fog Modelling</a:t>
            </a:r>
          </a:p>
        </p:txBody>
      </p:sp>
      <p:sp>
        <p:nvSpPr>
          <p:cNvPr id="939" name="Clear sky point cloud"/>
          <p:cNvSpPr/>
          <p:nvPr/>
        </p:nvSpPr>
        <p:spPr>
          <a:xfrm>
            <a:off x="3459500" y="10887998"/>
            <a:ext cx="5599032" cy="1689439"/>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Clear sky point cloud</a:t>
            </a:r>
          </a:p>
        </p:txBody>
      </p:sp>
      <p:sp>
        <p:nvSpPr>
          <p:cNvPr id="940" name="Foggy point cloud"/>
          <p:cNvSpPr/>
          <p:nvPr/>
        </p:nvSpPr>
        <p:spPr>
          <a:xfrm>
            <a:off x="14319048" y="10902055"/>
            <a:ext cx="5599032" cy="1689439"/>
          </a:xfrm>
          <a:prstGeom prst="roundRect">
            <a:avLst>
              <a:gd name="adj" fmla="val 50000"/>
            </a:avLst>
          </a:prstGeom>
          <a:solidFill>
            <a:srgbClr val="D1BFEB"/>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Foggy point cloud</a:t>
            </a:r>
          </a:p>
        </p:txBody>
      </p:sp>
      <p:sp>
        <p:nvSpPr>
          <p:cNvPr id="941" name="Loss of detail"/>
          <p:cNvSpPr/>
          <p:nvPr/>
        </p:nvSpPr>
        <p:spPr>
          <a:xfrm>
            <a:off x="8734364" y="2675641"/>
            <a:ext cx="5599032" cy="1689439"/>
          </a:xfrm>
          <a:prstGeom prst="roundRect">
            <a:avLst>
              <a:gd name="adj" fmla="val 50000"/>
            </a:avLst>
          </a:prstGeom>
          <a:solidFill>
            <a:srgbClr val="96D9B3"/>
          </a:solidFill>
          <a:ln w="63500">
            <a:solidFill>
              <a:srgbClr val="756086"/>
            </a:solidFill>
            <a:miter lim="400000"/>
          </a:ln>
          <a:extLst>
            <a:ext uri="{C572A759-6A51-4108-AA02-DFA0A04FC94B}">
              <ma14:wrappingTextBoxFlag xmlns:ma14="http://schemas.microsoft.com/office/mac/drawingml/2011/main" val="1"/>
            </a:ext>
          </a:extLst>
        </p:spPr>
        <p:txBody>
          <a:bodyPr lIns="50800" tIns="50800" rIns="50800" bIns="50800" anchor="ctr"/>
          <a:lstStyle>
            <a:lvl1pPr defTabSz="1130300">
              <a:defRPr b="0" spc="0" sz="3200"/>
            </a:lvl1pPr>
          </a:lstStyle>
          <a:p>
            <a:pPr/>
            <a:r>
              <a:t>Loss of detail</a:t>
            </a:r>
          </a:p>
        </p:txBody>
      </p:sp>
      <p:grpSp>
        <p:nvGrpSpPr>
          <p:cNvPr id="945" name="Group"/>
          <p:cNvGrpSpPr/>
          <p:nvPr/>
        </p:nvGrpSpPr>
        <p:grpSpPr>
          <a:xfrm>
            <a:off x="15508599" y="2407633"/>
            <a:ext cx="9447464" cy="1718485"/>
            <a:chOff x="0" y="0"/>
            <a:chExt cx="9447463" cy="1718484"/>
          </a:xfrm>
        </p:grpSpPr>
        <p:pic>
          <p:nvPicPr>
            <p:cNvPr id="942" name="Google Shape;983;p100" descr="Google Shape;983;p100"/>
            <p:cNvPicPr>
              <a:picLocks noChangeAspect="1"/>
            </p:cNvPicPr>
            <p:nvPr/>
          </p:nvPicPr>
          <p:blipFill>
            <a:blip r:embed="rId2">
              <a:extLst/>
            </a:blip>
            <a:srcRect l="66534" t="65454" r="7054" b="27451"/>
            <a:stretch>
              <a:fillRect/>
            </a:stretch>
          </p:blipFill>
          <p:spPr>
            <a:xfrm rot="10800712">
              <a:off x="1562176" y="1089352"/>
              <a:ext cx="5381359" cy="628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562"/>
                  </a:moveTo>
                  <a:lnTo>
                    <a:pt x="21599" y="0"/>
                  </a:lnTo>
                  <a:lnTo>
                    <a:pt x="0" y="38"/>
                  </a:lnTo>
                  <a:lnTo>
                    <a:pt x="1" y="21600"/>
                  </a:lnTo>
                  <a:lnTo>
                    <a:pt x="21600" y="21562"/>
                  </a:lnTo>
                  <a:close/>
                </a:path>
              </a:pathLst>
            </a:custGeom>
            <a:ln w="12700" cap="flat">
              <a:noFill/>
              <a:miter lim="400000"/>
            </a:ln>
            <a:effectLst/>
          </p:spPr>
        </p:pic>
        <p:sp>
          <p:nvSpPr>
            <p:cNvPr id="943" name="Google Shape;984;p100"/>
            <p:cNvSpPr txBox="1"/>
            <p:nvPr/>
          </p:nvSpPr>
          <p:spPr>
            <a:xfrm>
              <a:off x="0" y="0"/>
              <a:ext cx="4567198" cy="9835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b="0" spc="0" sz="3400">
                  <a:solidFill>
                    <a:srgbClr val="434343"/>
                  </a:solidFill>
                  <a:latin typeface="Helvetica Neue"/>
                  <a:ea typeface="Helvetica Neue"/>
                  <a:cs typeface="Helvetica Neue"/>
                  <a:sym typeface="Helvetica Neue"/>
                </a:defRPr>
              </a:lvl1pPr>
            </a:lstStyle>
            <a:p>
              <a:pPr/>
              <a:r>
                <a:t>High intensity</a:t>
              </a:r>
            </a:p>
          </p:txBody>
        </p:sp>
        <p:sp>
          <p:nvSpPr>
            <p:cNvPr id="944" name="Google Shape;985;p100"/>
            <p:cNvSpPr txBox="1"/>
            <p:nvPr/>
          </p:nvSpPr>
          <p:spPr>
            <a:xfrm>
              <a:off x="4880266" y="0"/>
              <a:ext cx="4567198" cy="9835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43799" tIns="243799" rIns="243799" bIns="243799" numCol="1" anchor="t">
              <a:spAutoFit/>
            </a:bodyPr>
            <a:lstStyle>
              <a:lvl1pPr algn="l" defTabSz="2438400">
                <a:defRPr b="0" spc="0" sz="3400">
                  <a:solidFill>
                    <a:srgbClr val="434343"/>
                  </a:solidFill>
                  <a:latin typeface="Helvetica Neue"/>
                  <a:ea typeface="Helvetica Neue"/>
                  <a:cs typeface="Helvetica Neue"/>
                  <a:sym typeface="Helvetica Neue"/>
                </a:defRPr>
              </a:lvl1pPr>
            </a:lstStyle>
            <a:p>
              <a:pPr/>
              <a:r>
                <a:t>Low intensity</a:t>
              </a:r>
            </a:p>
          </p:txBody>
        </p:sp>
      </p:grpSp>
      <p:pic>
        <p:nvPicPr>
          <p:cNvPr id="946" name="Screenshot 2026-02-15 at 2.29.40 PM.png" descr="Screenshot 2026-02-15 at 2.29.40 PM.png"/>
          <p:cNvPicPr>
            <a:picLocks noChangeAspect="1"/>
          </p:cNvPicPr>
          <p:nvPr/>
        </p:nvPicPr>
        <p:blipFill>
          <a:blip r:embed="rId3">
            <a:extLst/>
          </a:blip>
          <a:srcRect l="17027" t="0" r="11930" b="0"/>
          <a:stretch>
            <a:fillRect/>
          </a:stretch>
        </p:blipFill>
        <p:spPr>
          <a:xfrm>
            <a:off x="845317" y="4640543"/>
            <a:ext cx="10017261" cy="6169846"/>
          </a:xfrm>
          <a:prstGeom prst="rect">
            <a:avLst/>
          </a:prstGeom>
          <a:ln w="12700">
            <a:miter lim="400000"/>
          </a:ln>
        </p:spPr>
      </p:pic>
      <p:pic>
        <p:nvPicPr>
          <p:cNvPr id="947" name="Screenshot 2026-02-15 at 2.30.02 PM.png" descr="Screenshot 2026-02-15 at 2.30.02 PM.png"/>
          <p:cNvPicPr>
            <a:picLocks noChangeAspect="1"/>
          </p:cNvPicPr>
          <p:nvPr/>
        </p:nvPicPr>
        <p:blipFill>
          <a:blip r:embed="rId4">
            <a:extLst/>
          </a:blip>
          <a:srcRect l="17018" t="0" r="11647" b="0"/>
          <a:stretch>
            <a:fillRect/>
          </a:stretch>
        </p:blipFill>
        <p:spPr>
          <a:xfrm>
            <a:off x="12522693" y="4668656"/>
            <a:ext cx="10045336" cy="6169702"/>
          </a:xfrm>
          <a:prstGeom prst="rect">
            <a:avLst/>
          </a:prstGeom>
          <a:ln w="12700">
            <a:miter lim="400000"/>
          </a:ln>
        </p:spPr>
      </p:pic>
      <p:sp>
        <p:nvSpPr>
          <p:cNvPr id="948" name="Rounded Rectangle"/>
          <p:cNvSpPr/>
          <p:nvPr/>
        </p:nvSpPr>
        <p:spPr>
          <a:xfrm>
            <a:off x="15753934" y="5959093"/>
            <a:ext cx="2729259" cy="1797814"/>
          </a:xfrm>
          <a:prstGeom prst="roundRect">
            <a:avLst>
              <a:gd name="adj" fmla="val 18054"/>
            </a:avLst>
          </a:prstGeom>
          <a:ln w="88900">
            <a:solidFill>
              <a:srgbClr val="97D9B3"/>
            </a:solidFill>
            <a:miter lim="400000"/>
          </a:ln>
        </p:spPr>
        <p:txBody>
          <a:bodyPr lIns="50800" tIns="50800" rIns="50800" bIns="50800" anchor="ctr"/>
          <a:lstStyle/>
          <a:p>
            <a:pPr defTabSz="1130300">
              <a:defRPr b="0" spc="0" sz="3200"/>
            </a:pPr>
          </a:p>
        </p:txBody>
      </p:sp>
      <p:sp>
        <p:nvSpPr>
          <p:cNvPr id="949" name="Rounded Rectangle"/>
          <p:cNvSpPr/>
          <p:nvPr/>
        </p:nvSpPr>
        <p:spPr>
          <a:xfrm>
            <a:off x="4224929" y="6010282"/>
            <a:ext cx="2729259" cy="1797814"/>
          </a:xfrm>
          <a:prstGeom prst="roundRect">
            <a:avLst>
              <a:gd name="adj" fmla="val 18054"/>
            </a:avLst>
          </a:prstGeom>
          <a:ln w="88900">
            <a:solidFill>
              <a:srgbClr val="97D9B3"/>
            </a:solidFill>
            <a:miter lim="400000"/>
          </a:ln>
        </p:spPr>
        <p:txBody>
          <a:bodyPr lIns="50800" tIns="50800" rIns="50800" bIns="50800" anchor="ctr"/>
          <a:lstStyle/>
          <a:p>
            <a:pPr defTabSz="1130300">
              <a:defRPr b="0" spc="0" sz="3200"/>
            </a:pPr>
          </a:p>
        </p:txBody>
      </p:sp>
      <p:grpSp>
        <p:nvGrpSpPr>
          <p:cNvPr id="962" name="Google Shape;1534;p132"/>
          <p:cNvGrpSpPr/>
          <p:nvPr/>
        </p:nvGrpSpPr>
        <p:grpSpPr>
          <a:xfrm>
            <a:off x="4025882" y="12655073"/>
            <a:ext cx="15813902" cy="926116"/>
            <a:chOff x="0" y="0"/>
            <a:chExt cx="15813901" cy="926115"/>
          </a:xfrm>
        </p:grpSpPr>
        <p:grpSp>
          <p:nvGrpSpPr>
            <p:cNvPr id="952" name="Google Shape;1535;p132"/>
            <p:cNvGrpSpPr/>
            <p:nvPr/>
          </p:nvGrpSpPr>
          <p:grpSpPr>
            <a:xfrm>
              <a:off x="11585670" y="165308"/>
              <a:ext cx="4228232" cy="595499"/>
              <a:chOff x="0" y="0"/>
              <a:chExt cx="4228231" cy="595498"/>
            </a:xfrm>
          </p:grpSpPr>
          <p:sp>
            <p:nvSpPr>
              <p:cNvPr id="950"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951"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955" name="Google Shape;1536;p132"/>
            <p:cNvGrpSpPr/>
            <p:nvPr/>
          </p:nvGrpSpPr>
          <p:grpSpPr>
            <a:xfrm>
              <a:off x="7724657" y="165308"/>
              <a:ext cx="4228233" cy="595499"/>
              <a:chOff x="0" y="0"/>
              <a:chExt cx="4228231" cy="595498"/>
            </a:xfrm>
          </p:grpSpPr>
          <p:sp>
            <p:nvSpPr>
              <p:cNvPr id="953"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954"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958" name="Google Shape;1537;p132"/>
            <p:cNvGrpSpPr/>
            <p:nvPr/>
          </p:nvGrpSpPr>
          <p:grpSpPr>
            <a:xfrm>
              <a:off x="3858564" y="-1"/>
              <a:ext cx="4228232" cy="926117"/>
              <a:chOff x="0" y="0"/>
              <a:chExt cx="4228231" cy="926115"/>
            </a:xfrm>
          </p:grpSpPr>
          <p:sp>
            <p:nvSpPr>
              <p:cNvPr id="956" name="Chevron"/>
              <p:cNvSpPr/>
              <p:nvPr/>
            </p:nvSpPr>
            <p:spPr>
              <a:xfrm>
                <a:off x="0" y="208171"/>
                <a:ext cx="4228232" cy="509774"/>
              </a:xfrm>
              <a:prstGeom prst="chevron">
                <a:avLst>
                  <a:gd name="adj" fmla="val 50000"/>
                </a:avLst>
              </a:prstGeom>
              <a:solidFill>
                <a:srgbClr val="709CCC"/>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957"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Scenario Variation and Testing</a:t>
                </a:r>
              </a:p>
            </p:txBody>
          </p:sp>
        </p:grpSp>
        <p:grpSp>
          <p:nvGrpSpPr>
            <p:cNvPr id="961" name="Google Shape;1538;p132"/>
            <p:cNvGrpSpPr/>
            <p:nvPr/>
          </p:nvGrpSpPr>
          <p:grpSpPr>
            <a:xfrm>
              <a:off x="0" y="165308"/>
              <a:ext cx="4228232" cy="595499"/>
              <a:chOff x="0" y="0"/>
              <a:chExt cx="4228231" cy="595498"/>
            </a:xfrm>
          </p:grpSpPr>
          <p:sp>
            <p:nvSpPr>
              <p:cNvPr id="959"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960"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System Showcase</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945"/>
                                        </p:tgtEl>
                                        <p:attrNameLst>
                                          <p:attrName>style.visibility</p:attrName>
                                        </p:attrNameLst>
                                      </p:cBhvr>
                                      <p:to>
                                        <p:strVal val="visible"/>
                                      </p:to>
                                    </p:set>
                                    <p:animEffect filter="fade" transition="in">
                                      <p:cBhvr>
                                        <p:cTn id="7" dur="300"/>
                                        <p:tgtEl>
                                          <p:spTgt spid="94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941"/>
                                        </p:tgtEl>
                                        <p:attrNameLst>
                                          <p:attrName>style.visibility</p:attrName>
                                        </p:attrNameLst>
                                      </p:cBhvr>
                                      <p:to>
                                        <p:strVal val="visible"/>
                                      </p:to>
                                    </p:set>
                                    <p:anim calcmode="lin" valueType="num">
                                      <p:cBhvr>
                                        <p:cTn id="12" dur="500" fill="hold"/>
                                        <p:tgtEl>
                                          <p:spTgt spid="941"/>
                                        </p:tgtEl>
                                        <p:attrNameLst>
                                          <p:attrName>ppt_x</p:attrName>
                                        </p:attrNameLst>
                                      </p:cBhvr>
                                      <p:tavLst>
                                        <p:tav tm="0">
                                          <p:val>
                                            <p:strVal val="0-#ppt_w/2"/>
                                          </p:val>
                                        </p:tav>
                                        <p:tav tm="100000">
                                          <p:val>
                                            <p:strVal val="#ppt_x"/>
                                          </p:val>
                                        </p:tav>
                                      </p:tavLst>
                                    </p:anim>
                                    <p:anim calcmode="lin" valueType="num">
                                      <p:cBhvr>
                                        <p:cTn id="13" dur="500" fill="hold"/>
                                        <p:tgtEl>
                                          <p:spTgt spid="94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Class="entr" nodeType="afterEffect" presetID="9" grpId="3" fill="hold">
                                  <p:stCondLst>
                                    <p:cond delay="0"/>
                                  </p:stCondLst>
                                  <p:iterate type="el" backwards="0">
                                    <p:tmAbs val="0"/>
                                  </p:iterate>
                                  <p:childTnLst>
                                    <p:set>
                                      <p:cBhvr>
                                        <p:cTn id="16" fill="hold"/>
                                        <p:tgtEl>
                                          <p:spTgt spid="948"/>
                                        </p:tgtEl>
                                        <p:attrNameLst>
                                          <p:attrName>style.visibility</p:attrName>
                                        </p:attrNameLst>
                                      </p:cBhvr>
                                      <p:to>
                                        <p:strVal val="visible"/>
                                      </p:to>
                                    </p:set>
                                    <p:animEffect filter="dissolve" transition="in">
                                      <p:cBhvr>
                                        <p:cTn id="17" dur="300"/>
                                        <p:tgtEl>
                                          <p:spTgt spid="948"/>
                                        </p:tgtEl>
                                      </p:cBhvr>
                                    </p:animEffect>
                                  </p:childTnLst>
                                </p:cTn>
                              </p:par>
                            </p:childTnLst>
                          </p:cTn>
                        </p:par>
                        <p:par>
                          <p:cTn id="18" fill="hold">
                            <p:stCondLst>
                              <p:cond delay="800"/>
                            </p:stCondLst>
                            <p:childTnLst>
                              <p:par>
                                <p:cTn id="19" presetClass="entr" nodeType="afterEffect" presetID="9" grpId="4" fill="hold">
                                  <p:stCondLst>
                                    <p:cond delay="0"/>
                                  </p:stCondLst>
                                  <p:iterate type="el" backwards="0">
                                    <p:tmAbs val="0"/>
                                  </p:iterate>
                                  <p:childTnLst>
                                    <p:set>
                                      <p:cBhvr>
                                        <p:cTn id="20" fill="hold"/>
                                        <p:tgtEl>
                                          <p:spTgt spid="949"/>
                                        </p:tgtEl>
                                        <p:attrNameLst>
                                          <p:attrName>style.visibility</p:attrName>
                                        </p:attrNameLst>
                                      </p:cBhvr>
                                      <p:to>
                                        <p:strVal val="visible"/>
                                      </p:to>
                                    </p:set>
                                    <p:animEffect filter="dissolve" transition="in">
                                      <p:cBhvr>
                                        <p:cTn id="21" dur="300"/>
                                        <p:tgtEl>
                                          <p:spTgt spid="9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5" grpId="1"/>
      <p:bldP build="whole" bldLvl="1" animBg="1" rev="0" advAuto="0" spid="941" grpId="2"/>
      <p:bldP build="whole" bldLvl="1" animBg="1" rev="0" advAuto="0" spid="948" grpId="3"/>
      <p:bldP build="whole" bldLvl="1" animBg="1" rev="0" advAuto="0" spid="949" grpId="4"/>
    </p:bldLst>
  </p:timing>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966" name="Google Shape;1376;p123"/>
          <p:cNvGrpSpPr/>
          <p:nvPr/>
        </p:nvGrpSpPr>
        <p:grpSpPr>
          <a:xfrm>
            <a:off x="688677" y="3881275"/>
            <a:ext cx="4645601" cy="1178642"/>
            <a:chOff x="0" y="6211"/>
            <a:chExt cx="4645600" cy="1178640"/>
          </a:xfrm>
        </p:grpSpPr>
        <p:sp>
          <p:nvSpPr>
            <p:cNvPr id="964" name="Rounded Rectangle"/>
            <p:cNvSpPr/>
            <p:nvPr/>
          </p:nvSpPr>
          <p:spPr>
            <a:xfrm>
              <a:off x="0" y="51931"/>
              <a:ext cx="4645601" cy="1087201"/>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latin typeface="Arial"/>
                  <a:ea typeface="Arial"/>
                  <a:cs typeface="Arial"/>
                  <a:sym typeface="Arial"/>
                </a:defRPr>
              </a:pPr>
            </a:p>
          </p:txBody>
        </p:sp>
        <p:sp>
          <p:nvSpPr>
            <p:cNvPr id="965" name="Perception"/>
            <p:cNvSpPr txBox="1"/>
            <p:nvPr/>
          </p:nvSpPr>
          <p:spPr>
            <a:xfrm>
              <a:off x="71238" y="6211"/>
              <a:ext cx="4503124" cy="117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Perception</a:t>
              </a:r>
            </a:p>
          </p:txBody>
        </p:sp>
      </p:grpSp>
      <p:grpSp>
        <p:nvGrpSpPr>
          <p:cNvPr id="969" name="Google Shape;1377;p123"/>
          <p:cNvGrpSpPr/>
          <p:nvPr/>
        </p:nvGrpSpPr>
        <p:grpSpPr>
          <a:xfrm>
            <a:off x="6967267" y="3881275"/>
            <a:ext cx="4645601" cy="1178642"/>
            <a:chOff x="0" y="6211"/>
            <a:chExt cx="4645600" cy="1178640"/>
          </a:xfrm>
        </p:grpSpPr>
        <p:sp>
          <p:nvSpPr>
            <p:cNvPr id="967" name="Rounded Rectangle"/>
            <p:cNvSpPr/>
            <p:nvPr/>
          </p:nvSpPr>
          <p:spPr>
            <a:xfrm>
              <a:off x="0" y="51931"/>
              <a:ext cx="4645601" cy="1087201"/>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latin typeface="Arial"/>
                  <a:ea typeface="Arial"/>
                  <a:cs typeface="Arial"/>
                  <a:sym typeface="Arial"/>
                </a:defRPr>
              </a:pPr>
            </a:p>
          </p:txBody>
        </p:sp>
        <p:sp>
          <p:nvSpPr>
            <p:cNvPr id="968" name="Planning &amp; Control"/>
            <p:cNvSpPr txBox="1"/>
            <p:nvPr/>
          </p:nvSpPr>
          <p:spPr>
            <a:xfrm>
              <a:off x="71238" y="6211"/>
              <a:ext cx="4503124" cy="117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Planning &amp; Control</a:t>
              </a:r>
            </a:p>
          </p:txBody>
        </p:sp>
      </p:grpSp>
      <p:grpSp>
        <p:nvGrpSpPr>
          <p:cNvPr id="972" name="Google Shape;1378;p123"/>
          <p:cNvGrpSpPr/>
          <p:nvPr/>
        </p:nvGrpSpPr>
        <p:grpSpPr>
          <a:xfrm>
            <a:off x="13036846" y="3881275"/>
            <a:ext cx="4645601" cy="1178642"/>
            <a:chOff x="0" y="6211"/>
            <a:chExt cx="4645600" cy="1178640"/>
          </a:xfrm>
        </p:grpSpPr>
        <p:sp>
          <p:nvSpPr>
            <p:cNvPr id="970" name="Rounded Rectangle"/>
            <p:cNvSpPr/>
            <p:nvPr/>
          </p:nvSpPr>
          <p:spPr>
            <a:xfrm>
              <a:off x="0" y="51931"/>
              <a:ext cx="4645601" cy="1087201"/>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latin typeface="Arial"/>
                  <a:ea typeface="Arial"/>
                  <a:cs typeface="Arial"/>
                  <a:sym typeface="Arial"/>
                </a:defRPr>
              </a:pPr>
            </a:p>
          </p:txBody>
        </p:sp>
        <p:sp>
          <p:nvSpPr>
            <p:cNvPr id="971" name="Localization"/>
            <p:cNvSpPr txBox="1"/>
            <p:nvPr/>
          </p:nvSpPr>
          <p:spPr>
            <a:xfrm>
              <a:off x="71238" y="6211"/>
              <a:ext cx="4503124" cy="117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Localization</a:t>
              </a:r>
            </a:p>
          </p:txBody>
        </p:sp>
      </p:grpSp>
      <p:grpSp>
        <p:nvGrpSpPr>
          <p:cNvPr id="975" name="Google Shape;1379;p123"/>
          <p:cNvGrpSpPr/>
          <p:nvPr/>
        </p:nvGrpSpPr>
        <p:grpSpPr>
          <a:xfrm>
            <a:off x="19106424" y="3881275"/>
            <a:ext cx="4645601" cy="1178642"/>
            <a:chOff x="0" y="6211"/>
            <a:chExt cx="4645600" cy="1178640"/>
          </a:xfrm>
        </p:grpSpPr>
        <p:sp>
          <p:nvSpPr>
            <p:cNvPr id="973" name="Rounded Rectangle"/>
            <p:cNvSpPr/>
            <p:nvPr/>
          </p:nvSpPr>
          <p:spPr>
            <a:xfrm>
              <a:off x="0" y="51931"/>
              <a:ext cx="4645601" cy="1087201"/>
            </a:xfrm>
            <a:prstGeom prst="roundRect">
              <a:avLst>
                <a:gd name="adj" fmla="val 16667"/>
              </a:avLst>
            </a:prstGeom>
            <a:solidFill>
              <a:srgbClr val="629DD1"/>
            </a:solidFill>
            <a:ln w="25400" cap="flat">
              <a:solidFill>
                <a:srgbClr val="434343"/>
              </a:solidFill>
              <a:prstDash val="solid"/>
              <a:round/>
            </a:ln>
            <a:effectLst/>
          </p:spPr>
          <p:txBody>
            <a:bodyPr wrap="square" lIns="0" tIns="0" rIns="0" bIns="0" numCol="1" anchor="ctr">
              <a:noAutofit/>
            </a:bodyPr>
            <a:lstStyle/>
            <a:p>
              <a:pPr defTabSz="2438400">
                <a:defRPr b="0" spc="0" sz="3400">
                  <a:latin typeface="Arial"/>
                  <a:ea typeface="Arial"/>
                  <a:cs typeface="Arial"/>
                  <a:sym typeface="Arial"/>
                </a:defRPr>
              </a:pPr>
            </a:p>
          </p:txBody>
        </p:sp>
        <p:sp>
          <p:nvSpPr>
            <p:cNvPr id="974" name="Integration"/>
            <p:cNvSpPr txBox="1"/>
            <p:nvPr/>
          </p:nvSpPr>
          <p:spPr>
            <a:xfrm>
              <a:off x="71238" y="6211"/>
              <a:ext cx="4503124" cy="117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2438400">
                <a:defRPr b="0" spc="0" sz="3400">
                  <a:solidFill>
                    <a:srgbClr val="FFFFFF"/>
                  </a:solidFill>
                  <a:latin typeface="Arial"/>
                  <a:ea typeface="Arial"/>
                  <a:cs typeface="Arial"/>
                  <a:sym typeface="Arial"/>
                </a:defRPr>
              </a:lvl1pPr>
            </a:lstStyle>
            <a:p>
              <a:pPr/>
              <a:r>
                <a:t>Integration</a:t>
              </a:r>
            </a:p>
          </p:txBody>
        </p:sp>
      </p:grpSp>
      <p:sp>
        <p:nvSpPr>
          <p:cNvPr id="976"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77" name="Metrics-Informed Development"/>
          <p:cNvSpPr txBox="1"/>
          <p:nvPr>
            <p:ph type="title"/>
          </p:nvPr>
        </p:nvSpPr>
        <p:spPr>
          <a:prstGeom prst="rect">
            <a:avLst/>
          </a:prstGeom>
        </p:spPr>
        <p:txBody>
          <a:bodyPr/>
          <a:lstStyle>
            <a:lvl1pPr defTabSz="2145791">
              <a:defRPr spc="211" sz="7040"/>
            </a:lvl1pPr>
          </a:lstStyle>
          <a:p>
            <a:pPr/>
            <a:r>
              <a:t>Metrics-Informed Development</a:t>
            </a:r>
          </a:p>
        </p:txBody>
      </p:sp>
      <p:pic>
        <p:nvPicPr>
          <p:cNvPr id="978" name="Screenshot 2026-02-15 at 3.19.21 PM.png" descr="Screenshot 2026-02-15 at 3.19.21 PM.png"/>
          <p:cNvPicPr>
            <a:picLocks noChangeAspect="1"/>
          </p:cNvPicPr>
          <p:nvPr/>
        </p:nvPicPr>
        <p:blipFill>
          <a:blip r:embed="rId2">
            <a:extLst/>
          </a:blip>
          <a:stretch>
            <a:fillRect/>
          </a:stretch>
        </p:blipFill>
        <p:spPr>
          <a:xfrm>
            <a:off x="327822" y="6276888"/>
            <a:ext cx="5367311" cy="2983764"/>
          </a:xfrm>
          <a:prstGeom prst="rect">
            <a:avLst/>
          </a:prstGeom>
          <a:ln w="12700">
            <a:miter lim="400000"/>
          </a:ln>
        </p:spPr>
      </p:pic>
      <p:pic>
        <p:nvPicPr>
          <p:cNvPr id="979" name="Google Shape;1181;p111" descr="Google Shape;1181;p111"/>
          <p:cNvPicPr>
            <a:picLocks noChangeAspect="1"/>
          </p:cNvPicPr>
          <p:nvPr/>
        </p:nvPicPr>
        <p:blipFill>
          <a:blip r:embed="rId3">
            <a:extLst/>
          </a:blip>
          <a:srcRect l="0" t="1127" r="0" b="0"/>
          <a:stretch>
            <a:fillRect/>
          </a:stretch>
        </p:blipFill>
        <p:spPr>
          <a:xfrm>
            <a:off x="12659490" y="6309990"/>
            <a:ext cx="5405002" cy="4106745"/>
          </a:xfrm>
          <a:prstGeom prst="rect">
            <a:avLst/>
          </a:prstGeom>
          <a:ln w="12700">
            <a:miter lim="400000"/>
          </a:ln>
        </p:spPr>
      </p:pic>
      <p:grpSp>
        <p:nvGrpSpPr>
          <p:cNvPr id="982" name="Group"/>
          <p:cNvGrpSpPr/>
          <p:nvPr/>
        </p:nvGrpSpPr>
        <p:grpSpPr>
          <a:xfrm>
            <a:off x="7648630" y="5396931"/>
            <a:ext cx="3287607" cy="5932981"/>
            <a:chOff x="0" y="0"/>
            <a:chExt cx="3287605" cy="5932980"/>
          </a:xfrm>
        </p:grpSpPr>
        <p:pic>
          <p:nvPicPr>
            <p:cNvPr id="980" name="Google Shape;1092;p106" descr="Google Shape;1092;p106"/>
            <p:cNvPicPr>
              <a:picLocks noChangeAspect="1"/>
            </p:cNvPicPr>
            <p:nvPr/>
          </p:nvPicPr>
          <p:blipFill>
            <a:blip r:embed="rId4">
              <a:extLst/>
            </a:blip>
            <a:stretch>
              <a:fillRect/>
            </a:stretch>
          </p:blipFill>
          <p:spPr>
            <a:xfrm>
              <a:off x="0" y="0"/>
              <a:ext cx="3287606" cy="5932981"/>
            </a:xfrm>
            <a:prstGeom prst="rect">
              <a:avLst/>
            </a:prstGeom>
            <a:ln w="12700" cap="flat">
              <a:noFill/>
              <a:miter lim="400000"/>
            </a:ln>
            <a:effectLst/>
          </p:spPr>
        </p:pic>
        <p:sp>
          <p:nvSpPr>
            <p:cNvPr id="981" name="Google Shape;1093;p106"/>
            <p:cNvSpPr/>
            <p:nvPr/>
          </p:nvSpPr>
          <p:spPr>
            <a:xfrm>
              <a:off x="1376270" y="527082"/>
              <a:ext cx="1146566" cy="37565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0281" y="20393"/>
                    <a:pt x="17957" y="19286"/>
                    <a:pt x="17052" y="18043"/>
                  </a:cubicBezTo>
                  <a:cubicBezTo>
                    <a:pt x="16174" y="16837"/>
                    <a:pt x="16503" y="15360"/>
                    <a:pt x="13642" y="14487"/>
                  </a:cubicBezTo>
                  <a:cubicBezTo>
                    <a:pt x="10087" y="13401"/>
                    <a:pt x="4396" y="12608"/>
                    <a:pt x="3410" y="11104"/>
                  </a:cubicBezTo>
                  <a:cubicBezTo>
                    <a:pt x="2033" y="9002"/>
                    <a:pt x="5925" y="6786"/>
                    <a:pt x="4547" y="4684"/>
                  </a:cubicBezTo>
                  <a:cubicBezTo>
                    <a:pt x="3500" y="3087"/>
                    <a:pt x="0" y="1629"/>
                    <a:pt x="0" y="0"/>
                  </a:cubicBezTo>
                </a:path>
              </a:pathLst>
            </a:custGeom>
            <a:noFill/>
            <a:ln w="38100" cap="flat">
              <a:solidFill>
                <a:srgbClr val="FF0000"/>
              </a:solidFill>
              <a:prstDash val="solid"/>
              <a:round/>
            </a:ln>
            <a:effectLst/>
          </p:spPr>
          <p:txBody>
            <a:bodyPr wrap="square" lIns="0" tIns="0" rIns="0" bIns="0" numCol="1" anchor="t">
              <a:noAutofit/>
            </a:bodyPr>
            <a:lstStyle/>
            <a:p>
              <a:pPr algn="l" defTabSz="2438400">
                <a:defRPr b="0" spc="0" sz="3600">
                  <a:latin typeface="Arial"/>
                  <a:ea typeface="Arial"/>
                  <a:cs typeface="Arial"/>
                  <a:sym typeface="Arial"/>
                </a:defRPr>
              </a:pPr>
            </a:p>
          </p:txBody>
        </p:sp>
      </p:grpSp>
      <p:pic>
        <p:nvPicPr>
          <p:cNvPr id="983" name="Screenshot 2026-02-15 at 4.40.04 PM.png" descr="Screenshot 2026-02-15 at 4.40.04 PM.png"/>
          <p:cNvPicPr>
            <a:picLocks noChangeAspect="1"/>
          </p:cNvPicPr>
          <p:nvPr/>
        </p:nvPicPr>
        <p:blipFill>
          <a:blip r:embed="rId5">
            <a:extLst/>
          </a:blip>
          <a:srcRect l="24099" t="0" r="21368" b="0"/>
          <a:stretch>
            <a:fillRect/>
          </a:stretch>
        </p:blipFill>
        <p:spPr>
          <a:xfrm>
            <a:off x="18134157" y="5474703"/>
            <a:ext cx="4179083" cy="3175612"/>
          </a:xfrm>
          <a:prstGeom prst="rect">
            <a:avLst/>
          </a:prstGeom>
          <a:ln w="12700">
            <a:miter lim="400000"/>
          </a:ln>
        </p:spPr>
      </p:pic>
      <p:pic>
        <p:nvPicPr>
          <p:cNvPr id="984" name="Screenshot 2026-02-15 at 4.39.58 PM.png" descr="Screenshot 2026-02-15 at 4.39.58 PM.png"/>
          <p:cNvPicPr>
            <a:picLocks noChangeAspect="1"/>
          </p:cNvPicPr>
          <p:nvPr/>
        </p:nvPicPr>
        <p:blipFill>
          <a:blip r:embed="rId6">
            <a:extLst/>
          </a:blip>
          <a:srcRect l="42758" t="0" r="882" b="18460"/>
          <a:stretch>
            <a:fillRect/>
          </a:stretch>
        </p:blipFill>
        <p:spPr>
          <a:xfrm>
            <a:off x="20409681" y="8139696"/>
            <a:ext cx="3897961" cy="2680753"/>
          </a:xfrm>
          <a:prstGeom prst="rect">
            <a:avLst/>
          </a:prstGeom>
          <a:ln w="12700">
            <a:miter lim="400000"/>
          </a:ln>
        </p:spPr>
      </p:pic>
      <p:grpSp>
        <p:nvGrpSpPr>
          <p:cNvPr id="997" name="Google Shape;1534;p132"/>
          <p:cNvGrpSpPr/>
          <p:nvPr/>
        </p:nvGrpSpPr>
        <p:grpSpPr>
          <a:xfrm>
            <a:off x="4025882" y="12655073"/>
            <a:ext cx="15813902" cy="926116"/>
            <a:chOff x="0" y="0"/>
            <a:chExt cx="15813901" cy="926115"/>
          </a:xfrm>
        </p:grpSpPr>
        <p:grpSp>
          <p:nvGrpSpPr>
            <p:cNvPr id="987" name="Google Shape;1535;p132"/>
            <p:cNvGrpSpPr/>
            <p:nvPr/>
          </p:nvGrpSpPr>
          <p:grpSpPr>
            <a:xfrm>
              <a:off x="11585670" y="165308"/>
              <a:ext cx="4228232" cy="595499"/>
              <a:chOff x="0" y="0"/>
              <a:chExt cx="4228231" cy="595498"/>
            </a:xfrm>
          </p:grpSpPr>
          <p:sp>
            <p:nvSpPr>
              <p:cNvPr id="985"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986"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990" name="Google Shape;1536;p132"/>
            <p:cNvGrpSpPr/>
            <p:nvPr/>
          </p:nvGrpSpPr>
          <p:grpSpPr>
            <a:xfrm>
              <a:off x="7724657" y="165308"/>
              <a:ext cx="4228233" cy="595499"/>
              <a:chOff x="0" y="0"/>
              <a:chExt cx="4228231" cy="595498"/>
            </a:xfrm>
          </p:grpSpPr>
          <p:sp>
            <p:nvSpPr>
              <p:cNvPr id="988"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989"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Low Traction Dynamics</a:t>
                </a:r>
              </a:p>
            </p:txBody>
          </p:sp>
        </p:grpSp>
        <p:grpSp>
          <p:nvGrpSpPr>
            <p:cNvPr id="993" name="Google Shape;1537;p132"/>
            <p:cNvGrpSpPr/>
            <p:nvPr/>
          </p:nvGrpSpPr>
          <p:grpSpPr>
            <a:xfrm>
              <a:off x="3858564" y="-1"/>
              <a:ext cx="4228232" cy="926117"/>
              <a:chOff x="0" y="0"/>
              <a:chExt cx="4228231" cy="926115"/>
            </a:xfrm>
          </p:grpSpPr>
          <p:sp>
            <p:nvSpPr>
              <p:cNvPr id="991" name="Chevron"/>
              <p:cNvSpPr/>
              <p:nvPr/>
            </p:nvSpPr>
            <p:spPr>
              <a:xfrm>
                <a:off x="0" y="208171"/>
                <a:ext cx="4228232" cy="509774"/>
              </a:xfrm>
              <a:prstGeom prst="chevron">
                <a:avLst>
                  <a:gd name="adj" fmla="val 50000"/>
                </a:avLst>
              </a:prstGeom>
              <a:solidFill>
                <a:srgbClr val="709CCC"/>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992"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DF7"/>
                    </a:solidFill>
                  </a:defRPr>
                </a:lvl1pPr>
              </a:lstStyle>
              <a:p>
                <a:pPr/>
                <a:r>
                  <a:t>Scenario Variation and Testing</a:t>
                </a:r>
              </a:p>
            </p:txBody>
          </p:sp>
        </p:grpSp>
        <p:grpSp>
          <p:nvGrpSpPr>
            <p:cNvPr id="996" name="Google Shape;1538;p132"/>
            <p:cNvGrpSpPr/>
            <p:nvPr/>
          </p:nvGrpSpPr>
          <p:grpSpPr>
            <a:xfrm>
              <a:off x="0" y="165308"/>
              <a:ext cx="4228232" cy="595499"/>
              <a:chOff x="0" y="0"/>
              <a:chExt cx="4228231" cy="595498"/>
            </a:xfrm>
          </p:grpSpPr>
          <p:sp>
            <p:nvSpPr>
              <p:cNvPr id="994"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629DD1"/>
                    </a:solidFill>
                  </a:defRPr>
                </a:pPr>
              </a:p>
            </p:txBody>
          </p:sp>
          <p:sp>
            <p:nvSpPr>
              <p:cNvPr id="995"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System Showcase</a:t>
                </a:r>
              </a:p>
            </p:txBody>
          </p:sp>
        </p:grpSp>
      </p:grpSp>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9"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00" name="Innovation: Custom Variable-Friction Maps"/>
          <p:cNvSpPr txBox="1"/>
          <p:nvPr>
            <p:ph type="title"/>
          </p:nvPr>
        </p:nvSpPr>
        <p:spPr>
          <a:prstGeom prst="rect">
            <a:avLst/>
          </a:prstGeom>
        </p:spPr>
        <p:txBody>
          <a:bodyPr/>
          <a:lstStyle>
            <a:lvl1pPr defTabSz="2145791">
              <a:defRPr spc="211" sz="7040"/>
            </a:lvl1pPr>
          </a:lstStyle>
          <a:p>
            <a:pPr/>
            <a:r>
              <a:t>Innovation: Custom Variable-Friction Maps</a:t>
            </a:r>
          </a:p>
        </p:txBody>
      </p:sp>
      <p:sp>
        <p:nvSpPr>
          <p:cNvPr id="1001" name="Google Shape;1717;p142"/>
          <p:cNvSpPr/>
          <p:nvPr/>
        </p:nvSpPr>
        <p:spPr>
          <a:xfrm>
            <a:off x="17830330" y="3044415"/>
            <a:ext cx="5587201" cy="4029602"/>
          </a:xfrm>
          <a:prstGeom prst="roundRect">
            <a:avLst>
              <a:gd name="adj" fmla="val 16667"/>
            </a:avLst>
          </a:prstGeom>
          <a:solidFill>
            <a:srgbClr val="F9D5AB"/>
          </a:solidFill>
          <a:ln w="25400">
            <a:solidFill>
              <a:srgbClr val="434343"/>
            </a:solidFill>
          </a:ln>
        </p:spPr>
        <p:txBody>
          <a:bodyPr lIns="0" tIns="0" rIns="0" bIns="0" anchor="ctr"/>
          <a:lstStyle/>
          <a:p>
            <a:pPr defTabSz="2438400">
              <a:defRPr b="0" spc="0" sz="3600">
                <a:solidFill>
                  <a:srgbClr val="FFFFFF"/>
                </a:solidFill>
                <a:latin typeface="Arial"/>
                <a:ea typeface="Arial"/>
                <a:cs typeface="Arial"/>
                <a:sym typeface="Arial"/>
              </a:defRPr>
            </a:pPr>
          </a:p>
        </p:txBody>
      </p:sp>
      <p:sp>
        <p:nvSpPr>
          <p:cNvPr id="1002" name="Google Shape;1718;p142"/>
          <p:cNvSpPr/>
          <p:nvPr/>
        </p:nvSpPr>
        <p:spPr>
          <a:xfrm>
            <a:off x="295399" y="7391820"/>
            <a:ext cx="23156802" cy="3805602"/>
          </a:xfrm>
          <a:prstGeom prst="roundRect">
            <a:avLst>
              <a:gd name="adj" fmla="val 16667"/>
            </a:avLst>
          </a:prstGeom>
          <a:solidFill>
            <a:srgbClr val="F9D5AB"/>
          </a:solidFill>
          <a:ln w="25400">
            <a:solidFill>
              <a:srgbClr val="434343"/>
            </a:solidFill>
          </a:ln>
        </p:spPr>
        <p:txBody>
          <a:bodyPr lIns="0" tIns="0" rIns="0" bIns="0" anchor="ctr"/>
          <a:lstStyle/>
          <a:p>
            <a:pPr defTabSz="2438400">
              <a:defRPr b="0" spc="0" sz="3600">
                <a:solidFill>
                  <a:srgbClr val="FFFFFF"/>
                </a:solidFill>
                <a:latin typeface="Arial"/>
                <a:ea typeface="Arial"/>
                <a:cs typeface="Arial"/>
                <a:sym typeface="Arial"/>
              </a:defRPr>
            </a:pPr>
          </a:p>
        </p:txBody>
      </p:sp>
      <p:sp>
        <p:nvSpPr>
          <p:cNvPr id="1003" name="Google Shape;1719;p142"/>
          <p:cNvSpPr/>
          <p:nvPr/>
        </p:nvSpPr>
        <p:spPr>
          <a:xfrm>
            <a:off x="268666" y="3044415"/>
            <a:ext cx="17340801" cy="4029602"/>
          </a:xfrm>
          <a:prstGeom prst="roundRect">
            <a:avLst>
              <a:gd name="adj" fmla="val 16667"/>
            </a:avLst>
          </a:prstGeom>
          <a:solidFill>
            <a:srgbClr val="B6D7A8"/>
          </a:solidFill>
          <a:ln w="25400">
            <a:solidFill>
              <a:srgbClr val="434343"/>
            </a:solidFill>
          </a:ln>
        </p:spPr>
        <p:txBody>
          <a:bodyPr lIns="0" tIns="0" rIns="0" bIns="0" anchor="ctr"/>
          <a:lstStyle/>
          <a:p>
            <a:pPr defTabSz="2438400">
              <a:defRPr b="0" spc="0" sz="3600">
                <a:solidFill>
                  <a:srgbClr val="FFFFFF"/>
                </a:solidFill>
                <a:latin typeface="Arial"/>
                <a:ea typeface="Arial"/>
                <a:cs typeface="Arial"/>
                <a:sym typeface="Arial"/>
              </a:defRPr>
            </a:pPr>
          </a:p>
        </p:txBody>
      </p:sp>
      <p:grpSp>
        <p:nvGrpSpPr>
          <p:cNvPr id="1006" name="Google Shape;1726;p142"/>
          <p:cNvGrpSpPr/>
          <p:nvPr/>
        </p:nvGrpSpPr>
        <p:grpSpPr>
          <a:xfrm>
            <a:off x="6671799" y="3443364"/>
            <a:ext cx="4884002" cy="3316104"/>
            <a:chOff x="0" y="-46520"/>
            <a:chExt cx="4884000" cy="3316103"/>
          </a:xfrm>
        </p:grpSpPr>
        <p:sp>
          <p:nvSpPr>
            <p:cNvPr id="1004" name="Rounded Rectangle"/>
            <p:cNvSpPr/>
            <p:nvPr/>
          </p:nvSpPr>
          <p:spPr>
            <a:xfrm>
              <a:off x="0" y="176331"/>
              <a:ext cx="4884001" cy="2870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05" name="Create friction material with constant friction value and assign to polygon"/>
            <p:cNvSpPr txBox="1"/>
            <p:nvPr/>
          </p:nvSpPr>
          <p:spPr>
            <a:xfrm>
              <a:off x="158289" y="-46521"/>
              <a:ext cx="4567422" cy="33161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Create friction material with constant friction value and assign to polygon</a:t>
              </a:r>
            </a:p>
          </p:txBody>
        </p:sp>
      </p:grpSp>
      <p:grpSp>
        <p:nvGrpSpPr>
          <p:cNvPr id="1009" name="Google Shape;1727;p142"/>
          <p:cNvGrpSpPr/>
          <p:nvPr/>
        </p:nvGrpSpPr>
        <p:grpSpPr>
          <a:xfrm>
            <a:off x="572399" y="4303015"/>
            <a:ext cx="5463201" cy="1598401"/>
            <a:chOff x="0" y="0"/>
            <a:chExt cx="5463199" cy="1598400"/>
          </a:xfrm>
        </p:grpSpPr>
        <p:sp>
          <p:nvSpPr>
            <p:cNvPr id="1007" name="Rounded Rectangle"/>
            <p:cNvSpPr/>
            <p:nvPr/>
          </p:nvSpPr>
          <p:spPr>
            <a:xfrm>
              <a:off x="0" y="0"/>
              <a:ext cx="5463200" cy="1598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08" name="Draw polygons"/>
            <p:cNvSpPr txBox="1"/>
            <p:nvPr/>
          </p:nvSpPr>
          <p:spPr>
            <a:xfrm>
              <a:off x="96193" y="207948"/>
              <a:ext cx="5270815" cy="11825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Draw polygons</a:t>
              </a:r>
            </a:p>
          </p:txBody>
        </p:sp>
      </p:grpSp>
      <p:grpSp>
        <p:nvGrpSpPr>
          <p:cNvPr id="1012" name="Google Shape;1728;p142"/>
          <p:cNvGrpSpPr/>
          <p:nvPr/>
        </p:nvGrpSpPr>
        <p:grpSpPr>
          <a:xfrm>
            <a:off x="12191994" y="4388189"/>
            <a:ext cx="5264801" cy="1426401"/>
            <a:chOff x="0" y="0"/>
            <a:chExt cx="5264800" cy="1426400"/>
          </a:xfrm>
        </p:grpSpPr>
        <p:sp>
          <p:nvSpPr>
            <p:cNvPr id="1010" name="Rounded Rectangle"/>
            <p:cNvSpPr/>
            <p:nvPr/>
          </p:nvSpPr>
          <p:spPr>
            <a:xfrm>
              <a:off x="0" y="0"/>
              <a:ext cx="5264801" cy="1426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11" name="Export as .tif"/>
            <p:cNvSpPr txBox="1"/>
            <p:nvPr/>
          </p:nvSpPr>
          <p:spPr>
            <a:xfrm>
              <a:off x="87798" y="121948"/>
              <a:ext cx="5089204" cy="11825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Export as .tif</a:t>
              </a:r>
            </a:p>
          </p:txBody>
        </p:sp>
      </p:grpSp>
      <p:grpSp>
        <p:nvGrpSpPr>
          <p:cNvPr id="1015" name="Google Shape;1729;p142"/>
          <p:cNvGrpSpPr/>
          <p:nvPr/>
        </p:nvGrpSpPr>
        <p:grpSpPr>
          <a:xfrm>
            <a:off x="17991529" y="4388215"/>
            <a:ext cx="5264802" cy="1426402"/>
            <a:chOff x="0" y="0"/>
            <a:chExt cx="5264800" cy="1426400"/>
          </a:xfrm>
        </p:grpSpPr>
        <p:sp>
          <p:nvSpPr>
            <p:cNvPr id="1013" name="Rounded Rectangle"/>
            <p:cNvSpPr/>
            <p:nvPr/>
          </p:nvSpPr>
          <p:spPr>
            <a:xfrm>
              <a:off x="0" y="0"/>
              <a:ext cx="5264801" cy="1426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14" name="Import as Lookup Table"/>
            <p:cNvSpPr/>
            <p:nvPr/>
          </p:nvSpPr>
          <p:spPr>
            <a:xfrm>
              <a:off x="87798" y="713199"/>
              <a:ext cx="5089204"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Import as Lookup Table</a:t>
              </a:r>
            </a:p>
          </p:txBody>
        </p:sp>
      </p:grpSp>
      <p:grpSp>
        <p:nvGrpSpPr>
          <p:cNvPr id="1018" name="Google Shape;1730;p142"/>
          <p:cNvGrpSpPr/>
          <p:nvPr/>
        </p:nvGrpSpPr>
        <p:grpSpPr>
          <a:xfrm>
            <a:off x="572815" y="8359482"/>
            <a:ext cx="5264802" cy="1715905"/>
            <a:chOff x="0" y="-8420"/>
            <a:chExt cx="5264800" cy="1715903"/>
          </a:xfrm>
        </p:grpSpPr>
        <p:sp>
          <p:nvSpPr>
            <p:cNvPr id="1016" name="Rounded Rectangle"/>
            <p:cNvSpPr/>
            <p:nvPr/>
          </p:nvSpPr>
          <p:spPr>
            <a:xfrm>
              <a:off x="0" y="136331"/>
              <a:ext cx="5264801" cy="1426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17" name="Draw polygons and assign friction"/>
            <p:cNvSpPr txBox="1"/>
            <p:nvPr/>
          </p:nvSpPr>
          <p:spPr>
            <a:xfrm>
              <a:off x="87798" y="-8421"/>
              <a:ext cx="5089204" cy="17159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Draw polygons and assign friction</a:t>
              </a:r>
            </a:p>
          </p:txBody>
        </p:sp>
      </p:grpSp>
      <p:grpSp>
        <p:nvGrpSpPr>
          <p:cNvPr id="1021" name="Google Shape;1731;p142"/>
          <p:cNvGrpSpPr/>
          <p:nvPr/>
        </p:nvGrpSpPr>
        <p:grpSpPr>
          <a:xfrm>
            <a:off x="17902572" y="8504247"/>
            <a:ext cx="5264801" cy="1426401"/>
            <a:chOff x="0" y="0"/>
            <a:chExt cx="5264800" cy="1426400"/>
          </a:xfrm>
        </p:grpSpPr>
        <p:sp>
          <p:nvSpPr>
            <p:cNvPr id="1019" name="Rounded Rectangle"/>
            <p:cNvSpPr/>
            <p:nvPr/>
          </p:nvSpPr>
          <p:spPr>
            <a:xfrm>
              <a:off x="0" y="0"/>
              <a:ext cx="5264801" cy="1426401"/>
            </a:xfrm>
            <a:prstGeom prst="roundRect">
              <a:avLst>
                <a:gd name="adj" fmla="val 16667"/>
              </a:avLst>
            </a:prstGeom>
            <a:solidFill>
              <a:srgbClr val="1E3264"/>
            </a:solidFill>
            <a:ln w="25400" cap="flat">
              <a:solidFill>
                <a:srgbClr val="434343"/>
              </a:solidFill>
              <a:prstDash val="solid"/>
              <a:round/>
            </a:ln>
            <a:effectLst/>
          </p:spPr>
          <p:txBody>
            <a:bodyPr wrap="square" lIns="0" tIns="0" rIns="0" bIns="0" numCol="1" anchor="ctr">
              <a:noAutofit/>
            </a:bodyPr>
            <a:lstStyle/>
            <a:p>
              <a:pPr defTabSz="2438400">
                <a:defRPr b="0" spc="0" sz="3400">
                  <a:solidFill>
                    <a:srgbClr val="FFFFFF"/>
                  </a:solidFill>
                  <a:latin typeface="Arial"/>
                  <a:ea typeface="Arial"/>
                  <a:cs typeface="Arial"/>
                  <a:sym typeface="Arial"/>
                </a:defRPr>
              </a:pPr>
            </a:p>
          </p:txBody>
        </p:sp>
        <p:sp>
          <p:nvSpPr>
            <p:cNvPr id="1020" name="Save as Lookup Table"/>
            <p:cNvSpPr txBox="1"/>
            <p:nvPr/>
          </p:nvSpPr>
          <p:spPr>
            <a:xfrm>
              <a:off x="87798" y="121948"/>
              <a:ext cx="5089204" cy="11825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8733" tIns="348733" rIns="348733" bIns="348733" numCol="1" anchor="ctr">
              <a:spAutoFit/>
            </a:bodyPr>
            <a:lstStyle>
              <a:lvl1pPr defTabSz="1130300">
                <a:defRPr b="0" spc="0" sz="3200">
                  <a:solidFill>
                    <a:srgbClr val="FFFFFF"/>
                  </a:solidFill>
                </a:defRPr>
              </a:lvl1pPr>
            </a:lstStyle>
            <a:p>
              <a:pPr/>
              <a:r>
                <a:t>Save as Lookup Table</a:t>
              </a:r>
            </a:p>
          </p:txBody>
        </p:sp>
      </p:grpSp>
      <p:sp>
        <p:nvSpPr>
          <p:cNvPr id="1044" name="Google Shape;1732;p142"/>
          <p:cNvSpPr/>
          <p:nvPr/>
        </p:nvSpPr>
        <p:spPr>
          <a:xfrm>
            <a:off x="6047740" y="5100320"/>
            <a:ext cx="610871" cy="12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57" y="21600"/>
                </a:lnTo>
                <a:lnTo>
                  <a:pt x="10957" y="0"/>
                </a:lnTo>
                <a:lnTo>
                  <a:pt x="21600" y="0"/>
                </a:lnTo>
              </a:path>
            </a:pathLst>
          </a:custGeom>
          <a:ln w="25400">
            <a:solidFill>
              <a:srgbClr val="434343"/>
            </a:solidFill>
            <a:tailEnd type="triangle"/>
          </a:ln>
        </p:spPr>
        <p:txBody>
          <a:bodyPr/>
          <a:lstStyle/>
          <a:p>
            <a:pPr/>
          </a:p>
        </p:txBody>
      </p:sp>
      <p:sp>
        <p:nvSpPr>
          <p:cNvPr id="1045" name="Google Shape;1733;p142"/>
          <p:cNvSpPr/>
          <p:nvPr/>
        </p:nvSpPr>
        <p:spPr>
          <a:xfrm>
            <a:off x="11568430" y="5100320"/>
            <a:ext cx="609601"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path>
            </a:pathLst>
          </a:custGeom>
          <a:ln w="25400">
            <a:solidFill>
              <a:srgbClr val="434343"/>
            </a:solidFill>
            <a:tailEnd type="triangle"/>
          </a:ln>
        </p:spPr>
        <p:txBody>
          <a:bodyPr/>
          <a:lstStyle/>
          <a:p>
            <a:pPr/>
          </a:p>
        </p:txBody>
      </p:sp>
      <p:sp>
        <p:nvSpPr>
          <p:cNvPr id="1046" name="Google Shape;1735;p142"/>
          <p:cNvSpPr/>
          <p:nvPr/>
        </p:nvSpPr>
        <p:spPr>
          <a:xfrm>
            <a:off x="5849620" y="9216390"/>
            <a:ext cx="12039601"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path>
            </a:pathLst>
          </a:custGeom>
          <a:ln w="25400">
            <a:solidFill>
              <a:srgbClr val="434343"/>
            </a:solidFill>
            <a:tailEnd type="triangle"/>
          </a:ln>
        </p:spPr>
        <p:txBody>
          <a:bodyPr/>
          <a:lstStyle/>
          <a:p>
            <a:pPr/>
          </a:p>
        </p:txBody>
      </p:sp>
      <p:sp>
        <p:nvSpPr>
          <p:cNvPr id="1025" name="Google Shape;1736;p142"/>
          <p:cNvSpPr txBox="1"/>
          <p:nvPr/>
        </p:nvSpPr>
        <p:spPr>
          <a:xfrm>
            <a:off x="475199" y="3215415"/>
            <a:ext cx="2968801" cy="972638"/>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algn="l" defTabSz="2438400">
              <a:defRPr spc="0" sz="3200">
                <a:solidFill>
                  <a:srgbClr val="434343"/>
                </a:solidFill>
              </a:defRPr>
            </a:lvl1pPr>
          </a:lstStyle>
          <a:p>
            <a:pPr/>
            <a:r>
              <a:t>RoadRunner</a:t>
            </a:r>
          </a:p>
        </p:txBody>
      </p:sp>
      <p:sp>
        <p:nvSpPr>
          <p:cNvPr id="1026" name="Google Shape;1737;p142"/>
          <p:cNvSpPr txBox="1"/>
          <p:nvPr/>
        </p:nvSpPr>
        <p:spPr>
          <a:xfrm>
            <a:off x="18050998" y="3215415"/>
            <a:ext cx="2700002" cy="971113"/>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algn="l" defTabSz="2438400">
              <a:defRPr spc="0" sz="3200">
                <a:solidFill>
                  <a:srgbClr val="434343"/>
                </a:solidFill>
                <a:latin typeface="Helvetica Neue"/>
                <a:ea typeface="Helvetica Neue"/>
                <a:cs typeface="Helvetica Neue"/>
                <a:sym typeface="Helvetica Neue"/>
              </a:defRPr>
            </a:lvl1pPr>
          </a:lstStyle>
          <a:p>
            <a:pPr/>
            <a:r>
              <a:t>MATLAB</a:t>
            </a:r>
          </a:p>
        </p:txBody>
      </p:sp>
      <p:sp>
        <p:nvSpPr>
          <p:cNvPr id="1027" name="Google Shape;1738;p142"/>
          <p:cNvSpPr txBox="1"/>
          <p:nvPr/>
        </p:nvSpPr>
        <p:spPr>
          <a:xfrm>
            <a:off x="609599" y="7484549"/>
            <a:ext cx="2700001" cy="972638"/>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algn="l" defTabSz="2438400">
              <a:defRPr spc="0" sz="3200">
                <a:solidFill>
                  <a:srgbClr val="434343"/>
                </a:solidFill>
              </a:defRPr>
            </a:lvl1pPr>
          </a:lstStyle>
          <a:p>
            <a:pPr/>
            <a:r>
              <a:t>MATLAB</a:t>
            </a:r>
          </a:p>
        </p:txBody>
      </p:sp>
      <p:sp>
        <p:nvSpPr>
          <p:cNvPr id="1028" name="Google Shape;1739;p142"/>
          <p:cNvSpPr txBox="1"/>
          <p:nvPr/>
        </p:nvSpPr>
        <p:spPr>
          <a:xfrm>
            <a:off x="609599" y="2230615"/>
            <a:ext cx="2968801" cy="972639"/>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algn="l" defTabSz="2438400">
              <a:defRPr spc="0" sz="3200">
                <a:solidFill>
                  <a:srgbClr val="434343"/>
                </a:solidFill>
              </a:defRPr>
            </a:lvl1pPr>
          </a:lstStyle>
          <a:p>
            <a:pPr/>
            <a:r>
              <a:t>Original</a:t>
            </a:r>
          </a:p>
        </p:txBody>
      </p:sp>
      <p:sp>
        <p:nvSpPr>
          <p:cNvPr id="1029" name="Google Shape;1740;p142"/>
          <p:cNvSpPr txBox="1"/>
          <p:nvPr/>
        </p:nvSpPr>
        <p:spPr>
          <a:xfrm>
            <a:off x="609599" y="11012348"/>
            <a:ext cx="2968801" cy="972638"/>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lvl1pPr algn="l" defTabSz="2438400">
              <a:defRPr spc="0" sz="3200">
                <a:solidFill>
                  <a:srgbClr val="434343"/>
                </a:solidFill>
              </a:defRPr>
            </a:lvl1pPr>
          </a:lstStyle>
          <a:p>
            <a:pPr/>
            <a:r>
              <a:t>Innovation</a:t>
            </a:r>
          </a:p>
        </p:txBody>
      </p:sp>
      <p:sp>
        <p:nvSpPr>
          <p:cNvPr id="1047" name="Google Shape;1733;p142"/>
          <p:cNvSpPr/>
          <p:nvPr/>
        </p:nvSpPr>
        <p:spPr>
          <a:xfrm>
            <a:off x="17468850" y="5100320"/>
            <a:ext cx="509270"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path>
            </a:pathLst>
          </a:custGeom>
          <a:ln w="25400">
            <a:solidFill>
              <a:srgbClr val="434343"/>
            </a:solidFill>
            <a:tailEnd type="triangle"/>
          </a:ln>
        </p:spPr>
        <p:txBody>
          <a:bodyPr/>
          <a:lstStyle/>
          <a:p>
            <a:pPr/>
          </a:p>
        </p:txBody>
      </p:sp>
      <p:grpSp>
        <p:nvGrpSpPr>
          <p:cNvPr id="1043" name="Google Shape;1534;p132"/>
          <p:cNvGrpSpPr/>
          <p:nvPr/>
        </p:nvGrpSpPr>
        <p:grpSpPr>
          <a:xfrm>
            <a:off x="4044341" y="12649387"/>
            <a:ext cx="15813902" cy="926116"/>
            <a:chOff x="0" y="0"/>
            <a:chExt cx="15813901" cy="926115"/>
          </a:xfrm>
        </p:grpSpPr>
        <p:grpSp>
          <p:nvGrpSpPr>
            <p:cNvPr id="1033" name="Google Shape;1535;p132"/>
            <p:cNvGrpSpPr/>
            <p:nvPr/>
          </p:nvGrpSpPr>
          <p:grpSpPr>
            <a:xfrm>
              <a:off x="11585670" y="165308"/>
              <a:ext cx="4228232" cy="595499"/>
              <a:chOff x="0" y="0"/>
              <a:chExt cx="4228231" cy="595498"/>
            </a:xfrm>
          </p:grpSpPr>
          <p:sp>
            <p:nvSpPr>
              <p:cNvPr id="1031" name="Chevron"/>
              <p:cNvSpPr/>
              <p:nvPr/>
            </p:nvSpPr>
            <p:spPr>
              <a:xfrm>
                <a:off x="0" y="42862"/>
                <a:ext cx="4228232" cy="509774"/>
              </a:xfrm>
              <a:prstGeom prst="chevron">
                <a:avLst>
                  <a:gd name="adj" fmla="val 50000"/>
                </a:avLst>
              </a:prstGeom>
              <a:solidFill>
                <a:srgbClr val="EFEFEF"/>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1032" name="Reflection"/>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Reflection</a:t>
                </a:r>
              </a:p>
            </p:txBody>
          </p:sp>
        </p:grpSp>
        <p:grpSp>
          <p:nvGrpSpPr>
            <p:cNvPr id="1036" name="Google Shape;1536;p132"/>
            <p:cNvGrpSpPr/>
            <p:nvPr/>
          </p:nvGrpSpPr>
          <p:grpSpPr>
            <a:xfrm>
              <a:off x="7724657" y="165308"/>
              <a:ext cx="4228233" cy="595499"/>
              <a:chOff x="0" y="0"/>
              <a:chExt cx="4228231" cy="595498"/>
            </a:xfrm>
          </p:grpSpPr>
          <p:sp>
            <p:nvSpPr>
              <p:cNvPr id="1034" name="Chevron"/>
              <p:cNvSpPr/>
              <p:nvPr/>
            </p:nvSpPr>
            <p:spPr>
              <a:xfrm>
                <a:off x="0" y="42862"/>
                <a:ext cx="4228232" cy="509774"/>
              </a:xfrm>
              <a:prstGeom prst="chevron">
                <a:avLst>
                  <a:gd name="adj" fmla="val 50000"/>
                </a:avLst>
              </a:prstGeom>
              <a:solidFill>
                <a:srgbClr val="629DD1"/>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FFFFFF"/>
                    </a:solidFill>
                  </a:defRPr>
                </a:pPr>
              </a:p>
            </p:txBody>
          </p:sp>
          <p:sp>
            <p:nvSpPr>
              <p:cNvPr id="1035" name="Low Traction Dynamics"/>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FFFFFF"/>
                    </a:solidFill>
                  </a:defRPr>
                </a:lvl1pPr>
              </a:lstStyle>
              <a:p>
                <a:pPr/>
                <a:r>
                  <a:t>Low Traction Dynamics</a:t>
                </a:r>
              </a:p>
            </p:txBody>
          </p:sp>
        </p:grpSp>
        <p:grpSp>
          <p:nvGrpSpPr>
            <p:cNvPr id="1039" name="Google Shape;1537;p132"/>
            <p:cNvGrpSpPr/>
            <p:nvPr/>
          </p:nvGrpSpPr>
          <p:grpSpPr>
            <a:xfrm>
              <a:off x="3858564" y="-1"/>
              <a:ext cx="4228232" cy="926117"/>
              <a:chOff x="0" y="0"/>
              <a:chExt cx="4228231" cy="926115"/>
            </a:xfrm>
          </p:grpSpPr>
          <p:sp>
            <p:nvSpPr>
              <p:cNvPr id="1037" name="Chevron"/>
              <p:cNvSpPr/>
              <p:nvPr/>
            </p:nvSpPr>
            <p:spPr>
              <a:xfrm>
                <a:off x="0" y="208171"/>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7F7F7F"/>
                    </a:solidFill>
                  </a:defRPr>
                </a:pPr>
              </a:p>
            </p:txBody>
          </p:sp>
          <p:sp>
            <p:nvSpPr>
              <p:cNvPr id="1038" name="Scenario Variation and Testing"/>
              <p:cNvSpPr txBox="1"/>
              <p:nvPr/>
            </p:nvSpPr>
            <p:spPr>
              <a:xfrm>
                <a:off x="266158" y="-1"/>
                <a:ext cx="3695918" cy="92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7F7F7F"/>
                    </a:solidFill>
                  </a:defRPr>
                </a:lvl1pPr>
              </a:lstStyle>
              <a:p>
                <a:pPr/>
                <a:r>
                  <a:t>Scenario Variation and Testing</a:t>
                </a:r>
              </a:p>
            </p:txBody>
          </p:sp>
        </p:grpSp>
        <p:grpSp>
          <p:nvGrpSpPr>
            <p:cNvPr id="1042" name="Google Shape;1538;p132"/>
            <p:cNvGrpSpPr/>
            <p:nvPr/>
          </p:nvGrpSpPr>
          <p:grpSpPr>
            <a:xfrm>
              <a:off x="0" y="165308"/>
              <a:ext cx="4228232" cy="595499"/>
              <a:chOff x="0" y="0"/>
              <a:chExt cx="4228231" cy="595498"/>
            </a:xfrm>
          </p:grpSpPr>
          <p:sp>
            <p:nvSpPr>
              <p:cNvPr id="1040" name="Chevron"/>
              <p:cNvSpPr/>
              <p:nvPr/>
            </p:nvSpPr>
            <p:spPr>
              <a:xfrm>
                <a:off x="0" y="42862"/>
                <a:ext cx="4228232" cy="509774"/>
              </a:xfrm>
              <a:prstGeom prst="chevron">
                <a:avLst>
                  <a:gd name="adj" fmla="val 50000"/>
                </a:avLst>
              </a:prstGeom>
              <a:solidFill>
                <a:srgbClr val="EEEEEE"/>
              </a:solidFill>
              <a:ln w="9525" cap="flat">
                <a:solidFill>
                  <a:srgbClr val="595959"/>
                </a:solidFill>
                <a:prstDash val="solid"/>
                <a:round/>
              </a:ln>
              <a:effectLst/>
            </p:spPr>
            <p:txBody>
              <a:bodyPr wrap="square" lIns="0" tIns="0" rIns="0" bIns="0" numCol="1" anchor="ctr">
                <a:noAutofit/>
              </a:bodyPr>
              <a:lstStyle/>
              <a:p>
                <a:pPr defTabSz="914400">
                  <a:spcBef>
                    <a:spcPts val="500"/>
                  </a:spcBef>
                  <a:defRPr spc="0" sz="900">
                    <a:solidFill>
                      <a:srgbClr val="888888"/>
                    </a:solidFill>
                  </a:defRPr>
                </a:pPr>
              </a:p>
            </p:txBody>
          </p:sp>
          <p:sp>
            <p:nvSpPr>
              <p:cNvPr id="1041" name="System Showcase"/>
              <p:cNvSpPr txBox="1"/>
              <p:nvPr/>
            </p:nvSpPr>
            <p:spPr>
              <a:xfrm>
                <a:off x="266158" y="0"/>
                <a:ext cx="3695918" cy="595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8574" tIns="68574" rIns="68574" bIns="68574" numCol="1" anchor="ctr">
                <a:noAutofit/>
              </a:bodyPr>
              <a:lstStyle>
                <a:lvl1pPr defTabSz="914400">
                  <a:spcBef>
                    <a:spcPts val="500"/>
                  </a:spcBef>
                  <a:defRPr spc="0" sz="2000">
                    <a:solidFill>
                      <a:srgbClr val="888888"/>
                    </a:solidFill>
                  </a:defRPr>
                </a:lvl1pPr>
              </a:lstStyle>
              <a:p>
                <a:pPr/>
                <a:r>
                  <a:t>System Showcase</a:t>
                </a: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fast" advClick="1" p14:dur="500">
        <p159:morph option="byObject"/>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045"/>
                                        </p:tgtEl>
                                        <p:attrNameLst>
                                          <p:attrName>style.visibility</p:attrName>
                                        </p:attrNameLst>
                                      </p:cBhvr>
                                      <p:to>
                                        <p:strVal val="visible"/>
                                      </p:to>
                                    </p:set>
                                    <p:animEffect filter="fade" transition="in">
                                      <p:cBhvr>
                                        <p:cTn id="7" dur="300"/>
                                        <p:tgtEl>
                                          <p:spTgt spid="1045"/>
                                        </p:tgtEl>
                                      </p:cBhvr>
                                    </p:animEffect>
                                  </p:childTnLst>
                                </p:cTn>
                              </p:par>
                            </p:childTnLst>
                          </p:cTn>
                        </p:par>
                        <p:par>
                          <p:cTn id="8" fill="hold">
                            <p:stCondLst>
                              <p:cond delay="300"/>
                            </p:stCondLst>
                            <p:childTnLst>
                              <p:par>
                                <p:cTn id="9" presetClass="entr" nodeType="afterEffect" presetID="10" grpId="2" fill="hold">
                                  <p:stCondLst>
                                    <p:cond delay="0"/>
                                  </p:stCondLst>
                                  <p:iterate type="el" backwards="0">
                                    <p:tmAbs val="0"/>
                                  </p:iterate>
                                  <p:childTnLst>
                                    <p:set>
                                      <p:cBhvr>
                                        <p:cTn id="10" fill="hold"/>
                                        <p:tgtEl>
                                          <p:spTgt spid="1047"/>
                                        </p:tgtEl>
                                        <p:attrNameLst>
                                          <p:attrName>style.visibility</p:attrName>
                                        </p:attrNameLst>
                                      </p:cBhvr>
                                      <p:to>
                                        <p:strVal val="visible"/>
                                      </p:to>
                                    </p:set>
                                    <p:animEffect filter="fade" transition="in">
                                      <p:cBhvr>
                                        <p:cTn id="11" dur="300"/>
                                        <p:tgtEl>
                                          <p:spTgt spid="1047"/>
                                        </p:tgtEl>
                                      </p:cBhvr>
                                    </p:animEffect>
                                  </p:childTnLst>
                                </p:cTn>
                              </p:par>
                            </p:childTnLst>
                          </p:cTn>
                        </p:par>
                        <p:par>
                          <p:cTn id="12" fill="hold">
                            <p:stCondLst>
                              <p:cond delay="600"/>
                            </p:stCondLst>
                            <p:childTnLst>
                              <p:par>
                                <p:cTn id="13" presetClass="entr" nodeType="afterEffect" presetID="10" grpId="3" fill="hold">
                                  <p:stCondLst>
                                    <p:cond delay="0"/>
                                  </p:stCondLst>
                                  <p:iterate type="el" backwards="0">
                                    <p:tmAbs val="0"/>
                                  </p:iterate>
                                  <p:childTnLst>
                                    <p:set>
                                      <p:cBhvr>
                                        <p:cTn id="14" fill="hold"/>
                                        <p:tgtEl>
                                          <p:spTgt spid="1001"/>
                                        </p:tgtEl>
                                        <p:attrNameLst>
                                          <p:attrName>style.visibility</p:attrName>
                                        </p:attrNameLst>
                                      </p:cBhvr>
                                      <p:to>
                                        <p:strVal val="visible"/>
                                      </p:to>
                                    </p:set>
                                    <p:animEffect filter="fade" transition="in">
                                      <p:cBhvr>
                                        <p:cTn id="15" dur="300"/>
                                        <p:tgtEl>
                                          <p:spTgt spid="1001"/>
                                        </p:tgtEl>
                                      </p:cBhvr>
                                    </p:animEffect>
                                  </p:childTnLst>
                                </p:cTn>
                              </p:par>
                            </p:childTnLst>
                          </p:cTn>
                        </p:par>
                        <p:par>
                          <p:cTn id="16" fill="hold">
                            <p:stCondLst>
                              <p:cond delay="900"/>
                            </p:stCondLst>
                            <p:childTnLst>
                              <p:par>
                                <p:cTn id="17" presetClass="entr" nodeType="afterEffect" presetID="10" grpId="4" fill="hold">
                                  <p:stCondLst>
                                    <p:cond delay="0"/>
                                  </p:stCondLst>
                                  <p:iterate type="el" backwards="0">
                                    <p:tmAbs val="0"/>
                                  </p:iterate>
                                  <p:childTnLst>
                                    <p:set>
                                      <p:cBhvr>
                                        <p:cTn id="18" fill="hold"/>
                                        <p:tgtEl>
                                          <p:spTgt spid="1028"/>
                                        </p:tgtEl>
                                        <p:attrNameLst>
                                          <p:attrName>style.visibility</p:attrName>
                                        </p:attrNameLst>
                                      </p:cBhvr>
                                      <p:to>
                                        <p:strVal val="visible"/>
                                      </p:to>
                                    </p:set>
                                    <p:animEffect filter="fade" transition="in">
                                      <p:cBhvr>
                                        <p:cTn id="19" dur="300"/>
                                        <p:tgtEl>
                                          <p:spTgt spid="1028"/>
                                        </p:tgtEl>
                                      </p:cBhvr>
                                    </p:animEffect>
                                  </p:childTnLst>
                                </p:cTn>
                              </p:par>
                            </p:childTnLst>
                          </p:cTn>
                        </p:par>
                        <p:par>
                          <p:cTn id="20" fill="hold">
                            <p:stCondLst>
                              <p:cond delay="1200"/>
                            </p:stCondLst>
                            <p:childTnLst>
                              <p:par>
                                <p:cTn id="21" presetClass="entr" nodeType="afterEffect" presetID="10" grpId="5" fill="hold">
                                  <p:stCondLst>
                                    <p:cond delay="0"/>
                                  </p:stCondLst>
                                  <p:iterate type="el" backwards="0">
                                    <p:tmAbs val="0"/>
                                  </p:iterate>
                                  <p:childTnLst>
                                    <p:set>
                                      <p:cBhvr>
                                        <p:cTn id="22" fill="hold"/>
                                        <p:tgtEl>
                                          <p:spTgt spid="1006"/>
                                        </p:tgtEl>
                                        <p:attrNameLst>
                                          <p:attrName>style.visibility</p:attrName>
                                        </p:attrNameLst>
                                      </p:cBhvr>
                                      <p:to>
                                        <p:strVal val="visible"/>
                                      </p:to>
                                    </p:set>
                                    <p:animEffect filter="fade" transition="in">
                                      <p:cBhvr>
                                        <p:cTn id="23" dur="300"/>
                                        <p:tgtEl>
                                          <p:spTgt spid="1006"/>
                                        </p:tgtEl>
                                      </p:cBhvr>
                                    </p:animEffect>
                                  </p:childTnLst>
                                </p:cTn>
                              </p:par>
                            </p:childTnLst>
                          </p:cTn>
                        </p:par>
                        <p:par>
                          <p:cTn id="24" fill="hold">
                            <p:stCondLst>
                              <p:cond delay="1500"/>
                            </p:stCondLst>
                            <p:childTnLst>
                              <p:par>
                                <p:cTn id="25" presetClass="entr" nodeType="afterEffect" presetID="10" grpId="6" fill="hold">
                                  <p:stCondLst>
                                    <p:cond delay="0"/>
                                  </p:stCondLst>
                                  <p:iterate type="el" backwards="0">
                                    <p:tmAbs val="0"/>
                                  </p:iterate>
                                  <p:childTnLst>
                                    <p:set>
                                      <p:cBhvr>
                                        <p:cTn id="26" fill="hold"/>
                                        <p:tgtEl>
                                          <p:spTgt spid="1015"/>
                                        </p:tgtEl>
                                        <p:attrNameLst>
                                          <p:attrName>style.visibility</p:attrName>
                                        </p:attrNameLst>
                                      </p:cBhvr>
                                      <p:to>
                                        <p:strVal val="visible"/>
                                      </p:to>
                                    </p:set>
                                    <p:animEffect filter="fade" transition="in">
                                      <p:cBhvr>
                                        <p:cTn id="27" dur="300"/>
                                        <p:tgtEl>
                                          <p:spTgt spid="1015"/>
                                        </p:tgtEl>
                                      </p:cBhvr>
                                    </p:animEffect>
                                  </p:childTnLst>
                                </p:cTn>
                              </p:par>
                            </p:childTnLst>
                          </p:cTn>
                        </p:par>
                        <p:par>
                          <p:cTn id="28" fill="hold">
                            <p:stCondLst>
                              <p:cond delay="1800"/>
                            </p:stCondLst>
                            <p:childTnLst>
                              <p:par>
                                <p:cTn id="29" presetClass="entr" nodeType="afterEffect" presetID="10" grpId="7" fill="hold">
                                  <p:stCondLst>
                                    <p:cond delay="0"/>
                                  </p:stCondLst>
                                  <p:iterate type="el" backwards="0">
                                    <p:tmAbs val="0"/>
                                  </p:iterate>
                                  <p:childTnLst>
                                    <p:set>
                                      <p:cBhvr>
                                        <p:cTn id="30" fill="hold"/>
                                        <p:tgtEl>
                                          <p:spTgt spid="1009"/>
                                        </p:tgtEl>
                                        <p:attrNameLst>
                                          <p:attrName>style.visibility</p:attrName>
                                        </p:attrNameLst>
                                      </p:cBhvr>
                                      <p:to>
                                        <p:strVal val="visible"/>
                                      </p:to>
                                    </p:set>
                                    <p:animEffect filter="fade" transition="in">
                                      <p:cBhvr>
                                        <p:cTn id="31" dur="300"/>
                                        <p:tgtEl>
                                          <p:spTgt spid="1009"/>
                                        </p:tgtEl>
                                      </p:cBhvr>
                                    </p:animEffect>
                                  </p:childTnLst>
                                </p:cTn>
                              </p:par>
                            </p:childTnLst>
                          </p:cTn>
                        </p:par>
                        <p:par>
                          <p:cTn id="32" fill="hold">
                            <p:stCondLst>
                              <p:cond delay="2100"/>
                            </p:stCondLst>
                            <p:childTnLst>
                              <p:par>
                                <p:cTn id="33" presetClass="entr" nodeType="afterEffect" presetID="10" grpId="8" fill="hold">
                                  <p:stCondLst>
                                    <p:cond delay="0"/>
                                  </p:stCondLst>
                                  <p:iterate type="el" backwards="0">
                                    <p:tmAbs val="0"/>
                                  </p:iterate>
                                  <p:childTnLst>
                                    <p:set>
                                      <p:cBhvr>
                                        <p:cTn id="34" fill="hold"/>
                                        <p:tgtEl>
                                          <p:spTgt spid="1003"/>
                                        </p:tgtEl>
                                        <p:attrNameLst>
                                          <p:attrName>style.visibility</p:attrName>
                                        </p:attrNameLst>
                                      </p:cBhvr>
                                      <p:to>
                                        <p:strVal val="visible"/>
                                      </p:to>
                                    </p:set>
                                    <p:animEffect filter="fade" transition="in">
                                      <p:cBhvr>
                                        <p:cTn id="35" dur="300"/>
                                        <p:tgtEl>
                                          <p:spTgt spid="1003"/>
                                        </p:tgtEl>
                                      </p:cBhvr>
                                    </p:animEffect>
                                  </p:childTnLst>
                                </p:cTn>
                              </p:par>
                            </p:childTnLst>
                          </p:cTn>
                        </p:par>
                        <p:par>
                          <p:cTn id="36" fill="hold">
                            <p:stCondLst>
                              <p:cond delay="2400"/>
                            </p:stCondLst>
                            <p:childTnLst>
                              <p:par>
                                <p:cTn id="37" presetClass="entr" nodeType="afterEffect" presetID="10" grpId="9" fill="hold">
                                  <p:stCondLst>
                                    <p:cond delay="0"/>
                                  </p:stCondLst>
                                  <p:iterate type="el" backwards="0">
                                    <p:tmAbs val="0"/>
                                  </p:iterate>
                                  <p:childTnLst>
                                    <p:set>
                                      <p:cBhvr>
                                        <p:cTn id="38" fill="hold"/>
                                        <p:tgtEl>
                                          <p:spTgt spid="1044"/>
                                        </p:tgtEl>
                                        <p:attrNameLst>
                                          <p:attrName>style.visibility</p:attrName>
                                        </p:attrNameLst>
                                      </p:cBhvr>
                                      <p:to>
                                        <p:strVal val="visible"/>
                                      </p:to>
                                    </p:set>
                                    <p:animEffect filter="fade" transition="in">
                                      <p:cBhvr>
                                        <p:cTn id="39" dur="300"/>
                                        <p:tgtEl>
                                          <p:spTgt spid="1044"/>
                                        </p:tgtEl>
                                      </p:cBhvr>
                                    </p:animEffect>
                                  </p:childTnLst>
                                </p:cTn>
                              </p:par>
                            </p:childTnLst>
                          </p:cTn>
                        </p:par>
                        <p:par>
                          <p:cTn id="40" fill="hold">
                            <p:stCondLst>
                              <p:cond delay="2700"/>
                            </p:stCondLst>
                            <p:childTnLst>
                              <p:par>
                                <p:cTn id="41" presetClass="entr" nodeType="afterEffect" presetID="10" grpId="10" fill="hold">
                                  <p:stCondLst>
                                    <p:cond delay="0"/>
                                  </p:stCondLst>
                                  <p:iterate type="el" backwards="0">
                                    <p:tmAbs val="0"/>
                                  </p:iterate>
                                  <p:childTnLst>
                                    <p:set>
                                      <p:cBhvr>
                                        <p:cTn id="42" fill="hold"/>
                                        <p:tgtEl>
                                          <p:spTgt spid="1012"/>
                                        </p:tgtEl>
                                        <p:attrNameLst>
                                          <p:attrName>style.visibility</p:attrName>
                                        </p:attrNameLst>
                                      </p:cBhvr>
                                      <p:to>
                                        <p:strVal val="visible"/>
                                      </p:to>
                                    </p:set>
                                    <p:animEffect filter="fade" transition="in">
                                      <p:cBhvr>
                                        <p:cTn id="43" dur="300"/>
                                        <p:tgtEl>
                                          <p:spTgt spid="1012"/>
                                        </p:tgtEl>
                                      </p:cBhvr>
                                    </p:animEffect>
                                  </p:childTnLst>
                                </p:cTn>
                              </p:par>
                            </p:childTnLst>
                          </p:cTn>
                        </p:par>
                        <p:par>
                          <p:cTn id="44" fill="hold">
                            <p:stCondLst>
                              <p:cond delay="3000"/>
                            </p:stCondLst>
                            <p:childTnLst>
                              <p:par>
                                <p:cTn id="45" presetClass="entr" nodeType="afterEffect" presetID="10" grpId="11" fill="hold">
                                  <p:stCondLst>
                                    <p:cond delay="0"/>
                                  </p:stCondLst>
                                  <p:iterate type="el" backwards="0">
                                    <p:tmAbs val="0"/>
                                  </p:iterate>
                                  <p:childTnLst>
                                    <p:set>
                                      <p:cBhvr>
                                        <p:cTn id="46" fill="hold"/>
                                        <p:tgtEl>
                                          <p:spTgt spid="1025"/>
                                        </p:tgtEl>
                                        <p:attrNameLst>
                                          <p:attrName>style.visibility</p:attrName>
                                        </p:attrNameLst>
                                      </p:cBhvr>
                                      <p:to>
                                        <p:strVal val="visible"/>
                                      </p:to>
                                    </p:set>
                                    <p:animEffect filter="fade" transition="in">
                                      <p:cBhvr>
                                        <p:cTn id="47" dur="300"/>
                                        <p:tgtEl>
                                          <p:spTgt spid="1025"/>
                                        </p:tgtEl>
                                      </p:cBhvr>
                                    </p:animEffect>
                                  </p:childTnLst>
                                </p:cTn>
                              </p:par>
                            </p:childTnLst>
                          </p:cTn>
                        </p:par>
                        <p:par>
                          <p:cTn id="48" fill="hold">
                            <p:stCondLst>
                              <p:cond delay="3300"/>
                            </p:stCondLst>
                            <p:childTnLst>
                              <p:par>
                                <p:cTn id="49" presetClass="entr" nodeType="afterEffect" presetID="10" grpId="12" fill="hold">
                                  <p:stCondLst>
                                    <p:cond delay="0"/>
                                  </p:stCondLst>
                                  <p:iterate type="el" backwards="0">
                                    <p:tmAbs val="0"/>
                                  </p:iterate>
                                  <p:childTnLst>
                                    <p:set>
                                      <p:cBhvr>
                                        <p:cTn id="50" fill="hold"/>
                                        <p:tgtEl>
                                          <p:spTgt spid="1026"/>
                                        </p:tgtEl>
                                        <p:attrNameLst>
                                          <p:attrName>style.visibility</p:attrName>
                                        </p:attrNameLst>
                                      </p:cBhvr>
                                      <p:to>
                                        <p:strVal val="visible"/>
                                      </p:to>
                                    </p:set>
                                    <p:animEffect filter="fade" transition="in">
                                      <p:cBhvr>
                                        <p:cTn id="51" dur="300"/>
                                        <p:tgtEl>
                                          <p:spTgt spid="1026"/>
                                        </p:tgtEl>
                                      </p:cBhvr>
                                    </p:animEffect>
                                  </p:childTnLst>
                                </p:cTn>
                              </p:par>
                            </p:childTnLst>
                          </p:cTn>
                        </p:par>
                      </p:childTnLst>
                    </p:cTn>
                  </p:par>
                  <p:par>
                    <p:cTn id="52" fill="hold">
                      <p:stCondLst>
                        <p:cond delay="indefinite"/>
                      </p:stCondLst>
                      <p:childTnLst>
                        <p:par>
                          <p:cTn id="53" fill="hold">
                            <p:stCondLst>
                              <p:cond delay="0"/>
                            </p:stCondLst>
                            <p:childTnLst>
                              <p:par>
                                <p:cTn id="54" presetClass="entr" nodeType="clickEffect" presetID="10" grpId="17" fill="hold">
                                  <p:stCondLst>
                                    <p:cond delay="0"/>
                                  </p:stCondLst>
                                  <p:iterate type="el" backwards="0">
                                    <p:tmAbs val="0"/>
                                  </p:iterate>
                                  <p:childTnLst>
                                    <p:set>
                                      <p:cBhvr>
                                        <p:cTn id="55" fill="hold"/>
                                        <p:tgtEl>
                                          <p:spTgt spid="1027"/>
                                        </p:tgtEl>
                                        <p:attrNameLst>
                                          <p:attrName>style.visibility</p:attrName>
                                        </p:attrNameLst>
                                      </p:cBhvr>
                                      <p:to>
                                        <p:strVal val="visible"/>
                                      </p:to>
                                    </p:set>
                                    <p:animEffect filter="fade" transition="in">
                                      <p:cBhvr>
                                        <p:cTn id="56" dur="300"/>
                                        <p:tgtEl>
                                          <p:spTgt spid="1027"/>
                                        </p:tgtEl>
                                      </p:cBhvr>
                                    </p:animEffect>
                                  </p:childTnLst>
                                </p:cTn>
                              </p:par>
                            </p:childTnLst>
                          </p:cTn>
                        </p:par>
                        <p:par>
                          <p:cTn id="57" fill="hold">
                            <p:stCondLst>
                              <p:cond delay="300"/>
                            </p:stCondLst>
                            <p:childTnLst>
                              <p:par>
                                <p:cTn id="58" presetClass="entr" nodeType="afterEffect" presetID="10" grpId="18" fill="hold">
                                  <p:stCondLst>
                                    <p:cond delay="0"/>
                                  </p:stCondLst>
                                  <p:iterate type="el" backwards="0">
                                    <p:tmAbs val="0"/>
                                  </p:iterate>
                                  <p:childTnLst>
                                    <p:set>
                                      <p:cBhvr>
                                        <p:cTn id="59" fill="hold"/>
                                        <p:tgtEl>
                                          <p:spTgt spid="1002"/>
                                        </p:tgtEl>
                                        <p:attrNameLst>
                                          <p:attrName>style.visibility</p:attrName>
                                        </p:attrNameLst>
                                      </p:cBhvr>
                                      <p:to>
                                        <p:strVal val="visible"/>
                                      </p:to>
                                    </p:set>
                                    <p:animEffect filter="fade" transition="in">
                                      <p:cBhvr>
                                        <p:cTn id="60" dur="300"/>
                                        <p:tgtEl>
                                          <p:spTgt spid="1002"/>
                                        </p:tgtEl>
                                      </p:cBhvr>
                                    </p:animEffect>
                                  </p:childTnLst>
                                </p:cTn>
                              </p:par>
                            </p:childTnLst>
                          </p:cTn>
                        </p:par>
                        <p:par>
                          <p:cTn id="61" fill="hold">
                            <p:stCondLst>
                              <p:cond delay="600"/>
                            </p:stCondLst>
                            <p:childTnLst>
                              <p:par>
                                <p:cTn id="62" presetClass="entr" nodeType="afterEffect" presetID="10" grpId="19" fill="hold">
                                  <p:stCondLst>
                                    <p:cond delay="0"/>
                                  </p:stCondLst>
                                  <p:iterate type="el" backwards="0">
                                    <p:tmAbs val="0"/>
                                  </p:iterate>
                                  <p:childTnLst>
                                    <p:set>
                                      <p:cBhvr>
                                        <p:cTn id="63" fill="hold"/>
                                        <p:tgtEl>
                                          <p:spTgt spid="1046"/>
                                        </p:tgtEl>
                                        <p:attrNameLst>
                                          <p:attrName>style.visibility</p:attrName>
                                        </p:attrNameLst>
                                      </p:cBhvr>
                                      <p:to>
                                        <p:strVal val="visible"/>
                                      </p:to>
                                    </p:set>
                                    <p:animEffect filter="fade" transition="in">
                                      <p:cBhvr>
                                        <p:cTn id="64" dur="300"/>
                                        <p:tgtEl>
                                          <p:spTgt spid="1046"/>
                                        </p:tgtEl>
                                      </p:cBhvr>
                                    </p:animEffect>
                                  </p:childTnLst>
                                </p:cTn>
                              </p:par>
                            </p:childTnLst>
                          </p:cTn>
                        </p:par>
                        <p:par>
                          <p:cTn id="65" fill="hold">
                            <p:stCondLst>
                              <p:cond delay="900"/>
                            </p:stCondLst>
                            <p:childTnLst>
                              <p:par>
                                <p:cTn id="66" presetClass="entr" nodeType="afterEffect" presetID="10" grpId="20" fill="hold">
                                  <p:stCondLst>
                                    <p:cond delay="0"/>
                                  </p:stCondLst>
                                  <p:iterate type="el" backwards="0">
                                    <p:tmAbs val="0"/>
                                  </p:iterate>
                                  <p:childTnLst>
                                    <p:set>
                                      <p:cBhvr>
                                        <p:cTn id="67" fill="hold"/>
                                        <p:tgtEl>
                                          <p:spTgt spid="1029"/>
                                        </p:tgtEl>
                                        <p:attrNameLst>
                                          <p:attrName>style.visibility</p:attrName>
                                        </p:attrNameLst>
                                      </p:cBhvr>
                                      <p:to>
                                        <p:strVal val="visible"/>
                                      </p:to>
                                    </p:set>
                                    <p:animEffect filter="fade" transition="in">
                                      <p:cBhvr>
                                        <p:cTn id="68" dur="300"/>
                                        <p:tgtEl>
                                          <p:spTgt spid="1029"/>
                                        </p:tgtEl>
                                      </p:cBhvr>
                                    </p:animEffect>
                                  </p:childTnLst>
                                </p:cTn>
                              </p:par>
                            </p:childTnLst>
                          </p:cTn>
                        </p:par>
                        <p:par>
                          <p:cTn id="69" fill="hold">
                            <p:stCondLst>
                              <p:cond delay="1200"/>
                            </p:stCondLst>
                            <p:childTnLst>
                              <p:par>
                                <p:cTn id="70" presetClass="entr" nodeType="afterEffect" presetID="10" grpId="21" fill="hold">
                                  <p:stCondLst>
                                    <p:cond delay="0"/>
                                  </p:stCondLst>
                                  <p:iterate type="el" backwards="0">
                                    <p:tmAbs val="0"/>
                                  </p:iterate>
                                  <p:childTnLst>
                                    <p:set>
                                      <p:cBhvr>
                                        <p:cTn id="71" fill="hold"/>
                                        <p:tgtEl>
                                          <p:spTgt spid="1018"/>
                                        </p:tgtEl>
                                        <p:attrNameLst>
                                          <p:attrName>style.visibility</p:attrName>
                                        </p:attrNameLst>
                                      </p:cBhvr>
                                      <p:to>
                                        <p:strVal val="visible"/>
                                      </p:to>
                                    </p:set>
                                    <p:animEffect filter="fade" transition="in">
                                      <p:cBhvr>
                                        <p:cTn id="72" dur="300"/>
                                        <p:tgtEl>
                                          <p:spTgt spid="1018"/>
                                        </p:tgtEl>
                                      </p:cBhvr>
                                    </p:animEffect>
                                  </p:childTnLst>
                                </p:cTn>
                              </p:par>
                            </p:childTnLst>
                          </p:cTn>
                        </p:par>
                        <p:par>
                          <p:cTn id="73" fill="hold">
                            <p:stCondLst>
                              <p:cond delay="1500"/>
                            </p:stCondLst>
                            <p:childTnLst>
                              <p:par>
                                <p:cTn id="74" presetClass="entr" nodeType="afterEffect" presetID="10" grpId="22" fill="hold">
                                  <p:stCondLst>
                                    <p:cond delay="0"/>
                                  </p:stCondLst>
                                  <p:iterate type="el" backwards="0">
                                    <p:tmAbs val="0"/>
                                  </p:iterate>
                                  <p:childTnLst>
                                    <p:set>
                                      <p:cBhvr>
                                        <p:cTn id="75" fill="hold"/>
                                        <p:tgtEl>
                                          <p:spTgt spid="1021"/>
                                        </p:tgtEl>
                                        <p:attrNameLst>
                                          <p:attrName>style.visibility</p:attrName>
                                        </p:attrNameLst>
                                      </p:cBhvr>
                                      <p:to>
                                        <p:strVal val="visible"/>
                                      </p:to>
                                    </p:set>
                                    <p:animEffect filter="fade" transition="in">
                                      <p:cBhvr>
                                        <p:cTn id="76" dur="300"/>
                                        <p:tgtEl>
                                          <p:spTgt spid="10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46" grpId="19"/>
      <p:bldP build="whole" bldLvl="1" animBg="1" rev="0" advAuto="0" spid="1006" grpId="5"/>
      <p:bldP build="whole" bldLvl="1" animBg="1" rev="0" advAuto="0" spid="1018" grpId="21"/>
      <p:bldP build="whole" bldLvl="1" animBg="1" rev="0" advAuto="0" spid="1045" grpId="1"/>
      <p:bldP build="whole" bldLvl="1" animBg="1" rev="0" advAuto="0" spid="1001" grpId="3"/>
      <p:bldP build="whole" bldLvl="1" animBg="1" rev="0" advAuto="0" spid="1002" grpId="18"/>
      <p:bldP build="whole" bldLvl="1" animBg="1" rev="0" advAuto="0" spid="1028" grpId="4"/>
      <p:bldP build="whole" bldLvl="1" animBg="1" rev="0" advAuto="0" spid="1029" grpId="20"/>
      <p:bldP build="whole" bldLvl="1" animBg="1" rev="0" advAuto="0" spid="1012" grpId="10"/>
      <p:bldP build="whole" bldLvl="1" animBg="1" rev="0" advAuto="0" spid="1044" grpId="9"/>
      <p:bldP build="whole" bldLvl="1" animBg="1" rev="0" advAuto="0" spid="1003" grpId="8"/>
      <p:bldP build="whole" bldLvl="1" animBg="1" rev="0" advAuto="0" spid="1026" grpId="12"/>
      <p:bldP build="whole" bldLvl="1" animBg="1" rev="0" advAuto="0" spid="1027" grpId="17"/>
      <p:bldP build="whole" bldLvl="1" animBg="1" rev="0" advAuto="0" spid="1021" grpId="22"/>
      <p:bldP build="whole" bldLvl="1" animBg="1" rev="0" advAuto="0" spid="1009" grpId="7"/>
      <p:bldP build="whole" bldLvl="1" animBg="1" rev="0" advAuto="0" spid="1025" grpId="11"/>
      <p:bldP build="whole" bldLvl="1" animBg="1" rev="0" advAuto="0" spid="1047" grpId="2"/>
      <p:bldP build="whole" bldLvl="1" animBg="1" rev="0" advAuto="0" spid="1015" grpId="6"/>
    </p:bldLst>
  </p:timing>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9" name="Google Shape;1838;p151"/>
          <p:cNvSpPr txBox="1"/>
          <p:nvPr>
            <p:ph type="title"/>
          </p:nvPr>
        </p:nvSpPr>
        <p:spPr>
          <a:prstGeom prst="rect">
            <a:avLst/>
          </a:prstGeom>
        </p:spPr>
        <p:txBody>
          <a:bodyPr/>
          <a:lstStyle>
            <a:lvl1pPr defTabSz="2365248">
              <a:defRPr sz="11834"/>
            </a:lvl1pPr>
          </a:lstStyle>
          <a:p>
            <a:pPr/>
            <a:r>
              <a:t>Q&amp;A</a:t>
            </a:r>
          </a:p>
        </p:txBody>
      </p:sp>
      <p:sp>
        <p:nvSpPr>
          <p:cNvPr id="1050" name="Google Shape;1839;p151"/>
          <p:cNvSpPr txBox="1"/>
          <p:nvPr>
            <p:ph type="body" sz="quarter" idx="1"/>
          </p:nvPr>
        </p:nvSpPr>
        <p:spPr>
          <a:xfrm>
            <a:off x="831199" y="8302084"/>
            <a:ext cx="22721602" cy="2113601"/>
          </a:xfrm>
          <a:prstGeom prst="rect">
            <a:avLst/>
          </a:prstGeom>
        </p:spPr>
        <p:txBody>
          <a:bodyPr/>
          <a:lstStyle>
            <a:lvl1pPr marL="0" indent="0"/>
          </a:lstStyle>
          <a:p>
            <a:pPr/>
            <a:r>
              <a:t>Thank you for listening</a:t>
            </a:r>
          </a:p>
        </p:txBody>
      </p:sp>
      <p:sp>
        <p:nvSpPr>
          <p:cNvPr id="1051"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52" name="Google Shape;1841;p151"/>
          <p:cNvSpPr txBox="1"/>
          <p:nvPr/>
        </p:nvSpPr>
        <p:spPr>
          <a:xfrm>
            <a:off x="420619" y="9280248"/>
            <a:ext cx="11904802" cy="3624501"/>
          </a:xfrm>
          <a:prstGeom prst="rect">
            <a:avLst/>
          </a:prstGeom>
          <a:ln w="12700">
            <a:miter lim="400000"/>
          </a:ln>
          <a:extLst>
            <a:ext uri="{C572A759-6A51-4108-AA02-DFA0A04FC94B}">
              <ma14:wrappingTextBoxFlag xmlns:ma14="http://schemas.microsoft.com/office/mac/drawingml/2011/main" val="1"/>
            </a:ext>
          </a:extLst>
        </p:spPr>
        <p:txBody>
          <a:bodyPr lIns="243799" tIns="243799" rIns="243799" bIns="243799">
            <a:spAutoFit/>
          </a:bodyPr>
          <a:lstStyle/>
          <a:p>
            <a:pPr algn="l" defTabSz="2438400">
              <a:defRPr spc="0" sz="3600">
                <a:solidFill>
                  <a:srgbClr val="1E3264"/>
                </a:solidFill>
                <a:latin typeface="Montserrat"/>
                <a:ea typeface="Montserrat"/>
                <a:cs typeface="Montserrat"/>
                <a:sym typeface="Montserrat"/>
              </a:defRPr>
            </a:pPr>
            <a:r>
              <a:t>Special Thanks To:</a:t>
            </a:r>
            <a:endParaRPr sz="2800">
              <a:solidFill>
                <a:srgbClr val="434343"/>
              </a:solidFill>
            </a:endParaRPr>
          </a:p>
          <a:p>
            <a:pPr algn="l" defTabSz="2438400">
              <a:defRPr spc="0" sz="2800">
                <a:solidFill>
                  <a:srgbClr val="434343"/>
                </a:solidFill>
                <a:latin typeface="Montserrat"/>
                <a:ea typeface="Montserrat"/>
                <a:cs typeface="Montserrat"/>
                <a:sym typeface="Montserrat"/>
              </a:defRPr>
            </a:pPr>
            <a:r>
              <a:t>Cecilia Li</a:t>
            </a:r>
            <a:r>
              <a:rPr b="0"/>
              <a:t xml:space="preserve"> – Localization</a:t>
            </a:r>
          </a:p>
          <a:p>
            <a:pPr algn="l" defTabSz="2438400">
              <a:defRPr spc="0" sz="2800">
                <a:solidFill>
                  <a:srgbClr val="434343"/>
                </a:solidFill>
                <a:latin typeface="Montserrat"/>
                <a:ea typeface="Montserrat"/>
                <a:cs typeface="Montserrat"/>
                <a:sym typeface="Montserrat"/>
              </a:defRPr>
            </a:pPr>
            <a:r>
              <a:t>Aiden Wang</a:t>
            </a:r>
            <a:r>
              <a:rPr b="0"/>
              <a:t xml:space="preserve"> – Tracking</a:t>
            </a:r>
          </a:p>
          <a:p>
            <a:pPr algn="l" defTabSz="2438400">
              <a:defRPr spc="0" sz="2800">
                <a:solidFill>
                  <a:srgbClr val="434343"/>
                </a:solidFill>
                <a:latin typeface="Montserrat"/>
                <a:ea typeface="Montserrat"/>
                <a:cs typeface="Montserrat"/>
                <a:sym typeface="Montserrat"/>
              </a:defRPr>
            </a:pPr>
            <a:r>
              <a:t>Satvick Acharya</a:t>
            </a:r>
            <a:r>
              <a:rPr b="0"/>
              <a:t xml:space="preserve"> – DLA</a:t>
            </a:r>
          </a:p>
          <a:p>
            <a:pPr algn="l" defTabSz="2438400">
              <a:defRPr spc="0" sz="2800">
                <a:solidFill>
                  <a:srgbClr val="434343"/>
                </a:solidFill>
                <a:latin typeface="Montserrat"/>
                <a:ea typeface="Montserrat"/>
                <a:cs typeface="Montserrat"/>
                <a:sym typeface="Montserrat"/>
              </a:defRPr>
            </a:pPr>
            <a:r>
              <a:t>Adam Roberge and Tae Kim</a:t>
            </a:r>
            <a:r>
              <a:rPr b="0"/>
              <a:t xml:space="preserve"> – 2DOD</a:t>
            </a:r>
          </a:p>
          <a:p>
            <a:pPr algn="l" defTabSz="2438400">
              <a:defRPr spc="0" sz="2800">
                <a:solidFill>
                  <a:srgbClr val="434343"/>
                </a:solidFill>
                <a:latin typeface="Montserrat"/>
                <a:ea typeface="Montserrat"/>
                <a:cs typeface="Montserrat"/>
                <a:sym typeface="Montserrat"/>
              </a:defRPr>
            </a:pPr>
            <a:r>
              <a:t>Abdus Shaikh and Saaim Raad</a:t>
            </a:r>
            <a:r>
              <a:rPr b="0"/>
              <a:t xml:space="preserve"> – 3DOD</a:t>
            </a:r>
          </a:p>
          <a:p>
            <a:pPr algn="l" defTabSz="2438400">
              <a:defRPr spc="0" sz="2800">
                <a:solidFill>
                  <a:srgbClr val="434343"/>
                </a:solidFill>
                <a:latin typeface="Montserrat"/>
                <a:ea typeface="Montserrat"/>
                <a:cs typeface="Montserrat"/>
                <a:sym typeface="Montserrat"/>
              </a:defRPr>
            </a:pPr>
            <a:r>
              <a:t>Robert Ren and Morgan Tran</a:t>
            </a:r>
            <a:r>
              <a:rPr b="0"/>
              <a:t xml:space="preserve"> – Student Advisors</a:t>
            </a:r>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normAutofit/>
          </a:bodyPr>
          <a:lstStyle/>
          <a:p>
            <a:pPr/>
            <a:r>
              <a:rPr b="1"/>
              <a:t>Every day, drivers across America waste $72.7 billion worth of time and fuel searching for parking.</a:t>
            </a:r>
          </a:p>
          <a:p>
            <a:pPr/>
            <a:r>
              <a:t xml:space="preserve">In New York City alone, the average driver loses </a:t>
            </a:r>
            <a:r>
              <a:rPr b="1"/>
              <a:t>107 hours per year</a:t>
            </a:r>
            <a:r>
              <a:t xml:space="preserve"> — over 4.4 full days — just circling for a spot. That is wasted time, wasted fuel, and a problem that gets worse as cities grow denser.</a:t>
            </a:r>
          </a:p>
          <a:p>
            <a:pPr/>
            <a:r>
              <a:t xml:space="preserve">We are </a:t>
            </a:r>
            <a:r>
              <a:rPr b="1"/>
              <a:t>aUToronto AutoPark</a:t>
            </a:r>
            <a:r>
              <a:t xml:space="preserve"> — a full-stack autonomous self-parking system. We let the car drop you at the door and handle parking entirely on its own: finding, navigating, and completing the maneuver without any driver input.</a:t>
            </a:r>
          </a:p>
          <a:p>
            <a:pPr/>
            <a:r>
              <a:t xml:space="preserve">We are targeting a </a:t>
            </a:r>
            <a:r>
              <a:rPr b="1"/>
              <a:t>$10 billion smart parking market</a:t>
            </a:r>
            <a:r>
              <a:t xml:space="preserve"> growing at 17% per year, with a clear path to licensing our platform to major automotive OEMs. Today we are seeking seed investment to deploy our first pilot RSUs and sign our first parking lot partners.</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Elevator Pitch</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normAutofit/>
          </a:bodyPr>
          <a:lstStyle/>
          <a:p>
            <a:pPr/>
            <a:r>
              <a:rPr b="1"/>
              <a:t>Phase 1 (2026–2028): Bridge Revenue via Smart Parking App</a:t>
            </a:r>
            <a:r>
              <a:t xml:space="preserve"> — We launch as a SpotHero-style parking aggregator. Users pay through our app; we collect a 15–30% dynamic commission per transaction. This generates real revenue from day one while we build the brand, sign parking lot partnerships, and validate the OBU/RSU hardware.</a:t>
            </a:r>
          </a:p>
          <a:p>
            <a:pPr/>
            <a:r>
              <a:rPr b="1"/>
              <a:t>Phase 2 (2028+): Full Autonomous Parking Platform</a:t>
            </a:r>
            <a:r>
              <a:t xml:space="preserve"> — As AV adoption grows, we transition to a full L4/L5 integration play. Our RSUs enable true hands-free autonomous parking. Revenue streams expand to include OEM SDK licensing deals, per-vehicle subscription fees, and premium lot access tiers.</a:t>
            </a:r>
          </a:p>
          <a:p>
            <a:pPr/>
            <a:r>
              <a:rPr b="1"/>
              <a:t>Monetization:</a:t>
            </a:r>
            <a:r>
              <a:t xml:space="preserve"> 15–30% commission on every parking transaction; per-gate SaaS fee for lot operators ($50/gate/month); OEM licensing fees for SDK access.</a:t>
            </a:r>
          </a:p>
          <a:p>
            <a:pPr/>
            <a:r>
              <a:rPr b="1"/>
              <a:t>Competitive Moat:</a:t>
            </a:r>
            <a:r>
              <a:t xml:space="preserve"> Our RSU hardware creates a physical installation barrier — once a lot is equipped, switching costs are high. Combined with OEM integrations, this locks in both supply (lots) and demand (vehicles) simultaneously.</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Go-to-Market: Two-Phase Strategy</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normAutofit/>
          </a:bodyPr>
          <a:lstStyle/>
          <a:p>
            <a:pPr/>
            <a:r>
              <a:rPr b="1"/>
              <a:t>RSU Hardware Cost:</a:t>
            </a:r>
            <a:r>
              <a:t xml:space="preserve"> ~$401 per gate (NXP processor + Quectel LTE module + relay + UHF reader). In Phase 1, subsidised 100% to drive lot adoption.</a:t>
            </a:r>
          </a:p>
          <a:p>
            <a:pPr/>
            <a:r>
              <a:rPr b="1"/>
              <a:t>Revenue per Transaction:</a:t>
            </a:r>
            <a:r>
              <a:t xml:space="preserve"> At a $15 average ticket, 35% gross commission = $5.25 gross. After Stripe payment fees (~$0.78), net revenue per transaction = ~$4.47.</a:t>
            </a:r>
          </a:p>
          <a:p>
            <a:pPr/>
            <a:r>
              <a:rPr b="1"/>
              <a:t>Hardware Payback Period:</a:t>
            </a:r>
            <a:r>
              <a:t xml:space="preserve"> At our base case of 15 transactions/gate/day → $67/gate/day net → RSU pays back in approximately 6 days.</a:t>
            </a:r>
          </a:p>
          <a:p>
            <a:pPr/>
            <a:r>
              <a:rPr b="1"/>
              <a:t>5-Year LTV per Gate:</a:t>
            </a:r>
            <a:r>
              <a:t xml:space="preserve"> ~$81,600 in net revenue per RSU gate over 5 years. LTV:CAC ratio ≈ 40:1 at base case.</a:t>
            </a:r>
          </a:p>
          <a:p>
            <a:pPr/>
            <a:r>
              <a:rPr b="1"/>
              <a:t>Scale Economics:</a:t>
            </a:r>
            <a:r>
              <a:t xml:space="preserve"> Cloud infrastructure scales sub-linearly — AWS costs grow from ~$190/month at 10 gates to ~$1,300/month at 200 gates while revenue scales linearly, so margins improve with every new gate deployed.</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Revenue Model &amp; Unit Economics</a:t>
            </a: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normAutofit/>
          </a:bodyPr>
          <a:lstStyle/>
          <a:p>
            <a:pPr/>
            <a:r>
              <a:rPr b="1"/>
              <a:t>The J-Curve:</a:t>
            </a:r>
            <a:r>
              <a:t xml:space="preserve"> Years 1–2 are cash-flow negative as we subsidise RSU hardware and build the lot network. Revenue ramps sharply in Year 3 as the installed base grows and per-gate economics compound. Cash flow turns positive by Year 3 in the base case.</a:t>
            </a:r>
          </a:p>
          <a:p>
            <a:pPr/>
            <a:r>
              <a:rPr b="1"/>
              <a:t>Three Scenarios:</a:t>
            </a:r>
            <a:r>
              <a:t xml:space="preserve"> Bear (8 txns/day/gate): ~$26/gate/day net. Base (15 txns/day/gate): ~$67/gate/day net. Bull (25 txns/day/gate): ~$112/gate/day net.</a:t>
            </a:r>
          </a:p>
          <a:p>
            <a:pPr/>
            <a:r>
              <a:rPr b="1"/>
              <a:t>NPV at 25% WACC (5 Years):</a:t>
            </a:r>
            <a:r>
              <a:t xml:space="preserve"> Bear case NPV ≈ slightly negative at aggressive growth assumptions; Base case NPV strongly positive; Bull case NPV reflects significant value creation. Reflects genuine technology and execution risk priced at a 25% discount rate appropriate for early-stage hardware-software ventures.</a:t>
            </a:r>
          </a:p>
          <a:p>
            <a:pPr/>
            <a:r>
              <a:rPr b="1"/>
              <a:t>Revenue Milestone:</a:t>
            </a:r>
            <a:r>
              <a:t xml:space="preserve"> 200 gates × 15 txns/day × $4.47 net × 365 days = ~$490K annual net revenue at steady state. At 500 gates (target Year 3 base case): ~$1.2M annual net revenue before OEM licensing.</a:t>
            </a:r>
          </a:p>
          <a:p>
            <a:pPr/>
            <a:r>
              <a:rPr b="1"/>
              <a:t>Funding Ask:</a:t>
            </a:r>
            <a:r>
              <a:t xml:space="preserve"> Seed capital will fund pilot hardware (50 RSU gates at ~$20K), cloud infrastructure, and 12 months of runway to reach first commercial parking lot partnership and OEM pilot agreement.</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Financial Projections: J-Curve &amp; NPV</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Urban parking is time-consuming, inefficient, and stressful.…"/>
          <p:cNvSpPr txBox="1"/>
          <p:nvPr>
            <p:ph type="body" idx="1"/>
          </p:nvPr>
        </p:nvSpPr>
        <p:spPr>
          <a:prstGeom prst="rect">
            <a:avLst/>
          </a:prstGeom>
        </p:spPr>
        <p:txBody>
          <a:bodyPr>
            <a:normAutofit/>
          </a:bodyPr>
          <a:lstStyle/>
          <a:p>
            <a:pPr/>
            <a:r>
              <a:rPr b="1"/>
              <a:t>The Thesis:</a:t>
            </a:r>
            <a:r>
              <a:t xml:space="preserve"> Autonomous vehicle OEMs need a differentiated self-parking feature to win the AV feature war. Rather than build this in-house, the most efficient path is acquisition. AutoPark becomes an embedded software module licensed — or acquired — by a major OEM like General Motors, Ford, or Stellantis.</a:t>
            </a:r>
          </a:p>
          <a:p>
            <a:pPr/>
            <a:r>
              <a:rPr b="1"/>
              <a:t>Why GM:</a:t>
            </a:r>
            <a:r>
              <a:t xml:space="preserve"> GM's Cruise AV division is actively building the full AV software stack. AutoPark fills a gap in their curbside-to-curbside experience, and our RSU network creates a defensible data and infrastructure moat that complements Cruise's on-vehicle autonomy.</a:t>
            </a:r>
          </a:p>
          <a:p>
            <a:pPr/>
            <a:r>
              <a:rPr b="1"/>
              <a:t>Valuation Method 1 — Revenue Multiple:</a:t>
            </a:r>
            <a:r>
              <a:t xml:space="preserve"> At $1.2M ARR (Year 3 base) × 15x SaaS multiple (comparable to smart mobility peers) = ~$18M valuation.</a:t>
            </a:r>
          </a:p>
          <a:p>
            <a:pPr/>
            <a:r>
              <a:rPr b="1"/>
              <a:t>Valuation Method 2 — DCF / NPV:</a:t>
            </a:r>
            <a:r>
              <a:t xml:space="preserve"> 5-year discounted cash flow at 25% WACC with terminal value reflects a fair enterprise value consistent with the revenue multiple approach.</a:t>
            </a:r>
          </a:p>
          <a:p>
            <a:pPr/>
            <a:r>
              <a:rPr b="1"/>
              <a:t>Valuation Method 3 — Precedent Transactions:</a:t>
            </a:r>
            <a:r>
              <a:t xml:space="preserve"> Precedent AV feature acquisitions (e.g., GM/Cruise at ~$1B, Ford/Argo, Bosch/various parking tech) imply a 5–15x revenue acquisition premium for proven AV parking platforms. Our target exit range at scale: $50M–$200M depending on strategic fit.</a:t>
            </a:r>
          </a:p>
        </p:txBody>
      </p:sp>
      <p:sp>
        <p:nvSpPr>
          <p:cNvPr id="453" name="01"/>
          <p:cNvSpPr txBox="1"/>
          <p:nvPr>
            <p:ph type="sldNum" sz="quarter" idx="2"/>
          </p:nvPr>
        </p:nvSpPr>
        <p:spPr>
          <a:xfrm>
            <a:off x="1036946" y="12524796"/>
            <a:ext cx="683942" cy="8704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4" name="What is the problem we are solving?"/>
          <p:cNvSpPr txBox="1"/>
          <p:nvPr>
            <p:ph type="title"/>
          </p:nvPr>
        </p:nvSpPr>
        <p:spPr>
          <a:prstGeom prst="rect">
            <a:avLst/>
          </a:prstGeom>
        </p:spPr>
        <p:txBody>
          <a:bodyPr/>
          <a:lstStyle>
            <a:lvl1pPr defTabSz="2145791">
              <a:defRPr spc="211" sz="7040"/>
            </a:lvl1pPr>
          </a:lstStyle>
          <a:p>
            <a:pPr/>
            <a:r>
              <a:t>Exit Strategy: OEM Acquisition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PT Sans"/>
        <a:ea typeface="PT Sans"/>
        <a:cs typeface="PT Sans"/>
      </a:majorFont>
      <a:minorFont>
        <a:latin typeface="PT Sans"/>
        <a:ea typeface="PT Sans"/>
        <a:cs typeface="PT Sans"/>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PT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upright="0">
        <a:normAutofit fontScale="100000" lnSpcReduction="0"/>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PT Sans"/>
        <a:ea typeface="PT Sans"/>
        <a:cs typeface="PT Sans"/>
      </a:majorFont>
      <a:minorFont>
        <a:latin typeface="PT Sans"/>
        <a:ea typeface="PT Sans"/>
        <a:cs typeface="PT Sans"/>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PT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upright="0">
        <a:normAutofit fontScale="100000" lnSpcReduction="0"/>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116" strike="noStrike" sz="3900" u="none" kumimoji="0" normalizeH="0">
            <a:ln>
              <a:noFill/>
            </a:ln>
            <a:solidFill>
              <a:srgbClr val="000000"/>
            </a:solidFill>
            <a:effectLst/>
            <a:uFillTx/>
            <a:latin typeface="+mn-lt"/>
            <a:ea typeface="+mn-ea"/>
            <a:cs typeface="+mn-cs"/>
            <a:sym typeface="PT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