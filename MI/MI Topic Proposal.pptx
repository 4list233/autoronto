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Figtree"/>
      <p:regular r:id="rId28"/>
      <p:bold r:id="rId29"/>
      <p:italic r:id="rId30"/>
      <p:boldItalic r:id="rId31"/>
    </p:embeddedFont>
    <p:embeddedFont>
      <p:font typeface="Raleway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Karla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Amanda Liu"/>
  <p:cmAuthor clrIdx="1" id="1" initials="" lastIdx="1" name="Nevan K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BD94AA-547F-48BF-A0EB-3BB84CB84F39}">
  <a:tblStyle styleId="{44BD94AA-547F-48BF-A0EB-3BB84CB84F3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arla-regular.fntdata"/><Relationship Id="rId20" Type="http://schemas.openxmlformats.org/officeDocument/2006/relationships/slide" Target="slides/slide14.xml"/><Relationship Id="rId42" Type="http://schemas.openxmlformats.org/officeDocument/2006/relationships/font" Target="fonts/Karla-italic.fntdata"/><Relationship Id="rId41" Type="http://schemas.openxmlformats.org/officeDocument/2006/relationships/font" Target="fonts/Karla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Karla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Figtree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Figtre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gtree-boldItalic.fntdata"/><Relationship Id="rId30" Type="http://schemas.openxmlformats.org/officeDocument/2006/relationships/font" Target="fonts/Figtree-italic.fntdata"/><Relationship Id="rId11" Type="http://schemas.openxmlformats.org/officeDocument/2006/relationships/slide" Target="slides/slide5.xml"/><Relationship Id="rId33" Type="http://schemas.openxmlformats.org/officeDocument/2006/relationships/font" Target="fonts/Raleway-bold.fntdata"/><Relationship Id="rId10" Type="http://schemas.openxmlformats.org/officeDocument/2006/relationships/slide" Target="slides/slide4.xml"/><Relationship Id="rId32" Type="http://schemas.openxmlformats.org/officeDocument/2006/relationships/font" Target="fonts/Raleway-regular.fntdata"/><Relationship Id="rId13" Type="http://schemas.openxmlformats.org/officeDocument/2006/relationships/slide" Target="slides/slide7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6.xml"/><Relationship Id="rId34" Type="http://schemas.openxmlformats.org/officeDocument/2006/relationships/font" Target="fonts/Raleway-italic.fntdata"/><Relationship Id="rId15" Type="http://schemas.openxmlformats.org/officeDocument/2006/relationships/slide" Target="slides/slide9.xml"/><Relationship Id="rId37" Type="http://schemas.openxmlformats.org/officeDocument/2006/relationships/font" Target="fonts/Inter-bold.fntdata"/><Relationship Id="rId14" Type="http://schemas.openxmlformats.org/officeDocument/2006/relationships/slide" Target="slides/slide8.xml"/><Relationship Id="rId36" Type="http://schemas.openxmlformats.org/officeDocument/2006/relationships/font" Target="fonts/Inter-regular.fntdata"/><Relationship Id="rId17" Type="http://schemas.openxmlformats.org/officeDocument/2006/relationships/slide" Target="slides/slide11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04T04:33:16.492">
    <p:pos x="2625" y="1564"/>
    <p:text>hold awn a second..... this sounds too do-able i feel like it's already a thing??</p:text>
  </p:cm>
  <p:cm authorId="0" idx="2" dt="2025-11-04T04:33:16.492">
    <p:pos x="2625" y="1564"/>
    <p:text>@forest.li@autodrive.utoronto.ca The slide below (which is lwk disgusting) is the V2 of our strategy. Like V1 is basic and not actually feasible given the current environment. So if u think V2 is good, we can replace it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2-07T20:08:01.730">
    <p:pos x="2385" y="470"/>
    <p:text>why not have reservation feature? should be pretty simple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11-15T18:53:01.463">
    <p:pos x="454" y="728"/>
    <p:text>hardware component= wireless communication V2V communicatioon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stradvision/augmented-reality-head-up-display-ar-hud-provides-drivers-with-a-safer-and-more-convenient-25db611fd406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precedenceresearch.com/augmented-reality-head-up-display-market" TargetMode="External"/><Relationship Id="rId3" Type="http://schemas.openxmlformats.org/officeDocument/2006/relationships/hyperlink" Target="https://www.marketresearchfuture.com/reports/automotive-augmented-reality-hud-market-27509?utm_source=chatgpt.com" TargetMode="External"/><Relationship Id="rId4" Type="http://schemas.openxmlformats.org/officeDocument/2006/relationships/hyperlink" Target="https://www.marketresearchfuture.com/reports/automotive-augmented-reality-hud-market-27509?utm_source=chatgpt.com" TargetMode="External"/><Relationship Id="rId5" Type="http://schemas.openxmlformats.org/officeDocument/2006/relationships/hyperlink" Target="https://www.marketresearchfuture.com/reports/automotive-augmented-reality-hud-market-27509?utm_source=chatgpt.com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87cf81d62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87cf81d62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87cf81d6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87cf81d6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1d838b62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e1d838b62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fb61485a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fb61485a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1d838b627_4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1d838b627_4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87cf81d6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87cf81d6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87cf81d6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87cf81d6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for @chad: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Is this technology feasible at our scope??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87cf81d6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87cf81d6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87cf81d62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987cf81d6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83C77"/>
                </a:solidFill>
                <a:latin typeface="Karla"/>
                <a:ea typeface="Karla"/>
                <a:cs typeface="Karla"/>
                <a:sym typeface="Karla"/>
              </a:rPr>
              <a:t>Creates a flywheel:</a:t>
            </a:r>
            <a:endParaRPr>
              <a:solidFill>
                <a:srgbClr val="083C77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3C77"/>
              </a:buClr>
              <a:buSzPts val="1100"/>
              <a:buFont typeface="Karla"/>
              <a:buChar char="●"/>
            </a:pPr>
            <a:r>
              <a:rPr lang="en">
                <a:solidFill>
                  <a:srgbClr val="083C77"/>
                </a:solidFill>
                <a:latin typeface="Karla"/>
                <a:ea typeface="Karla"/>
                <a:cs typeface="Karla"/>
                <a:sym typeface="Karla"/>
              </a:rPr>
              <a:t>The more OEMs signed, the more valuable our service is to garages.</a:t>
            </a:r>
            <a:endParaRPr>
              <a:solidFill>
                <a:srgbClr val="083C77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3C77"/>
              </a:buClr>
              <a:buSzPts val="1100"/>
              <a:buFont typeface="Karla"/>
              <a:buChar char="●"/>
            </a:pPr>
            <a:r>
              <a:rPr lang="en">
                <a:solidFill>
                  <a:srgbClr val="083C77"/>
                </a:solidFill>
                <a:latin typeface="Karla"/>
                <a:ea typeface="Karla"/>
                <a:cs typeface="Karla"/>
                <a:sym typeface="Karla"/>
              </a:rPr>
              <a:t>The more garages signed, the more valuable our software is to OEMs.</a:t>
            </a:r>
            <a:endParaRPr>
              <a:solidFill>
                <a:srgbClr val="083C77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87cf81d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987cf81d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87cf81d6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87cf81d6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87cf81d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987cf81d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1721fb97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1721fb97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Prithvi</a:t>
            </a:r>
            <a:r>
              <a:rPr b="1" lang="en"/>
              <a:t> takeover pres from here</a:t>
            </a:r>
            <a:endParaRPr b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87cf81d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987cf81d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1721fb97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1721fb97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87cf81d6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987cf81d6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https://medium.com/stradvision/augmented-reality-head-up-display-ar-hud-provides-drivers-with-a-safer-and-more-convenient-25db611fd406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1721fb97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a1721fb97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e1d838b627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e1d838b627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Precedence Research (2024)</a:t>
            </a:r>
            <a:r>
              <a:rPr lang="en">
                <a:solidFill>
                  <a:schemeClr val="dk1"/>
                </a:solidFill>
              </a:rPr>
              <a:t> – “Augmented Reality Head-Up Display Market Size, Share, Growth 2024–2032”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→ Global AR HUD market size was USD 1.5 billion in 2023 and projected to reach USD 15.3 billion by 2032 (CAGR 28 %).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🔗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https://www.precedenceresearch.com/augmented-reality-head-up-display-market</a:t>
            </a:r>
            <a:r>
              <a:rPr lang="en">
                <a:solidFill>
                  <a:schemeClr val="dk1"/>
                </a:solidFill>
              </a:rPr>
              <a:t> 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Market Research Future (2024)</a:t>
            </a:r>
            <a:r>
              <a:rPr lang="en">
                <a:solidFill>
                  <a:schemeClr val="dk1"/>
                </a:solidFill>
              </a:rPr>
              <a:t> – “Automotive AR HUD Market Report 2024–2035”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→ Market estimated USD 0.97 billion (2024) → USD 14.77 billion by 2035 (CAGR 29.3 %).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🔗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https://www.marketresearchfuture.com/reports/automotive-augmented-reality-hud-market-27509</a:t>
            </a:r>
            <a:br>
              <a:rPr lang="en" u="sng">
                <a:solidFill>
                  <a:schemeClr val="hlink"/>
                </a:solidFill>
                <a:hlinkClick r:id="rId5"/>
              </a:rPr>
            </a:b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r>
              <a:rPr b="1" lang="en" sz="1300">
                <a:solidFill>
                  <a:schemeClr val="dk1"/>
                </a:solidFill>
              </a:rPr>
              <a:t>TAM — Total Addressable Market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Definition: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share of the global AV ecosystem constrained by </a:t>
            </a:r>
            <a:r>
              <a:rPr i="1" lang="en">
                <a:solidFill>
                  <a:schemeClr val="dk1"/>
                </a:solidFill>
              </a:rPr>
              <a:t>lack of consumer trust</a:t>
            </a:r>
            <a:r>
              <a:rPr lang="en">
                <a:solidFill>
                  <a:schemeClr val="dk1"/>
                </a:solidFill>
              </a:rPr>
              <a:t> — the part VISTA directly solves.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Inputs &amp; Assumptions: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Global </a:t>
            </a:r>
            <a:r>
              <a:rPr b="1" lang="en">
                <a:solidFill>
                  <a:schemeClr val="dk1"/>
                </a:solidFill>
              </a:rPr>
              <a:t>Autonomous Vehicle Market (2032)</a:t>
            </a:r>
            <a:r>
              <a:rPr lang="en">
                <a:solidFill>
                  <a:schemeClr val="dk1"/>
                </a:solidFill>
              </a:rPr>
              <a:t> = </a:t>
            </a:r>
            <a:r>
              <a:rPr b="1" lang="en">
                <a:solidFill>
                  <a:schemeClr val="dk1"/>
                </a:solidFill>
              </a:rPr>
              <a:t>$620B</a:t>
            </a:r>
            <a:r>
              <a:rPr lang="en">
                <a:solidFill>
                  <a:schemeClr val="dk1"/>
                </a:solidFill>
              </a:rPr>
              <a:t> (Fortune Business Insights, 2024).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McKinsey (2024): </a:t>
            </a:r>
            <a:r>
              <a:rPr b="1" lang="en">
                <a:solidFill>
                  <a:schemeClr val="dk1"/>
                </a:solidFill>
              </a:rPr>
              <a:t>67% of consumers</a:t>
            </a:r>
            <a:r>
              <a:rPr lang="en">
                <a:solidFill>
                  <a:schemeClr val="dk1"/>
                </a:solidFill>
              </a:rPr>
              <a:t> cite lack of trust as main hesitation.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Not all of that 67% translates into immediate addressable revenue; assume only </a:t>
            </a:r>
            <a:r>
              <a:rPr b="1" lang="en">
                <a:solidFill>
                  <a:schemeClr val="dk1"/>
                </a:solidFill>
              </a:rPr>
              <a:t>25% of the global AV value</a:t>
            </a:r>
            <a:r>
              <a:rPr lang="en">
                <a:solidFill>
                  <a:schemeClr val="dk1"/>
                </a:solidFill>
              </a:rPr>
              <a:t> is realistically “trust-limited” and could be influenced by UX transparency layers like VISTA.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Within that segment, VISTA’s AR interface addresses roughly </a:t>
            </a:r>
            <a:r>
              <a:rPr b="1" lang="en">
                <a:solidFill>
                  <a:schemeClr val="dk1"/>
                </a:solidFill>
              </a:rPr>
              <a:t>5% of total vehicle value</a:t>
            </a:r>
            <a:r>
              <a:rPr lang="en">
                <a:solidFill>
                  <a:schemeClr val="dk1"/>
                </a:solidFill>
              </a:rPr>
              <a:t> (software/UI contribution).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r>
              <a:rPr b="1" lang="en" sz="1300">
                <a:solidFill>
                  <a:schemeClr val="dk1"/>
                </a:solidFill>
              </a:rPr>
              <a:t>SAM — Serviceable Addressable Market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Definition: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AVs in regions where consumer trust, regulatory acceptance, and AR hardware integration overlap.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Inputs &amp; Assumptions: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60% of the global AV market concentrated in </a:t>
            </a:r>
            <a:r>
              <a:rPr b="1" lang="en">
                <a:solidFill>
                  <a:schemeClr val="dk1"/>
                </a:solidFill>
              </a:rPr>
              <a:t>North America, Europe, and East Asia</a:t>
            </a:r>
            <a:r>
              <a:rPr lang="en">
                <a:solidFill>
                  <a:schemeClr val="dk1"/>
                </a:solidFill>
              </a:rPr>
              <a:t> (OECD, 2024).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Only </a:t>
            </a:r>
            <a:r>
              <a:rPr b="1" lang="en">
                <a:solidFill>
                  <a:schemeClr val="dk1"/>
                </a:solidFill>
              </a:rPr>
              <a:t>50%</a:t>
            </a:r>
            <a:r>
              <a:rPr lang="en">
                <a:solidFill>
                  <a:schemeClr val="dk1"/>
                </a:solidFill>
              </a:rPr>
              <a:t> of those regions will have AR HUD or compatible display hardware by 2032.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Regional cultural and safety regulations make transparency features a near-term priority.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SOM — Serviceable Obtainable Market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Definition: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Realistic 5-year market capture through early OEM and fleet partnerships.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Inputs &amp; Assumptions: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OEM penetration (2026–2031): </a:t>
            </a:r>
            <a:r>
              <a:rPr b="1" lang="en">
                <a:solidFill>
                  <a:schemeClr val="dk1"/>
                </a:solidFill>
              </a:rPr>
              <a:t>7% of SAM</a:t>
            </a:r>
            <a:r>
              <a:rPr lang="en">
                <a:solidFill>
                  <a:schemeClr val="dk1"/>
                </a:solidFill>
              </a:rPr>
              <a:t> (gradual, conservative adoption).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Average annual SaaS license: </a:t>
            </a:r>
            <a:r>
              <a:rPr b="1" lang="en">
                <a:solidFill>
                  <a:schemeClr val="dk1"/>
                </a:solidFill>
              </a:rPr>
              <a:t>$150 per vehicle/year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Average deployment lifecycle: 5 years.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1d838b627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e1d838b627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35c9f142d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35c9f142d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228600" y="1102382"/>
            <a:ext cx="86868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28600" y="3171600"/>
            <a:ext cx="2945400" cy="1743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873625" y="3070429"/>
            <a:ext cx="3351000" cy="187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007038" y="1610330"/>
            <a:ext cx="1268400" cy="1269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832" t="416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576325" y="3472990"/>
            <a:ext cx="25305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0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BK 1.png"/>
          <p:cNvPicPr preferRelativeResize="0"/>
          <p:nvPr/>
        </p:nvPicPr>
        <p:blipFill rotWithShape="1">
          <a:blip r:embed="rId2">
            <a:alphaModFix/>
          </a:blip>
          <a:srcRect b="932" l="1756" r="98" t="932"/>
          <a:stretch/>
        </p:blipFill>
        <p:spPr>
          <a:xfrm flipH="1">
            <a:off x="3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231125" y="2031875"/>
            <a:ext cx="1509300" cy="9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231125" y="3540950"/>
            <a:ext cx="1509300" cy="9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3" type="subTitle"/>
          </p:nvPr>
        </p:nvSpPr>
        <p:spPr>
          <a:xfrm>
            <a:off x="1816625" y="2031875"/>
            <a:ext cx="3493200" cy="13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1816625" y="3540950"/>
            <a:ext cx="3493200" cy="13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231125" y="228600"/>
            <a:ext cx="8686800" cy="82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0" t="416"/>
          <a:stretch/>
        </p:blipFill>
        <p:spPr>
          <a:xfrm>
            <a:off x="0" y="0"/>
            <a:ext cx="922062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832" t="416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type="title"/>
          </p:nvPr>
        </p:nvSpPr>
        <p:spPr>
          <a:xfrm>
            <a:off x="228600" y="4549500"/>
            <a:ext cx="3658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 title="BK 1.png"/>
          <p:cNvPicPr preferRelativeResize="0"/>
          <p:nvPr/>
        </p:nvPicPr>
        <p:blipFill rotWithShape="1">
          <a:blip r:embed="rId2">
            <a:alphaModFix/>
          </a:blip>
          <a:srcRect b="932" l="961" r="951" t="922"/>
          <a:stretch/>
        </p:blipFill>
        <p:spPr>
          <a:xfrm flipH="1">
            <a:off x="5051" y="0"/>
            <a:ext cx="913894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33650" y="2413675"/>
            <a:ext cx="18831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2" type="subTitle"/>
          </p:nvPr>
        </p:nvSpPr>
        <p:spPr>
          <a:xfrm>
            <a:off x="2501550" y="2413675"/>
            <a:ext cx="18831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3" type="subTitle"/>
          </p:nvPr>
        </p:nvSpPr>
        <p:spPr>
          <a:xfrm>
            <a:off x="4769450" y="2413675"/>
            <a:ext cx="18831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4" type="subTitle"/>
          </p:nvPr>
        </p:nvSpPr>
        <p:spPr>
          <a:xfrm>
            <a:off x="7037350" y="2413675"/>
            <a:ext cx="18831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5" type="subTitle"/>
          </p:nvPr>
        </p:nvSpPr>
        <p:spPr>
          <a:xfrm>
            <a:off x="231125" y="3773125"/>
            <a:ext cx="18831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6" type="subTitle"/>
          </p:nvPr>
        </p:nvSpPr>
        <p:spPr>
          <a:xfrm>
            <a:off x="2499025" y="3773125"/>
            <a:ext cx="18831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7" type="subTitle"/>
          </p:nvPr>
        </p:nvSpPr>
        <p:spPr>
          <a:xfrm>
            <a:off x="4766925" y="3773125"/>
            <a:ext cx="18831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8" type="subTitle"/>
          </p:nvPr>
        </p:nvSpPr>
        <p:spPr>
          <a:xfrm>
            <a:off x="7034825" y="3773125"/>
            <a:ext cx="18831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9" type="title"/>
          </p:nvPr>
        </p:nvSpPr>
        <p:spPr>
          <a:xfrm>
            <a:off x="7034825" y="2029975"/>
            <a:ext cx="625800" cy="48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13" type="title"/>
          </p:nvPr>
        </p:nvSpPr>
        <p:spPr>
          <a:xfrm>
            <a:off x="2498225" y="2029985"/>
            <a:ext cx="625800" cy="48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4" type="title"/>
          </p:nvPr>
        </p:nvSpPr>
        <p:spPr>
          <a:xfrm>
            <a:off x="231125" y="2029975"/>
            <a:ext cx="624600" cy="48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15" type="title"/>
          </p:nvPr>
        </p:nvSpPr>
        <p:spPr>
          <a:xfrm>
            <a:off x="4766525" y="2029967"/>
            <a:ext cx="625800" cy="48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6" type="title"/>
          </p:nvPr>
        </p:nvSpPr>
        <p:spPr>
          <a:xfrm>
            <a:off x="2499825" y="3377214"/>
            <a:ext cx="624600" cy="48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17" type="title"/>
          </p:nvPr>
        </p:nvSpPr>
        <p:spPr>
          <a:xfrm>
            <a:off x="4767325" y="3377214"/>
            <a:ext cx="624600" cy="48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18" type="title"/>
          </p:nvPr>
        </p:nvSpPr>
        <p:spPr>
          <a:xfrm>
            <a:off x="7034825" y="3377224"/>
            <a:ext cx="624600" cy="48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19" type="title"/>
          </p:nvPr>
        </p:nvSpPr>
        <p:spPr>
          <a:xfrm>
            <a:off x="232325" y="3377225"/>
            <a:ext cx="624600" cy="48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832" t="416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type="title"/>
          </p:nvPr>
        </p:nvSpPr>
        <p:spPr>
          <a:xfrm>
            <a:off x="228600" y="228604"/>
            <a:ext cx="8686800" cy="105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228600" y="1737625"/>
            <a:ext cx="6370200" cy="31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 title="BK 1.png"/>
          <p:cNvPicPr preferRelativeResize="0"/>
          <p:nvPr/>
        </p:nvPicPr>
        <p:blipFill rotWithShape="1">
          <a:blip r:embed="rId2">
            <a:alphaModFix/>
          </a:blip>
          <a:srcRect b="1854" l="514" r="514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type="title"/>
          </p:nvPr>
        </p:nvSpPr>
        <p:spPr>
          <a:xfrm>
            <a:off x="233650" y="228600"/>
            <a:ext cx="8686800" cy="82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228600" y="1370175"/>
            <a:ext cx="3697800" cy="3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5"/>
          <p:cNvSpPr/>
          <p:nvPr>
            <p:ph idx="2" type="pic"/>
          </p:nvPr>
        </p:nvSpPr>
        <p:spPr>
          <a:xfrm flipH="1">
            <a:off x="4571925" y="1525000"/>
            <a:ext cx="4237200" cy="312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 title="BK 1.png"/>
          <p:cNvPicPr preferRelativeResize="0"/>
          <p:nvPr/>
        </p:nvPicPr>
        <p:blipFill rotWithShape="1">
          <a:blip r:embed="rId2">
            <a:alphaModFix/>
          </a:blip>
          <a:srcRect b="922" l="1756" r="98" t="932"/>
          <a:stretch/>
        </p:blipFill>
        <p:spPr>
          <a:xfrm flipH="1"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832" t="416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1885725" y="3336650"/>
            <a:ext cx="2321400" cy="1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subTitle"/>
          </p:nvPr>
        </p:nvSpPr>
        <p:spPr>
          <a:xfrm>
            <a:off x="6539604" y="2003700"/>
            <a:ext cx="2321400" cy="1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3" type="subTitle"/>
          </p:nvPr>
        </p:nvSpPr>
        <p:spPr>
          <a:xfrm>
            <a:off x="6539604" y="3336650"/>
            <a:ext cx="2321400" cy="1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hasCustomPrompt="1" type="title"/>
          </p:nvPr>
        </p:nvSpPr>
        <p:spPr>
          <a:xfrm>
            <a:off x="228600" y="3336650"/>
            <a:ext cx="1635000" cy="1192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7"/>
          <p:cNvSpPr txBox="1"/>
          <p:nvPr>
            <p:ph hasCustomPrompt="1" idx="4" type="title"/>
          </p:nvPr>
        </p:nvSpPr>
        <p:spPr>
          <a:xfrm>
            <a:off x="4882700" y="2006300"/>
            <a:ext cx="1635000" cy="1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/>
          <p:nvPr>
            <p:ph hasCustomPrompt="1" idx="5" type="title"/>
          </p:nvPr>
        </p:nvSpPr>
        <p:spPr>
          <a:xfrm>
            <a:off x="4882700" y="3336650"/>
            <a:ext cx="1635000" cy="1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0" name="Google Shape;90;p17"/>
          <p:cNvSpPr txBox="1"/>
          <p:nvPr>
            <p:ph idx="6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7" type="subTitle"/>
          </p:nvPr>
        </p:nvSpPr>
        <p:spPr>
          <a:xfrm>
            <a:off x="228600" y="2021150"/>
            <a:ext cx="3978600" cy="1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BK 1.png"/>
          <p:cNvPicPr preferRelativeResize="0"/>
          <p:nvPr/>
        </p:nvPicPr>
        <p:blipFill rotWithShape="1">
          <a:blip r:embed="rId2">
            <a:alphaModFix/>
          </a:blip>
          <a:srcRect b="922" l="1756" r="98" t="942"/>
          <a:stretch/>
        </p:blipFill>
        <p:spPr>
          <a:xfrm flipH="1"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722275" y="1741825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2" type="subTitle"/>
          </p:nvPr>
        </p:nvSpPr>
        <p:spPr>
          <a:xfrm>
            <a:off x="722275" y="2627788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3" type="subTitle"/>
          </p:nvPr>
        </p:nvSpPr>
        <p:spPr>
          <a:xfrm>
            <a:off x="5065675" y="1741825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4" type="subTitle"/>
          </p:nvPr>
        </p:nvSpPr>
        <p:spPr>
          <a:xfrm>
            <a:off x="5065675" y="2627788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722275" y="3513750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5065675" y="3513750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hasCustomPrompt="1" type="title"/>
          </p:nvPr>
        </p:nvSpPr>
        <p:spPr>
          <a:xfrm>
            <a:off x="4572000" y="3398875"/>
            <a:ext cx="591000" cy="73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8"/>
          <p:cNvSpPr txBox="1"/>
          <p:nvPr>
            <p:ph hasCustomPrompt="1" idx="7" type="title"/>
          </p:nvPr>
        </p:nvSpPr>
        <p:spPr>
          <a:xfrm>
            <a:off x="228600" y="3398875"/>
            <a:ext cx="591000" cy="73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8"/>
          <p:cNvSpPr txBox="1"/>
          <p:nvPr>
            <p:ph hasCustomPrompt="1" idx="8" type="title"/>
          </p:nvPr>
        </p:nvSpPr>
        <p:spPr>
          <a:xfrm>
            <a:off x="228600" y="2512913"/>
            <a:ext cx="590100" cy="7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3" name="Google Shape;103;p18"/>
          <p:cNvSpPr txBox="1"/>
          <p:nvPr>
            <p:ph hasCustomPrompt="1" idx="9" type="title"/>
          </p:nvPr>
        </p:nvSpPr>
        <p:spPr>
          <a:xfrm>
            <a:off x="4572000" y="2512925"/>
            <a:ext cx="591000" cy="7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4" name="Google Shape;104;p18"/>
          <p:cNvSpPr txBox="1"/>
          <p:nvPr>
            <p:ph hasCustomPrompt="1" idx="13" type="title"/>
          </p:nvPr>
        </p:nvSpPr>
        <p:spPr>
          <a:xfrm>
            <a:off x="228600" y="1626950"/>
            <a:ext cx="591000" cy="73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8"/>
          <p:cNvSpPr txBox="1"/>
          <p:nvPr>
            <p:ph hasCustomPrompt="1" idx="14" type="title"/>
          </p:nvPr>
        </p:nvSpPr>
        <p:spPr>
          <a:xfrm>
            <a:off x="4572000" y="1626975"/>
            <a:ext cx="591000" cy="7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6" name="Google Shape;106;p18"/>
          <p:cNvSpPr txBox="1"/>
          <p:nvPr>
            <p:ph idx="15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>
            <p:ph hasCustomPrompt="1" type="title"/>
          </p:nvPr>
        </p:nvSpPr>
        <p:spPr>
          <a:xfrm>
            <a:off x="635425" y="3071601"/>
            <a:ext cx="3878400" cy="8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0" name="Google Shape;110;p19"/>
          <p:cNvSpPr txBox="1"/>
          <p:nvPr>
            <p:ph idx="1" type="subTitle"/>
          </p:nvPr>
        </p:nvSpPr>
        <p:spPr>
          <a:xfrm>
            <a:off x="635425" y="1858769"/>
            <a:ext cx="3878400" cy="79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hasCustomPrompt="1" idx="2" type="title"/>
          </p:nvPr>
        </p:nvSpPr>
        <p:spPr>
          <a:xfrm>
            <a:off x="4630175" y="1858773"/>
            <a:ext cx="3878400" cy="8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2" name="Google Shape;112;p19"/>
          <p:cNvSpPr txBox="1"/>
          <p:nvPr>
            <p:ph idx="3" type="subTitle"/>
          </p:nvPr>
        </p:nvSpPr>
        <p:spPr>
          <a:xfrm>
            <a:off x="4630175" y="3183957"/>
            <a:ext cx="3878400" cy="79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>
            <p:ph type="title"/>
          </p:nvPr>
        </p:nvSpPr>
        <p:spPr>
          <a:xfrm>
            <a:off x="4767707" y="1742353"/>
            <a:ext cx="3738000" cy="11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645738" y="2936631"/>
            <a:ext cx="29142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/>
        </p:nvSpPr>
        <p:spPr>
          <a:xfrm>
            <a:off x="5591557" y="2936631"/>
            <a:ext cx="2914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CREDITS: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includes icons,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b="1" sz="1000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title="BK 1.png"/>
          <p:cNvPicPr preferRelativeResize="0"/>
          <p:nvPr/>
        </p:nvPicPr>
        <p:blipFill rotWithShape="1">
          <a:blip r:embed="rId2">
            <a:alphaModFix/>
          </a:blip>
          <a:srcRect b="922" l="1756" r="98" t="932"/>
          <a:stretch/>
        </p:blipFill>
        <p:spPr>
          <a:xfrm flipH="1"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 flipH="1">
            <a:off x="1" y="-1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832" t="416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445025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sz="2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sz="2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sz="2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sz="2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sz="2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sz="2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sz="2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sz="2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sz="2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nrix.com/press-releases/parking-pain-us/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straitsresearch.com/report/smart-parking-marke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3.xml"/><Relationship Id="rId4" Type="http://schemas.openxmlformats.org/officeDocument/2006/relationships/hyperlink" Target="https://www.thebusinessresearchcompany.com/report/automotive-platooning-system-global-market-report?utm_source=chatgpt.com" TargetMode="External"/><Relationship Id="rId5" Type="http://schemas.openxmlformats.org/officeDocument/2006/relationships/hyperlink" Target="https://www.thebusinessresearchcompany.com/report/automotive-platooning-system-global-market-report?utm_source=chatgpt.com" TargetMode="External"/><Relationship Id="rId6" Type="http://schemas.openxmlformats.org/officeDocument/2006/relationships/hyperlink" Target="https://www.globenewswire.com/news-release/2024/07/02/2907431/0/en/Connected-Car-Market-worth-26-4-billion-by-2030-Globally-at-a-CAGR-of-13-3-says-MarketsandMarkets.html?utm_source=chatgpt.com" TargetMode="External"/><Relationship Id="rId7" Type="http://schemas.openxmlformats.org/officeDocument/2006/relationships/hyperlink" Target="https://www.globenewswire.com/news-release/2024/07/02/2907431/0/en/Connected-Car-Market-worth-26-4-billion-by-2030-Globally-at-a-CAGR-of-13-3-says-MarketsandMarkets.html?utm_source=chatgpt.com" TargetMode="External"/><Relationship Id="rId8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ctrTitle"/>
          </p:nvPr>
        </p:nvSpPr>
        <p:spPr>
          <a:xfrm>
            <a:off x="228600" y="1102382"/>
            <a:ext cx="86868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 Topic Proposal</a:t>
            </a:r>
            <a:endParaRPr/>
          </a:p>
        </p:txBody>
      </p:sp>
      <p:sp>
        <p:nvSpPr>
          <p:cNvPr id="129" name="Google Shape;129;p24"/>
          <p:cNvSpPr txBox="1"/>
          <p:nvPr>
            <p:ph idx="1" type="subTitle"/>
          </p:nvPr>
        </p:nvSpPr>
        <p:spPr>
          <a:xfrm>
            <a:off x="228600" y="3136625"/>
            <a:ext cx="5509200" cy="17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Dear Advisors,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our brief summary on our best 3 ideas!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Amanda &amp; Forest</a:t>
            </a:r>
            <a:endParaRPr/>
          </a:p>
        </p:txBody>
      </p:sp>
      <p:cxnSp>
        <p:nvCxnSpPr>
          <p:cNvPr id="130" name="Google Shape;130;p24"/>
          <p:cNvCxnSpPr/>
          <p:nvPr/>
        </p:nvCxnSpPr>
        <p:spPr>
          <a:xfrm>
            <a:off x="-76525" y="29430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228600" y="228604"/>
            <a:ext cx="8686800" cy="10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</a:t>
            </a:r>
            <a:endParaRPr/>
          </a:p>
        </p:txBody>
      </p:sp>
      <p:sp>
        <p:nvSpPr>
          <p:cNvPr id="136" name="Google Shape;136;p25"/>
          <p:cNvSpPr txBox="1"/>
          <p:nvPr>
            <p:ph idx="1" type="subTitle"/>
          </p:nvPr>
        </p:nvSpPr>
        <p:spPr>
          <a:xfrm>
            <a:off x="228600" y="1147325"/>
            <a:ext cx="8569800" cy="7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lang="en"/>
              <a:t>presentation</a:t>
            </a:r>
            <a:r>
              <a:rPr lang="en"/>
              <a:t> is a simple brief of our proposal ideas with some market research to see if our stance is </a:t>
            </a:r>
            <a:r>
              <a:rPr lang="en"/>
              <a:t>strong</a:t>
            </a:r>
            <a:r>
              <a:rPr lang="en"/>
              <a:t> enough or not.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 txBox="1"/>
          <p:nvPr>
            <p:ph idx="1" type="subTitle"/>
          </p:nvPr>
        </p:nvSpPr>
        <p:spPr>
          <a:xfrm>
            <a:off x="79375" y="3761375"/>
            <a:ext cx="33300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Couldn’t be with us here today, so here he is in spirit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/>
              <a:t>Forest</a:t>
            </a:r>
            <a:endParaRPr u="sng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2nd year - Rotman Commerce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4068600" y="1973325"/>
            <a:ext cx="4846800" cy="16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</a:t>
            </a:r>
            <a:r>
              <a:rPr lang="en"/>
              <a:t>e want to get your help </a:t>
            </a:r>
            <a:r>
              <a:rPr b="1" lang="en"/>
              <a:t>on </a:t>
            </a:r>
            <a:r>
              <a:rPr b="1" lang="en"/>
              <a:t>selecting</a:t>
            </a:r>
            <a:r>
              <a:rPr b="1" lang="en"/>
              <a:t> the final idea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Any other ideas you may have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Any technological limitations / feasibility that you think apply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5" title="DSC07381.JPG"/>
          <p:cNvPicPr preferRelativeResize="0"/>
          <p:nvPr/>
        </p:nvPicPr>
        <p:blipFill rotWithShape="1">
          <a:blip r:embed="rId3">
            <a:alphaModFix/>
          </a:blip>
          <a:srcRect b="12089" l="9516" r="23229" t="4361"/>
          <a:stretch/>
        </p:blipFill>
        <p:spPr>
          <a:xfrm>
            <a:off x="648863" y="1809750"/>
            <a:ext cx="2191017" cy="19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/>
          <p:cNvPicPr preferRelativeResize="0"/>
          <p:nvPr/>
        </p:nvPicPr>
        <p:blipFill rotWithShape="1">
          <a:blip r:embed="rId3">
            <a:alphaModFix/>
          </a:blip>
          <a:srcRect b="0" l="0" r="0" t="695"/>
          <a:stretch/>
        </p:blipFill>
        <p:spPr>
          <a:xfrm>
            <a:off x="1610850" y="169238"/>
            <a:ext cx="5922276" cy="48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/>
          <p:nvPr/>
        </p:nvSpPr>
        <p:spPr>
          <a:xfrm>
            <a:off x="3108900" y="1044300"/>
            <a:ext cx="3078900" cy="1680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6" name="Google Shape;146;p26"/>
          <p:cNvSpPr txBox="1"/>
          <p:nvPr>
            <p:ph idx="4294967295" type="title"/>
          </p:nvPr>
        </p:nvSpPr>
        <p:spPr>
          <a:xfrm>
            <a:off x="120025" y="103875"/>
            <a:ext cx="1287300" cy="12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Ruleset</a:t>
            </a:r>
            <a:endParaRPr/>
          </a:p>
        </p:txBody>
      </p:sp>
      <p:sp>
        <p:nvSpPr>
          <p:cNvPr id="147" name="Google Shape;147;p26"/>
          <p:cNvSpPr txBox="1"/>
          <p:nvPr>
            <p:ph idx="4294967295" type="title"/>
          </p:nvPr>
        </p:nvSpPr>
        <p:spPr>
          <a:xfrm>
            <a:off x="-10" y="864254"/>
            <a:ext cx="1453200" cy="4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Overview of what </a:t>
            </a:r>
            <a:r>
              <a:rPr i="1" lang="en" sz="1100"/>
              <a:t>the</a:t>
            </a:r>
            <a:r>
              <a:rPr i="1" lang="en" sz="1100"/>
              <a:t> prompt asks for</a:t>
            </a:r>
            <a:endParaRPr i="1" sz="1100"/>
          </a:p>
        </p:txBody>
      </p:sp>
      <p:sp>
        <p:nvSpPr>
          <p:cNvPr id="148" name="Google Shape;148;p26"/>
          <p:cNvSpPr/>
          <p:nvPr/>
        </p:nvSpPr>
        <p:spPr>
          <a:xfrm>
            <a:off x="4725725" y="1700850"/>
            <a:ext cx="2164200" cy="1680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2159325" y="2021300"/>
            <a:ext cx="1045500" cy="1680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2159325" y="1194557"/>
            <a:ext cx="1159500" cy="1680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1" name="Google Shape;151;p26"/>
          <p:cNvSpPr txBox="1"/>
          <p:nvPr>
            <p:ph idx="4294967295" type="title"/>
          </p:nvPr>
        </p:nvSpPr>
        <p:spPr>
          <a:xfrm>
            <a:off x="7594550" y="822223"/>
            <a:ext cx="14532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1) Promote t</a:t>
            </a:r>
            <a:r>
              <a:rPr lang="en" sz="1100"/>
              <a:t>ransition from traditional vehicles to AV</a:t>
            </a:r>
            <a:endParaRPr sz="1100"/>
          </a:p>
        </p:txBody>
      </p:sp>
      <p:sp>
        <p:nvSpPr>
          <p:cNvPr id="152" name="Google Shape;152;p26"/>
          <p:cNvSpPr txBox="1"/>
          <p:nvPr>
            <p:ph idx="4294967295" type="title"/>
          </p:nvPr>
        </p:nvSpPr>
        <p:spPr>
          <a:xfrm>
            <a:off x="7594550" y="1700848"/>
            <a:ext cx="14532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2</a:t>
            </a:r>
            <a:r>
              <a:rPr lang="en" sz="1100"/>
              <a:t>) Improve the AV experience for customers</a:t>
            </a:r>
            <a:endParaRPr sz="1100"/>
          </a:p>
        </p:txBody>
      </p:sp>
      <p:sp>
        <p:nvSpPr>
          <p:cNvPr id="153" name="Google Shape;153;p26"/>
          <p:cNvSpPr txBox="1"/>
          <p:nvPr>
            <p:ph idx="4294967295" type="title"/>
          </p:nvPr>
        </p:nvSpPr>
        <p:spPr>
          <a:xfrm>
            <a:off x="7594550" y="2495448"/>
            <a:ext cx="14532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3</a:t>
            </a:r>
            <a:r>
              <a:rPr lang="en" sz="1100"/>
              <a:t>) Aim = startup business style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873625" y="3070425"/>
            <a:ext cx="7401900" cy="187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AutoPark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Smart Self-Parking Integration for Autonomous Vehicles</a:t>
            </a:r>
            <a:endParaRPr sz="2200"/>
          </a:p>
        </p:txBody>
      </p:sp>
      <p:sp>
        <p:nvSpPr>
          <p:cNvPr id="159" name="Google Shape;159;p27"/>
          <p:cNvSpPr txBox="1"/>
          <p:nvPr>
            <p:ph idx="2" type="title"/>
          </p:nvPr>
        </p:nvSpPr>
        <p:spPr>
          <a:xfrm>
            <a:off x="7007038" y="1610330"/>
            <a:ext cx="1268400" cy="12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160" name="Google Shape;160;p27"/>
          <p:cNvCxnSpPr/>
          <p:nvPr/>
        </p:nvCxnSpPr>
        <p:spPr>
          <a:xfrm>
            <a:off x="-76525" y="29430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7"/>
          <p:cNvSpPr txBox="1"/>
          <p:nvPr>
            <p:ph idx="4294967295" type="subTitle"/>
          </p:nvPr>
        </p:nvSpPr>
        <p:spPr>
          <a:xfrm>
            <a:off x="101600" y="91000"/>
            <a:ext cx="29412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*Disclosure: None of the titles are confirmed/in their final form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228600" y="228604"/>
            <a:ext cx="8686800" cy="10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Proposal Paragraph</a:t>
            </a:r>
            <a:endParaRPr/>
          </a:p>
        </p:txBody>
      </p:sp>
      <p:sp>
        <p:nvSpPr>
          <p:cNvPr id="167" name="Google Shape;167;p28"/>
          <p:cNvSpPr txBox="1"/>
          <p:nvPr>
            <p:ph idx="1" type="subTitle"/>
          </p:nvPr>
        </p:nvSpPr>
        <p:spPr>
          <a:xfrm>
            <a:off x="7580750" y="3306975"/>
            <a:ext cx="1404900" cy="16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*not sure if V2X is the most cost efficient/ within the possibility of a startup?</a:t>
            </a:r>
            <a:endParaRPr/>
          </a:p>
        </p:txBody>
      </p:sp>
      <p:cxnSp>
        <p:nvCxnSpPr>
          <p:cNvPr id="168" name="Google Shape;168;p28"/>
          <p:cNvCxnSpPr/>
          <p:nvPr/>
        </p:nvCxnSpPr>
        <p:spPr>
          <a:xfrm>
            <a:off x="-76525" y="1495025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" name="Google Shape;169;p28" title="Screenshot 2025-11-03 at 5.15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350" y="1566712"/>
            <a:ext cx="5877276" cy="35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/>
          <p:nvPr/>
        </p:nvSpPr>
        <p:spPr>
          <a:xfrm>
            <a:off x="5994950" y="3359200"/>
            <a:ext cx="1305300" cy="1680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1633350" y="3527200"/>
            <a:ext cx="2498700" cy="1680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idx="15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nutshell</a:t>
            </a:r>
            <a:endParaRPr/>
          </a:p>
        </p:txBody>
      </p:sp>
      <p:sp>
        <p:nvSpPr>
          <p:cNvPr id="177" name="Google Shape;177;p29"/>
          <p:cNvSpPr txBox="1"/>
          <p:nvPr>
            <p:ph idx="1" type="subTitle"/>
          </p:nvPr>
        </p:nvSpPr>
        <p:spPr>
          <a:xfrm>
            <a:off x="722275" y="1290375"/>
            <a:ext cx="6894000" cy="12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The Problem</a:t>
            </a:r>
            <a:r>
              <a:rPr lang="en" sz="1400"/>
              <a:t>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Drivers spend an average of </a:t>
            </a:r>
            <a:r>
              <a:rPr b="1" lang="en"/>
              <a:t>107 hours/year</a:t>
            </a:r>
            <a:r>
              <a:rPr lang="en"/>
              <a:t> (That's over 4.4 days) in </a:t>
            </a:r>
            <a:r>
              <a:rPr lang="en"/>
              <a:t>New York City </a:t>
            </a:r>
            <a:r>
              <a:rPr lang="en"/>
              <a:t>searching for parking.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wastes time, fuel, and creates an estimated </a:t>
            </a:r>
            <a:r>
              <a:rPr b="1" lang="en"/>
              <a:t>$72.7 billion</a:t>
            </a:r>
            <a:r>
              <a:rPr lang="en"/>
              <a:t> in annual costs from </a:t>
            </a:r>
            <a:r>
              <a:rPr b="1" lang="en"/>
              <a:t>wasted</a:t>
            </a:r>
            <a:r>
              <a:rPr lang="en"/>
              <a:t> time and fuel in the US alone.</a:t>
            </a:r>
            <a:endParaRPr/>
          </a:p>
        </p:txBody>
      </p:sp>
      <p:sp>
        <p:nvSpPr>
          <p:cNvPr id="178" name="Google Shape;178;p29"/>
          <p:cNvSpPr txBox="1"/>
          <p:nvPr>
            <p:ph idx="5" type="subTitle"/>
          </p:nvPr>
        </p:nvSpPr>
        <p:spPr>
          <a:xfrm>
            <a:off x="1308600" y="4736588"/>
            <a:ext cx="6526800" cy="3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https://inrix.com/press-releases/parking-pain-us/</a:t>
            </a:r>
            <a:r>
              <a:rPr lang="en"/>
              <a:t> → The study done by INRIX Research</a:t>
            </a:r>
            <a:endParaRPr/>
          </a:p>
        </p:txBody>
      </p:sp>
      <p:sp>
        <p:nvSpPr>
          <p:cNvPr id="179" name="Google Shape;179;p29"/>
          <p:cNvSpPr txBox="1"/>
          <p:nvPr>
            <p:ph idx="13" type="title"/>
          </p:nvPr>
        </p:nvSpPr>
        <p:spPr>
          <a:xfrm>
            <a:off x="228600" y="1407550"/>
            <a:ext cx="591000" cy="7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180" name="Google Shape;180;p29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1" name="Google Shape;1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50" y="2810775"/>
            <a:ext cx="1926250" cy="176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 title="Screenshot 2025-11-03 at 5.35.0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2425" y="2705625"/>
            <a:ext cx="4239900" cy="203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/>
          <p:nvPr/>
        </p:nvSpPr>
        <p:spPr>
          <a:xfrm rot="10800000">
            <a:off x="2811379" y="2924172"/>
            <a:ext cx="468300" cy="382800"/>
          </a:xfrm>
          <a:prstGeom prst="stripedRightArrow">
            <a:avLst>
              <a:gd fmla="val 34775" name="adj1"/>
              <a:gd fmla="val 45411" name="adj2"/>
            </a:avLst>
          </a:prstGeom>
          <a:gradFill>
            <a:gsLst>
              <a:gs pos="0">
                <a:srgbClr val="0C5BB5"/>
              </a:gs>
              <a:gs pos="100000">
                <a:srgbClr val="071E38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9"/>
          <p:cNvSpPr/>
          <p:nvPr/>
        </p:nvSpPr>
        <p:spPr>
          <a:xfrm rot="10800000">
            <a:off x="7981229" y="4474997"/>
            <a:ext cx="468300" cy="382800"/>
          </a:xfrm>
          <a:prstGeom prst="stripedRightArrow">
            <a:avLst>
              <a:gd fmla="val 34775" name="adj1"/>
              <a:gd fmla="val 45411" name="adj2"/>
            </a:avLst>
          </a:prstGeom>
          <a:gradFill>
            <a:gsLst>
              <a:gs pos="0">
                <a:srgbClr val="0C5BB5"/>
              </a:gs>
              <a:gs pos="100000">
                <a:srgbClr val="071E38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5" name="Google Shape;185;p29"/>
          <p:cNvGrpSpPr/>
          <p:nvPr/>
        </p:nvGrpSpPr>
        <p:grpSpPr>
          <a:xfrm>
            <a:off x="298610" y="1325511"/>
            <a:ext cx="281058" cy="276651"/>
            <a:chOff x="4687894" y="2289713"/>
            <a:chExt cx="359594" cy="353909"/>
          </a:xfrm>
        </p:grpSpPr>
        <p:sp>
          <p:nvSpPr>
            <p:cNvPr id="186" name="Google Shape;186;p29"/>
            <p:cNvSpPr/>
            <p:nvPr/>
          </p:nvSpPr>
          <p:spPr>
            <a:xfrm>
              <a:off x="4955207" y="2477227"/>
              <a:ext cx="34041" cy="22356"/>
            </a:xfrm>
            <a:custGeom>
              <a:rect b="b" l="l" r="r" t="t"/>
              <a:pathLst>
                <a:path extrusionOk="0" h="704" w="1072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465"/>
                    <a:pt x="238" y="703"/>
                    <a:pt x="536" y="703"/>
                  </a:cubicBezTo>
                  <a:cubicBezTo>
                    <a:pt x="834" y="703"/>
                    <a:pt x="1072" y="465"/>
                    <a:pt x="1072" y="168"/>
                  </a:cubicBezTo>
                  <a:cubicBezTo>
                    <a:pt x="1072" y="72"/>
                    <a:pt x="1000" y="1"/>
                    <a:pt x="905" y="1"/>
                  </a:cubicBezTo>
                  <a:cubicBezTo>
                    <a:pt x="822" y="1"/>
                    <a:pt x="750" y="72"/>
                    <a:pt x="750" y="168"/>
                  </a:cubicBezTo>
                  <a:cubicBezTo>
                    <a:pt x="750" y="287"/>
                    <a:pt x="655" y="370"/>
                    <a:pt x="536" y="370"/>
                  </a:cubicBezTo>
                  <a:cubicBezTo>
                    <a:pt x="417" y="370"/>
                    <a:pt x="334" y="287"/>
                    <a:pt x="334" y="168"/>
                  </a:cubicBez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9"/>
            <p:cNvSpPr/>
            <p:nvPr/>
          </p:nvSpPr>
          <p:spPr>
            <a:xfrm>
              <a:off x="4687894" y="2289713"/>
              <a:ext cx="359594" cy="353909"/>
            </a:xfrm>
            <a:custGeom>
              <a:rect b="b" l="l" r="r" t="t"/>
              <a:pathLst>
                <a:path extrusionOk="0" h="11145" w="11324">
                  <a:moveTo>
                    <a:pt x="9180" y="3036"/>
                  </a:moveTo>
                  <a:cubicBezTo>
                    <a:pt x="9204" y="3036"/>
                    <a:pt x="9228" y="3036"/>
                    <a:pt x="9240" y="3048"/>
                  </a:cubicBezTo>
                  <a:cubicBezTo>
                    <a:pt x="9299" y="3108"/>
                    <a:pt x="9371" y="3417"/>
                    <a:pt x="9299" y="3977"/>
                  </a:cubicBezTo>
                  <a:cubicBezTo>
                    <a:pt x="9240" y="4513"/>
                    <a:pt x="9061" y="4989"/>
                    <a:pt x="8895" y="5072"/>
                  </a:cubicBezTo>
                  <a:cubicBezTo>
                    <a:pt x="8813" y="5119"/>
                    <a:pt x="8682" y="5149"/>
                    <a:pt x="8533" y="5149"/>
                  </a:cubicBezTo>
                  <a:cubicBezTo>
                    <a:pt x="8336" y="5149"/>
                    <a:pt x="8108" y="5096"/>
                    <a:pt x="7918" y="4953"/>
                  </a:cubicBezTo>
                  <a:cubicBezTo>
                    <a:pt x="7573" y="4703"/>
                    <a:pt x="7466" y="4263"/>
                    <a:pt x="7585" y="3667"/>
                  </a:cubicBezTo>
                  <a:cubicBezTo>
                    <a:pt x="7597" y="3608"/>
                    <a:pt x="7644" y="3572"/>
                    <a:pt x="7704" y="3537"/>
                  </a:cubicBezTo>
                  <a:cubicBezTo>
                    <a:pt x="8526" y="3167"/>
                    <a:pt x="9002" y="3036"/>
                    <a:pt x="9180" y="3036"/>
                  </a:cubicBezTo>
                  <a:close/>
                  <a:moveTo>
                    <a:pt x="620" y="5608"/>
                  </a:moveTo>
                  <a:cubicBezTo>
                    <a:pt x="691" y="5620"/>
                    <a:pt x="798" y="5703"/>
                    <a:pt x="858" y="5846"/>
                  </a:cubicBezTo>
                  <a:cubicBezTo>
                    <a:pt x="870" y="5882"/>
                    <a:pt x="894" y="5942"/>
                    <a:pt x="894" y="6001"/>
                  </a:cubicBezTo>
                  <a:cubicBezTo>
                    <a:pt x="667" y="5953"/>
                    <a:pt x="501" y="5882"/>
                    <a:pt x="453" y="5799"/>
                  </a:cubicBezTo>
                  <a:cubicBezTo>
                    <a:pt x="441" y="5775"/>
                    <a:pt x="489" y="5703"/>
                    <a:pt x="501" y="5668"/>
                  </a:cubicBezTo>
                  <a:cubicBezTo>
                    <a:pt x="548" y="5608"/>
                    <a:pt x="572" y="5608"/>
                    <a:pt x="608" y="5608"/>
                  </a:cubicBezTo>
                  <a:close/>
                  <a:moveTo>
                    <a:pt x="5073" y="0"/>
                  </a:moveTo>
                  <a:cubicBezTo>
                    <a:pt x="4477" y="0"/>
                    <a:pt x="3906" y="238"/>
                    <a:pt x="3477" y="655"/>
                  </a:cubicBezTo>
                  <a:cubicBezTo>
                    <a:pt x="3049" y="1084"/>
                    <a:pt x="2822" y="1632"/>
                    <a:pt x="2822" y="2239"/>
                  </a:cubicBezTo>
                  <a:cubicBezTo>
                    <a:pt x="2822" y="2834"/>
                    <a:pt x="3061" y="3406"/>
                    <a:pt x="3477" y="3834"/>
                  </a:cubicBezTo>
                  <a:cubicBezTo>
                    <a:pt x="3596" y="3953"/>
                    <a:pt x="3727" y="4060"/>
                    <a:pt x="3882" y="4144"/>
                  </a:cubicBezTo>
                  <a:cubicBezTo>
                    <a:pt x="3775" y="4179"/>
                    <a:pt x="3668" y="4203"/>
                    <a:pt x="3584" y="4239"/>
                  </a:cubicBezTo>
                  <a:cubicBezTo>
                    <a:pt x="3489" y="4263"/>
                    <a:pt x="3453" y="4358"/>
                    <a:pt x="3477" y="4441"/>
                  </a:cubicBezTo>
                  <a:cubicBezTo>
                    <a:pt x="3505" y="4515"/>
                    <a:pt x="3561" y="4560"/>
                    <a:pt x="3629" y="4560"/>
                  </a:cubicBezTo>
                  <a:cubicBezTo>
                    <a:pt x="3649" y="4560"/>
                    <a:pt x="3670" y="4557"/>
                    <a:pt x="3692" y="4549"/>
                  </a:cubicBezTo>
                  <a:cubicBezTo>
                    <a:pt x="4138" y="4400"/>
                    <a:pt x="4608" y="4325"/>
                    <a:pt x="5079" y="4325"/>
                  </a:cubicBezTo>
                  <a:cubicBezTo>
                    <a:pt x="5549" y="4325"/>
                    <a:pt x="6019" y="4400"/>
                    <a:pt x="6466" y="4549"/>
                  </a:cubicBezTo>
                  <a:cubicBezTo>
                    <a:pt x="6490" y="4549"/>
                    <a:pt x="6501" y="4560"/>
                    <a:pt x="6525" y="4560"/>
                  </a:cubicBezTo>
                  <a:cubicBezTo>
                    <a:pt x="6609" y="4560"/>
                    <a:pt x="6668" y="4525"/>
                    <a:pt x="6680" y="4441"/>
                  </a:cubicBezTo>
                  <a:cubicBezTo>
                    <a:pt x="6704" y="4358"/>
                    <a:pt x="6668" y="4263"/>
                    <a:pt x="6573" y="4239"/>
                  </a:cubicBezTo>
                  <a:cubicBezTo>
                    <a:pt x="6466" y="4203"/>
                    <a:pt x="6370" y="4179"/>
                    <a:pt x="6275" y="4144"/>
                  </a:cubicBezTo>
                  <a:cubicBezTo>
                    <a:pt x="6406" y="4060"/>
                    <a:pt x="6549" y="3953"/>
                    <a:pt x="6680" y="3834"/>
                  </a:cubicBezTo>
                  <a:cubicBezTo>
                    <a:pt x="6787" y="3727"/>
                    <a:pt x="6882" y="3608"/>
                    <a:pt x="6966" y="3477"/>
                  </a:cubicBezTo>
                  <a:cubicBezTo>
                    <a:pt x="7002" y="3489"/>
                    <a:pt x="7049" y="3489"/>
                    <a:pt x="7097" y="3513"/>
                  </a:cubicBezTo>
                  <a:lnTo>
                    <a:pt x="7275" y="3548"/>
                  </a:lnTo>
                  <a:lnTo>
                    <a:pt x="7275" y="3572"/>
                  </a:lnTo>
                  <a:cubicBezTo>
                    <a:pt x="7204" y="3953"/>
                    <a:pt x="7204" y="4287"/>
                    <a:pt x="7287" y="4560"/>
                  </a:cubicBezTo>
                  <a:cubicBezTo>
                    <a:pt x="7359" y="4822"/>
                    <a:pt x="7513" y="5025"/>
                    <a:pt x="7716" y="5180"/>
                  </a:cubicBezTo>
                  <a:cubicBezTo>
                    <a:pt x="7954" y="5358"/>
                    <a:pt x="8252" y="5430"/>
                    <a:pt x="8526" y="5430"/>
                  </a:cubicBezTo>
                  <a:cubicBezTo>
                    <a:pt x="8728" y="5430"/>
                    <a:pt x="8907" y="5382"/>
                    <a:pt x="9049" y="5311"/>
                  </a:cubicBezTo>
                  <a:cubicBezTo>
                    <a:pt x="9192" y="5215"/>
                    <a:pt x="9323" y="5037"/>
                    <a:pt x="9430" y="4763"/>
                  </a:cubicBezTo>
                  <a:cubicBezTo>
                    <a:pt x="9478" y="4822"/>
                    <a:pt x="9526" y="4882"/>
                    <a:pt x="9561" y="4930"/>
                  </a:cubicBezTo>
                  <a:cubicBezTo>
                    <a:pt x="9740" y="5168"/>
                    <a:pt x="9859" y="5418"/>
                    <a:pt x="9954" y="5692"/>
                  </a:cubicBezTo>
                  <a:cubicBezTo>
                    <a:pt x="10002" y="5858"/>
                    <a:pt x="10133" y="5977"/>
                    <a:pt x="10300" y="6037"/>
                  </a:cubicBezTo>
                  <a:lnTo>
                    <a:pt x="10752" y="6192"/>
                  </a:lnTo>
                  <a:cubicBezTo>
                    <a:pt x="10871" y="6239"/>
                    <a:pt x="10966" y="6334"/>
                    <a:pt x="10966" y="6465"/>
                  </a:cubicBezTo>
                  <a:lnTo>
                    <a:pt x="10966" y="7239"/>
                  </a:lnTo>
                  <a:cubicBezTo>
                    <a:pt x="10966" y="7382"/>
                    <a:pt x="10895" y="7477"/>
                    <a:pt x="10752" y="7525"/>
                  </a:cubicBezTo>
                  <a:lnTo>
                    <a:pt x="10014" y="7763"/>
                  </a:lnTo>
                  <a:cubicBezTo>
                    <a:pt x="9895" y="7811"/>
                    <a:pt x="9788" y="7882"/>
                    <a:pt x="9728" y="8001"/>
                  </a:cubicBezTo>
                  <a:cubicBezTo>
                    <a:pt x="9430" y="8513"/>
                    <a:pt x="8966" y="8930"/>
                    <a:pt x="8359" y="9252"/>
                  </a:cubicBezTo>
                  <a:cubicBezTo>
                    <a:pt x="8287" y="9287"/>
                    <a:pt x="8240" y="9359"/>
                    <a:pt x="8228" y="9430"/>
                  </a:cubicBezTo>
                  <a:lnTo>
                    <a:pt x="7990" y="10692"/>
                  </a:lnTo>
                  <a:cubicBezTo>
                    <a:pt x="7990" y="10728"/>
                    <a:pt x="7954" y="10752"/>
                    <a:pt x="7918" y="10752"/>
                  </a:cubicBezTo>
                  <a:lnTo>
                    <a:pt x="7144" y="10752"/>
                  </a:lnTo>
                  <a:cubicBezTo>
                    <a:pt x="7109" y="10752"/>
                    <a:pt x="7085" y="10728"/>
                    <a:pt x="7061" y="10692"/>
                  </a:cubicBezTo>
                  <a:lnTo>
                    <a:pt x="6930" y="10002"/>
                  </a:lnTo>
                  <a:cubicBezTo>
                    <a:pt x="6897" y="9868"/>
                    <a:pt x="6800" y="9786"/>
                    <a:pt x="6661" y="9786"/>
                  </a:cubicBezTo>
                  <a:cubicBezTo>
                    <a:pt x="6652" y="9786"/>
                    <a:pt x="6642" y="9787"/>
                    <a:pt x="6632" y="9787"/>
                  </a:cubicBezTo>
                  <a:cubicBezTo>
                    <a:pt x="6299" y="9835"/>
                    <a:pt x="5954" y="9859"/>
                    <a:pt x="5608" y="9859"/>
                  </a:cubicBezTo>
                  <a:cubicBezTo>
                    <a:pt x="5358" y="9859"/>
                    <a:pt x="5097" y="9847"/>
                    <a:pt x="4846" y="9823"/>
                  </a:cubicBezTo>
                  <a:cubicBezTo>
                    <a:pt x="4833" y="9821"/>
                    <a:pt x="4819" y="9819"/>
                    <a:pt x="4806" y="9819"/>
                  </a:cubicBezTo>
                  <a:cubicBezTo>
                    <a:pt x="4692" y="9819"/>
                    <a:pt x="4593" y="9908"/>
                    <a:pt x="4561" y="10025"/>
                  </a:cubicBezTo>
                  <a:lnTo>
                    <a:pt x="4442" y="10692"/>
                  </a:lnTo>
                  <a:cubicBezTo>
                    <a:pt x="4442" y="10728"/>
                    <a:pt x="4418" y="10752"/>
                    <a:pt x="4370" y="10752"/>
                  </a:cubicBezTo>
                  <a:lnTo>
                    <a:pt x="3596" y="10752"/>
                  </a:lnTo>
                  <a:cubicBezTo>
                    <a:pt x="3573" y="10752"/>
                    <a:pt x="3537" y="10728"/>
                    <a:pt x="3525" y="10692"/>
                  </a:cubicBezTo>
                  <a:lnTo>
                    <a:pt x="3299" y="9502"/>
                  </a:lnTo>
                  <a:cubicBezTo>
                    <a:pt x="3287" y="9430"/>
                    <a:pt x="3239" y="9359"/>
                    <a:pt x="3168" y="9323"/>
                  </a:cubicBezTo>
                  <a:cubicBezTo>
                    <a:pt x="2108" y="8763"/>
                    <a:pt x="1560" y="7823"/>
                    <a:pt x="1560" y="6620"/>
                  </a:cubicBezTo>
                  <a:cubicBezTo>
                    <a:pt x="1560" y="6013"/>
                    <a:pt x="1691" y="5477"/>
                    <a:pt x="1965" y="5013"/>
                  </a:cubicBezTo>
                  <a:cubicBezTo>
                    <a:pt x="2215" y="4584"/>
                    <a:pt x="2572" y="4239"/>
                    <a:pt x="3037" y="3965"/>
                  </a:cubicBezTo>
                  <a:cubicBezTo>
                    <a:pt x="3108" y="3929"/>
                    <a:pt x="3132" y="3822"/>
                    <a:pt x="3096" y="3751"/>
                  </a:cubicBezTo>
                  <a:cubicBezTo>
                    <a:pt x="3065" y="3696"/>
                    <a:pt x="3008" y="3667"/>
                    <a:pt x="2952" y="3667"/>
                  </a:cubicBezTo>
                  <a:cubicBezTo>
                    <a:pt x="2923" y="3667"/>
                    <a:pt x="2895" y="3675"/>
                    <a:pt x="2870" y="3691"/>
                  </a:cubicBezTo>
                  <a:cubicBezTo>
                    <a:pt x="1977" y="4203"/>
                    <a:pt x="1429" y="5013"/>
                    <a:pt x="1275" y="6025"/>
                  </a:cubicBezTo>
                  <a:lnTo>
                    <a:pt x="1227" y="6025"/>
                  </a:lnTo>
                  <a:cubicBezTo>
                    <a:pt x="1227" y="5918"/>
                    <a:pt x="1215" y="5799"/>
                    <a:pt x="1167" y="5692"/>
                  </a:cubicBezTo>
                  <a:cubicBezTo>
                    <a:pt x="1084" y="5453"/>
                    <a:pt x="870" y="5299"/>
                    <a:pt x="667" y="5263"/>
                  </a:cubicBezTo>
                  <a:cubicBezTo>
                    <a:pt x="654" y="5262"/>
                    <a:pt x="640" y="5261"/>
                    <a:pt x="626" y="5261"/>
                  </a:cubicBezTo>
                  <a:cubicBezTo>
                    <a:pt x="474" y="5261"/>
                    <a:pt x="326" y="5323"/>
                    <a:pt x="239" y="5465"/>
                  </a:cubicBezTo>
                  <a:cubicBezTo>
                    <a:pt x="72" y="5668"/>
                    <a:pt x="96" y="5834"/>
                    <a:pt x="144" y="5942"/>
                  </a:cubicBezTo>
                  <a:cubicBezTo>
                    <a:pt x="239" y="6096"/>
                    <a:pt x="441" y="6239"/>
                    <a:pt x="798" y="6311"/>
                  </a:cubicBezTo>
                  <a:cubicBezTo>
                    <a:pt x="786" y="6323"/>
                    <a:pt x="786" y="6334"/>
                    <a:pt x="775" y="6358"/>
                  </a:cubicBezTo>
                  <a:cubicBezTo>
                    <a:pt x="560" y="6620"/>
                    <a:pt x="310" y="6680"/>
                    <a:pt x="155" y="6680"/>
                  </a:cubicBezTo>
                  <a:cubicBezTo>
                    <a:pt x="72" y="6680"/>
                    <a:pt x="1" y="6751"/>
                    <a:pt x="1" y="6858"/>
                  </a:cubicBezTo>
                  <a:cubicBezTo>
                    <a:pt x="1" y="6954"/>
                    <a:pt x="72" y="7025"/>
                    <a:pt x="155" y="7037"/>
                  </a:cubicBezTo>
                  <a:lnTo>
                    <a:pt x="191" y="7037"/>
                  </a:lnTo>
                  <a:cubicBezTo>
                    <a:pt x="394" y="7037"/>
                    <a:pt x="715" y="6966"/>
                    <a:pt x="1025" y="6573"/>
                  </a:cubicBezTo>
                  <a:cubicBezTo>
                    <a:pt x="1072" y="6513"/>
                    <a:pt x="1108" y="6442"/>
                    <a:pt x="1144" y="6382"/>
                  </a:cubicBezTo>
                  <a:cubicBezTo>
                    <a:pt x="1167" y="6382"/>
                    <a:pt x="1203" y="6382"/>
                    <a:pt x="1227" y="6394"/>
                  </a:cubicBezTo>
                  <a:cubicBezTo>
                    <a:pt x="1227" y="6489"/>
                    <a:pt x="1215" y="6573"/>
                    <a:pt x="1215" y="6668"/>
                  </a:cubicBezTo>
                  <a:cubicBezTo>
                    <a:pt x="1215" y="7347"/>
                    <a:pt x="1382" y="7954"/>
                    <a:pt x="1703" y="8478"/>
                  </a:cubicBezTo>
                  <a:cubicBezTo>
                    <a:pt x="2001" y="8954"/>
                    <a:pt x="2441" y="9359"/>
                    <a:pt x="2977" y="9644"/>
                  </a:cubicBezTo>
                  <a:lnTo>
                    <a:pt x="3192" y="10799"/>
                  </a:lnTo>
                  <a:cubicBezTo>
                    <a:pt x="3227" y="11002"/>
                    <a:pt x="3406" y="11133"/>
                    <a:pt x="3596" y="11133"/>
                  </a:cubicBezTo>
                  <a:lnTo>
                    <a:pt x="4370" y="11133"/>
                  </a:lnTo>
                  <a:cubicBezTo>
                    <a:pt x="4561" y="11133"/>
                    <a:pt x="4727" y="11002"/>
                    <a:pt x="4775" y="10799"/>
                  </a:cubicBezTo>
                  <a:lnTo>
                    <a:pt x="4894" y="10204"/>
                  </a:lnTo>
                  <a:cubicBezTo>
                    <a:pt x="5132" y="10240"/>
                    <a:pt x="5370" y="10252"/>
                    <a:pt x="5620" y="10252"/>
                  </a:cubicBezTo>
                  <a:cubicBezTo>
                    <a:pt x="5966" y="10252"/>
                    <a:pt x="6311" y="10228"/>
                    <a:pt x="6632" y="10180"/>
                  </a:cubicBezTo>
                  <a:lnTo>
                    <a:pt x="6751" y="10823"/>
                  </a:lnTo>
                  <a:cubicBezTo>
                    <a:pt x="6787" y="11014"/>
                    <a:pt x="6966" y="11145"/>
                    <a:pt x="7156" y="11145"/>
                  </a:cubicBezTo>
                  <a:lnTo>
                    <a:pt x="7930" y="11145"/>
                  </a:lnTo>
                  <a:cubicBezTo>
                    <a:pt x="8121" y="11145"/>
                    <a:pt x="8287" y="11014"/>
                    <a:pt x="8335" y="10823"/>
                  </a:cubicBezTo>
                  <a:lnTo>
                    <a:pt x="8573" y="9585"/>
                  </a:lnTo>
                  <a:cubicBezTo>
                    <a:pt x="9228" y="9240"/>
                    <a:pt x="9716" y="8775"/>
                    <a:pt x="10038" y="8228"/>
                  </a:cubicBezTo>
                  <a:cubicBezTo>
                    <a:pt x="10073" y="8180"/>
                    <a:pt x="10097" y="8156"/>
                    <a:pt x="10145" y="8132"/>
                  </a:cubicBezTo>
                  <a:lnTo>
                    <a:pt x="10895" y="7894"/>
                  </a:lnTo>
                  <a:cubicBezTo>
                    <a:pt x="11145" y="7811"/>
                    <a:pt x="11323" y="7573"/>
                    <a:pt x="11323" y="7299"/>
                  </a:cubicBezTo>
                  <a:lnTo>
                    <a:pt x="11323" y="6525"/>
                  </a:lnTo>
                  <a:cubicBezTo>
                    <a:pt x="11312" y="6251"/>
                    <a:pt x="11133" y="6013"/>
                    <a:pt x="10871" y="5918"/>
                  </a:cubicBezTo>
                  <a:lnTo>
                    <a:pt x="10419" y="5775"/>
                  </a:lnTo>
                  <a:cubicBezTo>
                    <a:pt x="10359" y="5763"/>
                    <a:pt x="10311" y="5715"/>
                    <a:pt x="10300" y="5644"/>
                  </a:cubicBezTo>
                  <a:cubicBezTo>
                    <a:pt x="10192" y="5322"/>
                    <a:pt x="10061" y="5049"/>
                    <a:pt x="9859" y="4775"/>
                  </a:cubicBezTo>
                  <a:cubicBezTo>
                    <a:pt x="9776" y="4656"/>
                    <a:pt x="9680" y="4537"/>
                    <a:pt x="9561" y="4429"/>
                  </a:cubicBezTo>
                  <a:cubicBezTo>
                    <a:pt x="9645" y="4132"/>
                    <a:pt x="9669" y="3798"/>
                    <a:pt x="9669" y="3501"/>
                  </a:cubicBezTo>
                  <a:cubicBezTo>
                    <a:pt x="9669" y="3084"/>
                    <a:pt x="9585" y="2822"/>
                    <a:pt x="9418" y="2739"/>
                  </a:cubicBezTo>
                  <a:cubicBezTo>
                    <a:pt x="9384" y="2722"/>
                    <a:pt x="9329" y="2693"/>
                    <a:pt x="9204" y="2693"/>
                  </a:cubicBezTo>
                  <a:cubicBezTo>
                    <a:pt x="8980" y="2693"/>
                    <a:pt x="8533" y="2787"/>
                    <a:pt x="7585" y="3215"/>
                  </a:cubicBezTo>
                  <a:cubicBezTo>
                    <a:pt x="7561" y="3227"/>
                    <a:pt x="7513" y="3239"/>
                    <a:pt x="7478" y="3275"/>
                  </a:cubicBezTo>
                  <a:cubicBezTo>
                    <a:pt x="7383" y="3239"/>
                    <a:pt x="7287" y="3227"/>
                    <a:pt x="7180" y="3191"/>
                  </a:cubicBezTo>
                  <a:cubicBezTo>
                    <a:pt x="7168" y="3191"/>
                    <a:pt x="7156" y="3191"/>
                    <a:pt x="7144" y="3179"/>
                  </a:cubicBezTo>
                  <a:cubicBezTo>
                    <a:pt x="7263" y="2929"/>
                    <a:pt x="7335" y="2644"/>
                    <a:pt x="7347" y="2346"/>
                  </a:cubicBezTo>
                  <a:cubicBezTo>
                    <a:pt x="7347" y="2263"/>
                    <a:pt x="7287" y="2179"/>
                    <a:pt x="7180" y="2167"/>
                  </a:cubicBezTo>
                  <a:cubicBezTo>
                    <a:pt x="7097" y="2167"/>
                    <a:pt x="7025" y="2227"/>
                    <a:pt x="7002" y="2334"/>
                  </a:cubicBezTo>
                  <a:cubicBezTo>
                    <a:pt x="6990" y="2810"/>
                    <a:pt x="6787" y="3251"/>
                    <a:pt x="6442" y="3596"/>
                  </a:cubicBezTo>
                  <a:cubicBezTo>
                    <a:pt x="6228" y="3810"/>
                    <a:pt x="5989" y="3953"/>
                    <a:pt x="5739" y="4048"/>
                  </a:cubicBezTo>
                  <a:cubicBezTo>
                    <a:pt x="5525" y="4019"/>
                    <a:pt x="5302" y="4004"/>
                    <a:pt x="5079" y="4004"/>
                  </a:cubicBezTo>
                  <a:cubicBezTo>
                    <a:pt x="4855" y="4004"/>
                    <a:pt x="4632" y="4019"/>
                    <a:pt x="4418" y="4048"/>
                  </a:cubicBezTo>
                  <a:cubicBezTo>
                    <a:pt x="4168" y="3953"/>
                    <a:pt x="3930" y="3810"/>
                    <a:pt x="3715" y="3596"/>
                  </a:cubicBezTo>
                  <a:cubicBezTo>
                    <a:pt x="3358" y="3239"/>
                    <a:pt x="3156" y="2751"/>
                    <a:pt x="3156" y="2239"/>
                  </a:cubicBezTo>
                  <a:cubicBezTo>
                    <a:pt x="3156" y="1739"/>
                    <a:pt x="3346" y="1251"/>
                    <a:pt x="3715" y="893"/>
                  </a:cubicBezTo>
                  <a:cubicBezTo>
                    <a:pt x="4073" y="536"/>
                    <a:pt x="4561" y="322"/>
                    <a:pt x="5073" y="322"/>
                  </a:cubicBezTo>
                  <a:cubicBezTo>
                    <a:pt x="5573" y="322"/>
                    <a:pt x="6073" y="512"/>
                    <a:pt x="6430" y="893"/>
                  </a:cubicBezTo>
                  <a:cubicBezTo>
                    <a:pt x="6573" y="1036"/>
                    <a:pt x="6692" y="1203"/>
                    <a:pt x="6787" y="1381"/>
                  </a:cubicBezTo>
                  <a:cubicBezTo>
                    <a:pt x="6813" y="1433"/>
                    <a:pt x="6870" y="1472"/>
                    <a:pt x="6930" y="1472"/>
                  </a:cubicBezTo>
                  <a:cubicBezTo>
                    <a:pt x="6954" y="1472"/>
                    <a:pt x="6978" y="1466"/>
                    <a:pt x="7002" y="1453"/>
                  </a:cubicBezTo>
                  <a:cubicBezTo>
                    <a:pt x="7085" y="1405"/>
                    <a:pt x="7121" y="1322"/>
                    <a:pt x="7085" y="1227"/>
                  </a:cubicBezTo>
                  <a:cubicBezTo>
                    <a:pt x="6978" y="1024"/>
                    <a:pt x="6823" y="834"/>
                    <a:pt x="6668" y="655"/>
                  </a:cubicBezTo>
                  <a:cubicBezTo>
                    <a:pt x="6228" y="215"/>
                    <a:pt x="5680" y="0"/>
                    <a:pt x="5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9"/>
            <p:cNvSpPr/>
            <p:nvPr/>
          </p:nvSpPr>
          <p:spPr>
            <a:xfrm>
              <a:off x="4829299" y="2324485"/>
              <a:ext cx="42393" cy="75291"/>
            </a:xfrm>
            <a:custGeom>
              <a:rect b="b" l="l" r="r" t="t"/>
              <a:pathLst>
                <a:path extrusionOk="0" h="2371" w="1335">
                  <a:moveTo>
                    <a:pt x="644" y="417"/>
                  </a:moveTo>
                  <a:lnTo>
                    <a:pt x="644" y="941"/>
                  </a:lnTo>
                  <a:cubicBezTo>
                    <a:pt x="501" y="882"/>
                    <a:pt x="370" y="822"/>
                    <a:pt x="370" y="656"/>
                  </a:cubicBezTo>
                  <a:cubicBezTo>
                    <a:pt x="370" y="513"/>
                    <a:pt x="489" y="441"/>
                    <a:pt x="644" y="417"/>
                  </a:cubicBezTo>
                  <a:close/>
                  <a:moveTo>
                    <a:pt x="786" y="1322"/>
                  </a:moveTo>
                  <a:cubicBezTo>
                    <a:pt x="929" y="1382"/>
                    <a:pt x="1036" y="1477"/>
                    <a:pt x="1036" y="1656"/>
                  </a:cubicBezTo>
                  <a:cubicBezTo>
                    <a:pt x="1036" y="1810"/>
                    <a:pt x="929" y="1906"/>
                    <a:pt x="786" y="1941"/>
                  </a:cubicBezTo>
                  <a:lnTo>
                    <a:pt x="786" y="1322"/>
                  </a:lnTo>
                  <a:close/>
                  <a:moveTo>
                    <a:pt x="703" y="1"/>
                  </a:moveTo>
                  <a:cubicBezTo>
                    <a:pt x="655" y="1"/>
                    <a:pt x="620" y="36"/>
                    <a:pt x="620" y="60"/>
                  </a:cubicBezTo>
                  <a:lnTo>
                    <a:pt x="620" y="156"/>
                  </a:lnTo>
                  <a:cubicBezTo>
                    <a:pt x="334" y="179"/>
                    <a:pt x="60" y="334"/>
                    <a:pt x="60" y="691"/>
                  </a:cubicBezTo>
                  <a:cubicBezTo>
                    <a:pt x="60" y="1060"/>
                    <a:pt x="346" y="1168"/>
                    <a:pt x="620" y="1251"/>
                  </a:cubicBezTo>
                  <a:lnTo>
                    <a:pt x="620" y="1941"/>
                  </a:lnTo>
                  <a:cubicBezTo>
                    <a:pt x="322" y="1906"/>
                    <a:pt x="239" y="1715"/>
                    <a:pt x="143" y="1715"/>
                  </a:cubicBezTo>
                  <a:cubicBezTo>
                    <a:pt x="60" y="1715"/>
                    <a:pt x="1" y="1810"/>
                    <a:pt x="1" y="1882"/>
                  </a:cubicBezTo>
                  <a:cubicBezTo>
                    <a:pt x="1" y="2025"/>
                    <a:pt x="239" y="2227"/>
                    <a:pt x="620" y="2227"/>
                  </a:cubicBezTo>
                  <a:lnTo>
                    <a:pt x="620" y="2311"/>
                  </a:lnTo>
                  <a:cubicBezTo>
                    <a:pt x="620" y="2346"/>
                    <a:pt x="644" y="2370"/>
                    <a:pt x="703" y="2370"/>
                  </a:cubicBezTo>
                  <a:cubicBezTo>
                    <a:pt x="751" y="2370"/>
                    <a:pt x="798" y="2346"/>
                    <a:pt x="798" y="2311"/>
                  </a:cubicBezTo>
                  <a:lnTo>
                    <a:pt x="798" y="2203"/>
                  </a:lnTo>
                  <a:cubicBezTo>
                    <a:pt x="1108" y="2168"/>
                    <a:pt x="1310" y="1965"/>
                    <a:pt x="1310" y="1608"/>
                  </a:cubicBezTo>
                  <a:cubicBezTo>
                    <a:pt x="1334" y="1227"/>
                    <a:pt x="1048" y="1096"/>
                    <a:pt x="798" y="1001"/>
                  </a:cubicBezTo>
                  <a:lnTo>
                    <a:pt x="798" y="406"/>
                  </a:lnTo>
                  <a:cubicBezTo>
                    <a:pt x="1001" y="417"/>
                    <a:pt x="1084" y="513"/>
                    <a:pt x="1144" y="513"/>
                  </a:cubicBezTo>
                  <a:cubicBezTo>
                    <a:pt x="1227" y="513"/>
                    <a:pt x="1275" y="406"/>
                    <a:pt x="1275" y="346"/>
                  </a:cubicBezTo>
                  <a:cubicBezTo>
                    <a:pt x="1275" y="203"/>
                    <a:pt x="989" y="144"/>
                    <a:pt x="798" y="144"/>
                  </a:cubicBezTo>
                  <a:lnTo>
                    <a:pt x="798" y="60"/>
                  </a:lnTo>
                  <a:cubicBezTo>
                    <a:pt x="798" y="36"/>
                    <a:pt x="751" y="1"/>
                    <a:pt x="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idx="15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Size</a:t>
            </a:r>
            <a:endParaRPr/>
          </a:p>
        </p:txBody>
      </p:sp>
      <p:sp>
        <p:nvSpPr>
          <p:cNvPr id="194" name="Google Shape;194;p30"/>
          <p:cNvSpPr txBox="1"/>
          <p:nvPr>
            <p:ph idx="1" type="subTitle"/>
          </p:nvPr>
        </p:nvSpPr>
        <p:spPr>
          <a:xfrm>
            <a:off x="722275" y="1290375"/>
            <a:ext cx="4889400" cy="17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/>
              <a:t>Smart Parking Market:</a:t>
            </a:r>
            <a:endParaRPr b="1" sz="14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2025, market research firms like Straits Research and Precedence Research place its value between </a:t>
            </a:r>
            <a:r>
              <a:rPr b="1" lang="en"/>
              <a:t>$9.3</a:t>
            </a:r>
            <a:r>
              <a:rPr lang="en"/>
              <a:t> and </a:t>
            </a:r>
            <a:r>
              <a:rPr b="1" lang="en"/>
              <a:t>$11.2 billion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https://straitsresearch.com/report/smart-parking-market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! Projected to grow to over </a:t>
            </a:r>
            <a:r>
              <a:rPr b="1" lang="en"/>
              <a:t>$33 billion by 2033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</a:t>
            </a:r>
            <a:r>
              <a:rPr b="1" lang="en"/>
              <a:t>17.4% </a:t>
            </a:r>
            <a:r>
              <a:rPr b="1" lang="en"/>
              <a:t>CAGR</a:t>
            </a:r>
            <a:r>
              <a:rPr lang="en"/>
              <a:t> </a:t>
            </a:r>
            <a:r>
              <a:rPr lang="en"/>
              <a:t>(</a:t>
            </a:r>
            <a:r>
              <a:rPr lang="en"/>
              <a:t>compound annual growth rate</a:t>
            </a:r>
            <a:r>
              <a:rPr lang="en"/>
              <a:t>) [17-20% range]</a:t>
            </a:r>
            <a:endParaRPr/>
          </a:p>
        </p:txBody>
      </p:sp>
      <p:sp>
        <p:nvSpPr>
          <p:cNvPr id="195" name="Google Shape;195;p30"/>
          <p:cNvSpPr txBox="1"/>
          <p:nvPr>
            <p:ph idx="13" type="title"/>
          </p:nvPr>
        </p:nvSpPr>
        <p:spPr>
          <a:xfrm>
            <a:off x="228150" y="1413550"/>
            <a:ext cx="591000" cy="7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196" name="Google Shape;196;p30"/>
          <p:cNvCxnSpPr/>
          <p:nvPr/>
        </p:nvCxnSpPr>
        <p:spPr>
          <a:xfrm>
            <a:off x="-68023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30"/>
          <p:cNvGrpSpPr/>
          <p:nvPr/>
        </p:nvGrpSpPr>
        <p:grpSpPr>
          <a:xfrm>
            <a:off x="6803381" y="691628"/>
            <a:ext cx="286314" cy="200018"/>
            <a:chOff x="6849393" y="3733994"/>
            <a:chExt cx="355053" cy="248038"/>
          </a:xfrm>
        </p:grpSpPr>
        <p:sp>
          <p:nvSpPr>
            <p:cNvPr id="198" name="Google Shape;198;p30"/>
            <p:cNvSpPr/>
            <p:nvPr/>
          </p:nvSpPr>
          <p:spPr>
            <a:xfrm>
              <a:off x="6849393" y="3733994"/>
              <a:ext cx="355053" cy="248038"/>
            </a:xfrm>
            <a:custGeom>
              <a:rect b="b" l="l" r="r" t="t"/>
              <a:pathLst>
                <a:path extrusionOk="0" h="7811" w="11181">
                  <a:moveTo>
                    <a:pt x="10800" y="357"/>
                  </a:moveTo>
                  <a:cubicBezTo>
                    <a:pt x="10800" y="357"/>
                    <a:pt x="10823" y="357"/>
                    <a:pt x="10823" y="369"/>
                  </a:cubicBezTo>
                  <a:lnTo>
                    <a:pt x="10823" y="5227"/>
                  </a:lnTo>
                  <a:lnTo>
                    <a:pt x="346" y="5239"/>
                  </a:lnTo>
                  <a:cubicBezTo>
                    <a:pt x="346" y="5239"/>
                    <a:pt x="334" y="5239"/>
                    <a:pt x="334" y="5227"/>
                  </a:cubicBezTo>
                  <a:lnTo>
                    <a:pt x="334" y="369"/>
                  </a:lnTo>
                  <a:cubicBezTo>
                    <a:pt x="334" y="369"/>
                    <a:pt x="334" y="357"/>
                    <a:pt x="346" y="357"/>
                  </a:cubicBezTo>
                  <a:close/>
                  <a:moveTo>
                    <a:pt x="10835" y="5572"/>
                  </a:moveTo>
                  <a:lnTo>
                    <a:pt x="10823" y="5977"/>
                  </a:lnTo>
                  <a:lnTo>
                    <a:pt x="10252" y="5977"/>
                  </a:lnTo>
                  <a:cubicBezTo>
                    <a:pt x="10169" y="5977"/>
                    <a:pt x="10073" y="6060"/>
                    <a:pt x="10073" y="6156"/>
                  </a:cubicBezTo>
                  <a:cubicBezTo>
                    <a:pt x="10073" y="6263"/>
                    <a:pt x="10157" y="6334"/>
                    <a:pt x="10252" y="6334"/>
                  </a:cubicBezTo>
                  <a:lnTo>
                    <a:pt x="10823" y="6334"/>
                  </a:lnTo>
                  <a:lnTo>
                    <a:pt x="10823" y="6739"/>
                  </a:lnTo>
                  <a:lnTo>
                    <a:pt x="8014" y="6739"/>
                  </a:lnTo>
                  <a:cubicBezTo>
                    <a:pt x="7918" y="6739"/>
                    <a:pt x="7823" y="6811"/>
                    <a:pt x="7823" y="6918"/>
                  </a:cubicBezTo>
                  <a:cubicBezTo>
                    <a:pt x="7823" y="7013"/>
                    <a:pt x="7906" y="7096"/>
                    <a:pt x="8014" y="7096"/>
                  </a:cubicBezTo>
                  <a:lnTo>
                    <a:pt x="10823" y="7096"/>
                  </a:lnTo>
                  <a:lnTo>
                    <a:pt x="10823" y="7489"/>
                  </a:lnTo>
                  <a:cubicBezTo>
                    <a:pt x="10823" y="7489"/>
                    <a:pt x="10823" y="7501"/>
                    <a:pt x="10812" y="7501"/>
                  </a:cubicBezTo>
                  <a:lnTo>
                    <a:pt x="358" y="7501"/>
                  </a:lnTo>
                  <a:cubicBezTo>
                    <a:pt x="358" y="7501"/>
                    <a:pt x="346" y="7501"/>
                    <a:pt x="346" y="7489"/>
                  </a:cubicBezTo>
                  <a:lnTo>
                    <a:pt x="346" y="7096"/>
                  </a:lnTo>
                  <a:lnTo>
                    <a:pt x="7263" y="7096"/>
                  </a:lnTo>
                  <a:cubicBezTo>
                    <a:pt x="7359" y="7096"/>
                    <a:pt x="7442" y="7025"/>
                    <a:pt x="7442" y="6918"/>
                  </a:cubicBezTo>
                  <a:cubicBezTo>
                    <a:pt x="7442" y="6834"/>
                    <a:pt x="7371" y="6739"/>
                    <a:pt x="7263" y="6739"/>
                  </a:cubicBezTo>
                  <a:lnTo>
                    <a:pt x="346" y="6739"/>
                  </a:lnTo>
                  <a:lnTo>
                    <a:pt x="346" y="6334"/>
                  </a:lnTo>
                  <a:lnTo>
                    <a:pt x="9514" y="6334"/>
                  </a:lnTo>
                  <a:cubicBezTo>
                    <a:pt x="9597" y="6334"/>
                    <a:pt x="9692" y="6263"/>
                    <a:pt x="9692" y="6156"/>
                  </a:cubicBezTo>
                  <a:cubicBezTo>
                    <a:pt x="9692" y="6072"/>
                    <a:pt x="9621" y="5977"/>
                    <a:pt x="9514" y="5977"/>
                  </a:cubicBezTo>
                  <a:lnTo>
                    <a:pt x="346" y="5977"/>
                  </a:lnTo>
                  <a:lnTo>
                    <a:pt x="346" y="5572"/>
                  </a:lnTo>
                  <a:close/>
                  <a:moveTo>
                    <a:pt x="358" y="0"/>
                  </a:moveTo>
                  <a:cubicBezTo>
                    <a:pt x="167" y="0"/>
                    <a:pt x="1" y="167"/>
                    <a:pt x="1" y="357"/>
                  </a:cubicBezTo>
                  <a:lnTo>
                    <a:pt x="1" y="7453"/>
                  </a:lnTo>
                  <a:cubicBezTo>
                    <a:pt x="1" y="7644"/>
                    <a:pt x="167" y="7811"/>
                    <a:pt x="358" y="7811"/>
                  </a:cubicBezTo>
                  <a:lnTo>
                    <a:pt x="10823" y="7811"/>
                  </a:lnTo>
                  <a:cubicBezTo>
                    <a:pt x="11014" y="7811"/>
                    <a:pt x="11181" y="7644"/>
                    <a:pt x="11181" y="7453"/>
                  </a:cubicBezTo>
                  <a:lnTo>
                    <a:pt x="11181" y="357"/>
                  </a:lnTo>
                  <a:cubicBezTo>
                    <a:pt x="11181" y="167"/>
                    <a:pt x="11014" y="0"/>
                    <a:pt x="10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0"/>
            <p:cNvSpPr/>
            <p:nvPr/>
          </p:nvSpPr>
          <p:spPr>
            <a:xfrm>
              <a:off x="7080411" y="3758192"/>
              <a:ext cx="100219" cy="129687"/>
            </a:xfrm>
            <a:custGeom>
              <a:rect b="b" l="l" r="r" t="t"/>
              <a:pathLst>
                <a:path extrusionOk="0" h="4084" w="3156">
                  <a:moveTo>
                    <a:pt x="179" y="0"/>
                  </a:moveTo>
                  <a:cubicBezTo>
                    <a:pt x="96" y="0"/>
                    <a:pt x="0" y="72"/>
                    <a:pt x="0" y="179"/>
                  </a:cubicBezTo>
                  <a:cubicBezTo>
                    <a:pt x="0" y="274"/>
                    <a:pt x="84" y="357"/>
                    <a:pt x="179" y="357"/>
                  </a:cubicBezTo>
                  <a:lnTo>
                    <a:pt x="2072" y="357"/>
                  </a:lnTo>
                  <a:cubicBezTo>
                    <a:pt x="2144" y="726"/>
                    <a:pt x="2429" y="1012"/>
                    <a:pt x="2798" y="1084"/>
                  </a:cubicBezTo>
                  <a:lnTo>
                    <a:pt x="2798" y="3001"/>
                  </a:lnTo>
                  <a:cubicBezTo>
                    <a:pt x="2429" y="3072"/>
                    <a:pt x="2144" y="3358"/>
                    <a:pt x="2072" y="3727"/>
                  </a:cubicBezTo>
                  <a:lnTo>
                    <a:pt x="179" y="3727"/>
                  </a:lnTo>
                  <a:cubicBezTo>
                    <a:pt x="96" y="3727"/>
                    <a:pt x="0" y="3810"/>
                    <a:pt x="0" y="3905"/>
                  </a:cubicBezTo>
                  <a:cubicBezTo>
                    <a:pt x="0" y="4013"/>
                    <a:pt x="84" y="4084"/>
                    <a:pt x="179" y="4084"/>
                  </a:cubicBezTo>
                  <a:lnTo>
                    <a:pt x="2239" y="4084"/>
                  </a:lnTo>
                  <a:cubicBezTo>
                    <a:pt x="2322" y="4084"/>
                    <a:pt x="2417" y="4013"/>
                    <a:pt x="2417" y="3905"/>
                  </a:cubicBezTo>
                  <a:cubicBezTo>
                    <a:pt x="2417" y="3596"/>
                    <a:pt x="2667" y="3346"/>
                    <a:pt x="2977" y="3346"/>
                  </a:cubicBezTo>
                  <a:cubicBezTo>
                    <a:pt x="3072" y="3346"/>
                    <a:pt x="3156" y="3274"/>
                    <a:pt x="3156" y="3167"/>
                  </a:cubicBezTo>
                  <a:lnTo>
                    <a:pt x="3156" y="917"/>
                  </a:lnTo>
                  <a:cubicBezTo>
                    <a:pt x="3156" y="810"/>
                    <a:pt x="3072" y="738"/>
                    <a:pt x="2977" y="738"/>
                  </a:cubicBezTo>
                  <a:cubicBezTo>
                    <a:pt x="2667" y="738"/>
                    <a:pt x="2417" y="488"/>
                    <a:pt x="2417" y="179"/>
                  </a:cubicBezTo>
                  <a:cubicBezTo>
                    <a:pt x="2417" y="83"/>
                    <a:pt x="2346" y="0"/>
                    <a:pt x="2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6873209" y="3757811"/>
              <a:ext cx="100219" cy="130068"/>
            </a:xfrm>
            <a:custGeom>
              <a:rect b="b" l="l" r="r" t="t"/>
              <a:pathLst>
                <a:path extrusionOk="0" h="4096" w="3156">
                  <a:moveTo>
                    <a:pt x="918" y="0"/>
                  </a:moveTo>
                  <a:cubicBezTo>
                    <a:pt x="834" y="0"/>
                    <a:pt x="739" y="84"/>
                    <a:pt x="739" y="191"/>
                  </a:cubicBezTo>
                  <a:cubicBezTo>
                    <a:pt x="739" y="500"/>
                    <a:pt x="489" y="750"/>
                    <a:pt x="179" y="750"/>
                  </a:cubicBezTo>
                  <a:cubicBezTo>
                    <a:pt x="84" y="750"/>
                    <a:pt x="1" y="822"/>
                    <a:pt x="1" y="929"/>
                  </a:cubicBezTo>
                  <a:lnTo>
                    <a:pt x="1" y="3179"/>
                  </a:lnTo>
                  <a:cubicBezTo>
                    <a:pt x="1" y="3263"/>
                    <a:pt x="72" y="3358"/>
                    <a:pt x="179" y="3358"/>
                  </a:cubicBezTo>
                  <a:cubicBezTo>
                    <a:pt x="489" y="3358"/>
                    <a:pt x="739" y="3608"/>
                    <a:pt x="739" y="3917"/>
                  </a:cubicBezTo>
                  <a:cubicBezTo>
                    <a:pt x="739" y="4013"/>
                    <a:pt x="810" y="4096"/>
                    <a:pt x="918" y="4096"/>
                  </a:cubicBezTo>
                  <a:lnTo>
                    <a:pt x="2977" y="4096"/>
                  </a:lnTo>
                  <a:cubicBezTo>
                    <a:pt x="3061" y="4096"/>
                    <a:pt x="3156" y="4025"/>
                    <a:pt x="3156" y="3917"/>
                  </a:cubicBezTo>
                  <a:cubicBezTo>
                    <a:pt x="3132" y="3822"/>
                    <a:pt x="3061" y="3739"/>
                    <a:pt x="2977" y="3739"/>
                  </a:cubicBezTo>
                  <a:lnTo>
                    <a:pt x="1084" y="3739"/>
                  </a:lnTo>
                  <a:cubicBezTo>
                    <a:pt x="1013" y="3370"/>
                    <a:pt x="727" y="3084"/>
                    <a:pt x="346" y="3013"/>
                  </a:cubicBezTo>
                  <a:lnTo>
                    <a:pt x="346" y="1096"/>
                  </a:lnTo>
                  <a:cubicBezTo>
                    <a:pt x="727" y="1024"/>
                    <a:pt x="1013" y="738"/>
                    <a:pt x="1084" y="369"/>
                  </a:cubicBezTo>
                  <a:lnTo>
                    <a:pt x="2977" y="369"/>
                  </a:lnTo>
                  <a:cubicBezTo>
                    <a:pt x="3061" y="369"/>
                    <a:pt x="3156" y="286"/>
                    <a:pt x="3156" y="191"/>
                  </a:cubicBezTo>
                  <a:cubicBezTo>
                    <a:pt x="3156" y="95"/>
                    <a:pt x="3073" y="0"/>
                    <a:pt x="2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0"/>
            <p:cNvSpPr/>
            <p:nvPr/>
          </p:nvSpPr>
          <p:spPr>
            <a:xfrm>
              <a:off x="6962060" y="3758192"/>
              <a:ext cx="129338" cy="129338"/>
            </a:xfrm>
            <a:custGeom>
              <a:rect b="b" l="l" r="r" t="t"/>
              <a:pathLst>
                <a:path extrusionOk="0" h="4073" w="4073">
                  <a:moveTo>
                    <a:pt x="2037" y="334"/>
                  </a:moveTo>
                  <a:cubicBezTo>
                    <a:pt x="2977" y="334"/>
                    <a:pt x="3727" y="1096"/>
                    <a:pt x="3727" y="2036"/>
                  </a:cubicBezTo>
                  <a:cubicBezTo>
                    <a:pt x="3727" y="2977"/>
                    <a:pt x="2977" y="3727"/>
                    <a:pt x="2037" y="3727"/>
                  </a:cubicBezTo>
                  <a:cubicBezTo>
                    <a:pt x="1096" y="3727"/>
                    <a:pt x="334" y="2977"/>
                    <a:pt x="334" y="2036"/>
                  </a:cubicBezTo>
                  <a:cubicBezTo>
                    <a:pt x="334" y="1096"/>
                    <a:pt x="1096" y="334"/>
                    <a:pt x="2037" y="334"/>
                  </a:cubicBezTo>
                  <a:close/>
                  <a:moveTo>
                    <a:pt x="2037" y="0"/>
                  </a:moveTo>
                  <a:cubicBezTo>
                    <a:pt x="906" y="0"/>
                    <a:pt x="1" y="917"/>
                    <a:pt x="1" y="2036"/>
                  </a:cubicBezTo>
                  <a:cubicBezTo>
                    <a:pt x="1" y="3155"/>
                    <a:pt x="918" y="4072"/>
                    <a:pt x="2037" y="4072"/>
                  </a:cubicBezTo>
                  <a:cubicBezTo>
                    <a:pt x="3156" y="4072"/>
                    <a:pt x="4073" y="3155"/>
                    <a:pt x="4073" y="2036"/>
                  </a:cubicBezTo>
                  <a:cubicBezTo>
                    <a:pt x="4073" y="905"/>
                    <a:pt x="3168" y="0"/>
                    <a:pt x="2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0"/>
            <p:cNvSpPr/>
            <p:nvPr/>
          </p:nvSpPr>
          <p:spPr>
            <a:xfrm>
              <a:off x="6997244" y="3781627"/>
              <a:ext cx="59382" cy="82436"/>
            </a:xfrm>
            <a:custGeom>
              <a:rect b="b" l="l" r="r" t="t"/>
              <a:pathLst>
                <a:path extrusionOk="0" h="2596" w="1870">
                  <a:moveTo>
                    <a:pt x="750" y="536"/>
                  </a:moveTo>
                  <a:lnTo>
                    <a:pt x="750" y="1060"/>
                  </a:lnTo>
                  <a:cubicBezTo>
                    <a:pt x="452" y="965"/>
                    <a:pt x="345" y="881"/>
                    <a:pt x="345" y="762"/>
                  </a:cubicBezTo>
                  <a:cubicBezTo>
                    <a:pt x="345" y="691"/>
                    <a:pt x="500" y="584"/>
                    <a:pt x="750" y="536"/>
                  </a:cubicBezTo>
                  <a:close/>
                  <a:moveTo>
                    <a:pt x="1107" y="1524"/>
                  </a:moveTo>
                  <a:cubicBezTo>
                    <a:pt x="1405" y="1608"/>
                    <a:pt x="1512" y="1703"/>
                    <a:pt x="1512" y="1822"/>
                  </a:cubicBezTo>
                  <a:cubicBezTo>
                    <a:pt x="1512" y="1893"/>
                    <a:pt x="1357" y="2001"/>
                    <a:pt x="1107" y="2036"/>
                  </a:cubicBezTo>
                  <a:lnTo>
                    <a:pt x="1107" y="1524"/>
                  </a:lnTo>
                  <a:close/>
                  <a:moveTo>
                    <a:pt x="941" y="0"/>
                  </a:moveTo>
                  <a:cubicBezTo>
                    <a:pt x="857" y="0"/>
                    <a:pt x="762" y="72"/>
                    <a:pt x="762" y="179"/>
                  </a:cubicBezTo>
                  <a:lnTo>
                    <a:pt x="762" y="191"/>
                  </a:lnTo>
                  <a:cubicBezTo>
                    <a:pt x="333" y="238"/>
                    <a:pt x="24" y="477"/>
                    <a:pt x="24" y="774"/>
                  </a:cubicBezTo>
                  <a:cubicBezTo>
                    <a:pt x="24" y="1191"/>
                    <a:pt x="441" y="1346"/>
                    <a:pt x="762" y="1429"/>
                  </a:cubicBezTo>
                  <a:lnTo>
                    <a:pt x="762" y="2036"/>
                  </a:lnTo>
                  <a:cubicBezTo>
                    <a:pt x="512" y="2001"/>
                    <a:pt x="357" y="1893"/>
                    <a:pt x="357" y="1822"/>
                  </a:cubicBezTo>
                  <a:cubicBezTo>
                    <a:pt x="357" y="1727"/>
                    <a:pt x="286" y="1643"/>
                    <a:pt x="179" y="1643"/>
                  </a:cubicBezTo>
                  <a:cubicBezTo>
                    <a:pt x="83" y="1643"/>
                    <a:pt x="0" y="1715"/>
                    <a:pt x="0" y="1822"/>
                  </a:cubicBezTo>
                  <a:cubicBezTo>
                    <a:pt x="0" y="2120"/>
                    <a:pt x="310" y="2334"/>
                    <a:pt x="750" y="2393"/>
                  </a:cubicBezTo>
                  <a:lnTo>
                    <a:pt x="750" y="2417"/>
                  </a:lnTo>
                  <a:cubicBezTo>
                    <a:pt x="750" y="2501"/>
                    <a:pt x="822" y="2596"/>
                    <a:pt x="929" y="2596"/>
                  </a:cubicBezTo>
                  <a:cubicBezTo>
                    <a:pt x="1036" y="2596"/>
                    <a:pt x="1107" y="2513"/>
                    <a:pt x="1107" y="2417"/>
                  </a:cubicBezTo>
                  <a:lnTo>
                    <a:pt x="1107" y="2393"/>
                  </a:lnTo>
                  <a:cubicBezTo>
                    <a:pt x="1536" y="2358"/>
                    <a:pt x="1845" y="2120"/>
                    <a:pt x="1845" y="1822"/>
                  </a:cubicBezTo>
                  <a:cubicBezTo>
                    <a:pt x="1845" y="1417"/>
                    <a:pt x="1453" y="1250"/>
                    <a:pt x="1107" y="1167"/>
                  </a:cubicBezTo>
                  <a:lnTo>
                    <a:pt x="1107" y="548"/>
                  </a:lnTo>
                  <a:cubicBezTo>
                    <a:pt x="1357" y="596"/>
                    <a:pt x="1512" y="703"/>
                    <a:pt x="1512" y="774"/>
                  </a:cubicBezTo>
                  <a:cubicBezTo>
                    <a:pt x="1512" y="869"/>
                    <a:pt x="1584" y="953"/>
                    <a:pt x="1691" y="953"/>
                  </a:cubicBezTo>
                  <a:cubicBezTo>
                    <a:pt x="1774" y="953"/>
                    <a:pt x="1869" y="881"/>
                    <a:pt x="1869" y="774"/>
                  </a:cubicBezTo>
                  <a:cubicBezTo>
                    <a:pt x="1869" y="477"/>
                    <a:pt x="1548" y="250"/>
                    <a:pt x="1119" y="191"/>
                  </a:cubicBezTo>
                  <a:lnTo>
                    <a:pt x="1119" y="179"/>
                  </a:lnTo>
                  <a:cubicBezTo>
                    <a:pt x="1119" y="84"/>
                    <a:pt x="1048" y="0"/>
                    <a:pt x="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203" name="Google Shape;203;p30"/>
          <p:cNvGraphicFramePr/>
          <p:nvPr/>
        </p:nvGraphicFramePr>
        <p:xfrm>
          <a:off x="5668350" y="136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{44BD94AA-547F-48BF-A0EB-3BB84CB84F39}</a:tableStyleId>
              </a:tblPr>
              <a:tblGrid>
                <a:gridCol w="1364925"/>
                <a:gridCol w="765975"/>
                <a:gridCol w="1284200"/>
              </a:tblGrid>
              <a:tr h="345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Research Firm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2024 Estimate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2025 Estimate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CFF"/>
                    </a:solidFill>
                  </a:tcPr>
                </a:tc>
              </a:tr>
              <a:tr h="268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Straits Research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$7.98 Billion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$9.37 Billion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Precedence Research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$9.15 Billion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$11.18 Billion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The Business Research Co.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$8.5 Billion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$10.27 Billion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IMARC Group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$5.7 Billion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(No 2025, but a lower base)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30"/>
          <p:cNvSpPr txBox="1"/>
          <p:nvPr/>
        </p:nvSpPr>
        <p:spPr>
          <a:xfrm>
            <a:off x="942275" y="3240950"/>
            <a:ext cx="77304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It’s projected to increase due to the following factors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eriod"/>
            </a:pPr>
            <a:r>
              <a:rPr lang="en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Urbanization and Congestion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More people are moving to cities, leading to a massive increase in vehicles, traffic congestion, and parking demand.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eriod"/>
            </a:pPr>
            <a:r>
              <a:rPr lang="en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Environmental Concerns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Reducing the time spent "cruising" for parking directly reduces fuel consumption and carbon emissions, which is a major goal for cities and corporations.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eriod"/>
            </a:pPr>
            <a:r>
              <a:rPr lang="en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Smart City Initiatives + IoT and Connectivity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Widespread adoption of IoT sensors, 5G, and cloud computing makes it cheaper and easier to get real-time data on which spots are open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idx="15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 - Fits within the Prompt</a:t>
            </a:r>
            <a:endParaRPr/>
          </a:p>
        </p:txBody>
      </p:sp>
      <p:cxnSp>
        <p:nvCxnSpPr>
          <p:cNvPr id="210" name="Google Shape;210;p31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31"/>
          <p:cNvSpPr txBox="1"/>
          <p:nvPr>
            <p:ph idx="1" type="subTitle"/>
          </p:nvPr>
        </p:nvSpPr>
        <p:spPr>
          <a:xfrm>
            <a:off x="152050" y="1126575"/>
            <a:ext cx="37944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1) </a:t>
            </a:r>
            <a:r>
              <a:rPr lang="en" sz="1400"/>
              <a:t>Aides with the customer experience gap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systems (like basic Park Assist) only help with the final maneuver.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 most stressful part, finding the spot, is completely unsolved by current in-vehicle systems.</a:t>
            </a:r>
            <a:endParaRPr/>
          </a:p>
        </p:txBody>
      </p:sp>
      <p:sp>
        <p:nvSpPr>
          <p:cNvPr id="212" name="Google Shape;212;p31"/>
          <p:cNvSpPr txBox="1"/>
          <p:nvPr/>
        </p:nvSpPr>
        <p:spPr>
          <a:xfrm>
            <a:off x="228600" y="2863025"/>
            <a:ext cx="3717900" cy="22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Pitch Angle: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We are all moving to autonomous vehicles to get our time back, yet the most stressful hours of our driving (looking for parking) is still a manual process.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BFCFF"/>
                </a:highlight>
                <a:latin typeface="Karla"/>
                <a:ea typeface="Karla"/>
                <a:cs typeface="Karla"/>
                <a:sym typeface="Karla"/>
              </a:rPr>
              <a:t>→ “AutoPark solves the entire parking journey, not just the last 10 feet."</a:t>
            </a:r>
            <a:endParaRPr>
              <a:solidFill>
                <a:schemeClr val="dk1"/>
              </a:solidFill>
              <a:highlight>
                <a:srgbClr val="EBFCFF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4307875" y="1126600"/>
            <a:ext cx="4782900" cy="17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2) “Must be present on the AV”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Product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"AutoPark" is a </a:t>
            </a: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licensable software module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that runs on the vehicle's main ADAS/infotainment compute unit.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-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Not just a phone app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4167700" y="2483375"/>
            <a:ext cx="4923000" cy="2603400"/>
          </a:xfrm>
          <a:prstGeom prst="rect">
            <a:avLst/>
          </a:prstGeom>
          <a:noFill/>
          <a:ln cap="flat" cmpd="sng" w="9525">
            <a:solidFill>
              <a:srgbClr val="FF6B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Find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The driver selects “AutoPark.” The system uses navigation partners (Google Maps) and V2N (Vehicle-to-Network) services to find nearby garages with availability.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Reserve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It communicates via V2I (Vehicle-to-Infrastructure) or V2N to the parking provider's API to confirm a spot.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Navigate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After dropping off the passenger, the AV uses its onboard maps and sensor suite (Cameras, LiDAR, Radar) to navigate to the garage entrance.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Park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Using V2I data (e.g., “Proceed to Level 3, Spot B-12”), the AV navigates the garage and performs the final autonomous parking maneuver using its sensors and cameras, just like a high-end Park Assist system, but without a driver.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15" name="Google Shape;215;p31"/>
          <p:cNvCxnSpPr/>
          <p:nvPr/>
        </p:nvCxnSpPr>
        <p:spPr>
          <a:xfrm>
            <a:off x="4057100" y="1126575"/>
            <a:ext cx="0" cy="418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31"/>
          <p:cNvSpPr txBox="1"/>
          <p:nvPr/>
        </p:nvSpPr>
        <p:spPr>
          <a:xfrm>
            <a:off x="4057100" y="2220575"/>
            <a:ext cx="19473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6B65"/>
                </a:solidFill>
                <a:latin typeface="Karla"/>
                <a:ea typeface="Karla"/>
                <a:cs typeface="Karla"/>
                <a:sym typeface="Karla"/>
              </a:rPr>
              <a:t>How it Works (V1)</a:t>
            </a:r>
            <a:endParaRPr b="1">
              <a:solidFill>
                <a:srgbClr val="FF6B6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217" name="Google Shape;217;p31"/>
          <p:cNvGrpSpPr/>
          <p:nvPr/>
        </p:nvGrpSpPr>
        <p:grpSpPr>
          <a:xfrm>
            <a:off x="3193721" y="622886"/>
            <a:ext cx="281077" cy="267900"/>
            <a:chOff x="6870193" y="2295620"/>
            <a:chExt cx="360356" cy="343462"/>
          </a:xfrm>
        </p:grpSpPr>
        <p:sp>
          <p:nvSpPr>
            <p:cNvPr id="218" name="Google Shape;218;p31"/>
            <p:cNvSpPr/>
            <p:nvPr/>
          </p:nvSpPr>
          <p:spPr>
            <a:xfrm>
              <a:off x="6870193" y="2295620"/>
              <a:ext cx="360356" cy="343462"/>
            </a:xfrm>
            <a:custGeom>
              <a:rect b="b" l="l" r="r" t="t"/>
              <a:pathLst>
                <a:path extrusionOk="0" h="10816" w="11348">
                  <a:moveTo>
                    <a:pt x="6027" y="0"/>
                  </a:moveTo>
                  <a:cubicBezTo>
                    <a:pt x="5700" y="0"/>
                    <a:pt x="5448" y="70"/>
                    <a:pt x="5430" y="76"/>
                  </a:cubicBezTo>
                  <a:cubicBezTo>
                    <a:pt x="5358" y="112"/>
                    <a:pt x="5299" y="172"/>
                    <a:pt x="5299" y="255"/>
                  </a:cubicBezTo>
                  <a:lnTo>
                    <a:pt x="5299" y="2731"/>
                  </a:lnTo>
                  <a:lnTo>
                    <a:pt x="3501" y="5017"/>
                  </a:lnTo>
                  <a:cubicBezTo>
                    <a:pt x="3441" y="4767"/>
                    <a:pt x="3215" y="4577"/>
                    <a:pt x="2929" y="4577"/>
                  </a:cubicBezTo>
                  <a:lnTo>
                    <a:pt x="584" y="4577"/>
                  </a:lnTo>
                  <a:cubicBezTo>
                    <a:pt x="274" y="4577"/>
                    <a:pt x="1" y="4827"/>
                    <a:pt x="1" y="5160"/>
                  </a:cubicBezTo>
                  <a:lnTo>
                    <a:pt x="1" y="5732"/>
                  </a:lnTo>
                  <a:cubicBezTo>
                    <a:pt x="1" y="5839"/>
                    <a:pt x="96" y="5910"/>
                    <a:pt x="179" y="5910"/>
                  </a:cubicBezTo>
                  <a:cubicBezTo>
                    <a:pt x="274" y="5910"/>
                    <a:pt x="358" y="5827"/>
                    <a:pt x="358" y="5732"/>
                  </a:cubicBezTo>
                  <a:lnTo>
                    <a:pt x="358" y="5160"/>
                  </a:lnTo>
                  <a:cubicBezTo>
                    <a:pt x="358" y="5041"/>
                    <a:pt x="453" y="4946"/>
                    <a:pt x="572" y="4946"/>
                  </a:cubicBezTo>
                  <a:lnTo>
                    <a:pt x="2918" y="4946"/>
                  </a:lnTo>
                  <a:cubicBezTo>
                    <a:pt x="3037" y="4946"/>
                    <a:pt x="3132" y="5041"/>
                    <a:pt x="3132" y="5160"/>
                  </a:cubicBezTo>
                  <a:lnTo>
                    <a:pt x="3132" y="10232"/>
                  </a:lnTo>
                  <a:cubicBezTo>
                    <a:pt x="3132" y="10351"/>
                    <a:pt x="3037" y="10435"/>
                    <a:pt x="2918" y="10435"/>
                  </a:cubicBezTo>
                  <a:lnTo>
                    <a:pt x="572" y="10435"/>
                  </a:lnTo>
                  <a:cubicBezTo>
                    <a:pt x="453" y="10435"/>
                    <a:pt x="358" y="10351"/>
                    <a:pt x="358" y="10232"/>
                  </a:cubicBezTo>
                  <a:lnTo>
                    <a:pt x="358" y="6506"/>
                  </a:lnTo>
                  <a:cubicBezTo>
                    <a:pt x="358" y="6410"/>
                    <a:pt x="274" y="6327"/>
                    <a:pt x="179" y="6327"/>
                  </a:cubicBezTo>
                  <a:cubicBezTo>
                    <a:pt x="72" y="6327"/>
                    <a:pt x="1" y="6422"/>
                    <a:pt x="1" y="6506"/>
                  </a:cubicBezTo>
                  <a:lnTo>
                    <a:pt x="1" y="10232"/>
                  </a:lnTo>
                  <a:cubicBezTo>
                    <a:pt x="1" y="10542"/>
                    <a:pt x="251" y="10816"/>
                    <a:pt x="584" y="10816"/>
                  </a:cubicBezTo>
                  <a:lnTo>
                    <a:pt x="2929" y="10816"/>
                  </a:lnTo>
                  <a:cubicBezTo>
                    <a:pt x="3251" y="10816"/>
                    <a:pt x="3513" y="10554"/>
                    <a:pt x="3513" y="10232"/>
                  </a:cubicBezTo>
                  <a:lnTo>
                    <a:pt x="3513" y="9744"/>
                  </a:lnTo>
                  <a:lnTo>
                    <a:pt x="4418" y="10185"/>
                  </a:lnTo>
                  <a:cubicBezTo>
                    <a:pt x="4453" y="10197"/>
                    <a:pt x="4477" y="10197"/>
                    <a:pt x="4513" y="10197"/>
                  </a:cubicBezTo>
                  <a:lnTo>
                    <a:pt x="8025" y="10197"/>
                  </a:lnTo>
                  <a:cubicBezTo>
                    <a:pt x="8132" y="10197"/>
                    <a:pt x="8204" y="10113"/>
                    <a:pt x="8204" y="10018"/>
                  </a:cubicBezTo>
                  <a:cubicBezTo>
                    <a:pt x="8204" y="9923"/>
                    <a:pt x="8109" y="9839"/>
                    <a:pt x="8025" y="9839"/>
                  </a:cubicBezTo>
                  <a:lnTo>
                    <a:pt x="4561" y="9839"/>
                  </a:lnTo>
                  <a:lnTo>
                    <a:pt x="3525" y="9327"/>
                  </a:lnTo>
                  <a:lnTo>
                    <a:pt x="3525" y="5589"/>
                  </a:lnTo>
                  <a:lnTo>
                    <a:pt x="5644" y="2910"/>
                  </a:lnTo>
                  <a:cubicBezTo>
                    <a:pt x="5668" y="2874"/>
                    <a:pt x="5692" y="2839"/>
                    <a:pt x="5692" y="2791"/>
                  </a:cubicBezTo>
                  <a:lnTo>
                    <a:pt x="5692" y="398"/>
                  </a:lnTo>
                  <a:cubicBezTo>
                    <a:pt x="5787" y="379"/>
                    <a:pt x="5924" y="358"/>
                    <a:pt x="6080" y="358"/>
                  </a:cubicBezTo>
                  <a:cubicBezTo>
                    <a:pt x="6313" y="358"/>
                    <a:pt x="6587" y="405"/>
                    <a:pt x="6823" y="576"/>
                  </a:cubicBezTo>
                  <a:cubicBezTo>
                    <a:pt x="7132" y="791"/>
                    <a:pt x="7275" y="1207"/>
                    <a:pt x="7275" y="1803"/>
                  </a:cubicBezTo>
                  <a:lnTo>
                    <a:pt x="7275" y="3755"/>
                  </a:lnTo>
                  <a:cubicBezTo>
                    <a:pt x="7275" y="3862"/>
                    <a:pt x="7370" y="3934"/>
                    <a:pt x="7454" y="3934"/>
                  </a:cubicBezTo>
                  <a:lnTo>
                    <a:pt x="10395" y="3934"/>
                  </a:lnTo>
                  <a:cubicBezTo>
                    <a:pt x="10716" y="3934"/>
                    <a:pt x="10990" y="4208"/>
                    <a:pt x="10990" y="4529"/>
                  </a:cubicBezTo>
                  <a:cubicBezTo>
                    <a:pt x="10990" y="4863"/>
                    <a:pt x="10716" y="5125"/>
                    <a:pt x="10395" y="5125"/>
                  </a:cubicBezTo>
                  <a:lnTo>
                    <a:pt x="8823" y="5125"/>
                  </a:lnTo>
                  <a:cubicBezTo>
                    <a:pt x="8728" y="5125"/>
                    <a:pt x="8644" y="5220"/>
                    <a:pt x="8644" y="5303"/>
                  </a:cubicBezTo>
                  <a:cubicBezTo>
                    <a:pt x="8644" y="5410"/>
                    <a:pt x="8740" y="5482"/>
                    <a:pt x="8823" y="5482"/>
                  </a:cubicBezTo>
                  <a:lnTo>
                    <a:pt x="10228" y="5482"/>
                  </a:lnTo>
                  <a:cubicBezTo>
                    <a:pt x="10538" y="5494"/>
                    <a:pt x="10788" y="5767"/>
                    <a:pt x="10788" y="6077"/>
                  </a:cubicBezTo>
                  <a:cubicBezTo>
                    <a:pt x="10788" y="6399"/>
                    <a:pt x="10526" y="6672"/>
                    <a:pt x="10192" y="6672"/>
                  </a:cubicBezTo>
                  <a:lnTo>
                    <a:pt x="8823" y="6672"/>
                  </a:lnTo>
                  <a:cubicBezTo>
                    <a:pt x="8728" y="6672"/>
                    <a:pt x="8644" y="6768"/>
                    <a:pt x="8644" y="6851"/>
                  </a:cubicBezTo>
                  <a:cubicBezTo>
                    <a:pt x="8644" y="6958"/>
                    <a:pt x="8740" y="7030"/>
                    <a:pt x="8823" y="7030"/>
                  </a:cubicBezTo>
                  <a:lnTo>
                    <a:pt x="10073" y="7030"/>
                  </a:lnTo>
                  <a:cubicBezTo>
                    <a:pt x="10371" y="7053"/>
                    <a:pt x="10597" y="7327"/>
                    <a:pt x="10597" y="7625"/>
                  </a:cubicBezTo>
                  <a:cubicBezTo>
                    <a:pt x="10597" y="7946"/>
                    <a:pt x="10335" y="8220"/>
                    <a:pt x="10002" y="8220"/>
                  </a:cubicBezTo>
                  <a:lnTo>
                    <a:pt x="8823" y="8220"/>
                  </a:lnTo>
                  <a:cubicBezTo>
                    <a:pt x="8728" y="8220"/>
                    <a:pt x="8644" y="8315"/>
                    <a:pt x="8644" y="8399"/>
                  </a:cubicBezTo>
                  <a:cubicBezTo>
                    <a:pt x="8644" y="8506"/>
                    <a:pt x="8740" y="8577"/>
                    <a:pt x="8823" y="8577"/>
                  </a:cubicBezTo>
                  <a:lnTo>
                    <a:pt x="9883" y="8577"/>
                  </a:lnTo>
                  <a:cubicBezTo>
                    <a:pt x="9895" y="8577"/>
                    <a:pt x="9918" y="8589"/>
                    <a:pt x="9918" y="8589"/>
                  </a:cubicBezTo>
                  <a:cubicBezTo>
                    <a:pt x="10192" y="8649"/>
                    <a:pt x="10407" y="8887"/>
                    <a:pt x="10407" y="9185"/>
                  </a:cubicBezTo>
                  <a:cubicBezTo>
                    <a:pt x="10407" y="9518"/>
                    <a:pt x="10133" y="9780"/>
                    <a:pt x="9811" y="9780"/>
                  </a:cubicBezTo>
                  <a:lnTo>
                    <a:pt x="8823" y="9780"/>
                  </a:lnTo>
                  <a:cubicBezTo>
                    <a:pt x="8728" y="9780"/>
                    <a:pt x="8644" y="9875"/>
                    <a:pt x="8644" y="9958"/>
                  </a:cubicBezTo>
                  <a:cubicBezTo>
                    <a:pt x="8644" y="10066"/>
                    <a:pt x="8740" y="10137"/>
                    <a:pt x="8823" y="10137"/>
                  </a:cubicBezTo>
                  <a:lnTo>
                    <a:pt x="9811" y="10137"/>
                  </a:lnTo>
                  <a:cubicBezTo>
                    <a:pt x="10347" y="10137"/>
                    <a:pt x="10776" y="9708"/>
                    <a:pt x="10776" y="9173"/>
                  </a:cubicBezTo>
                  <a:cubicBezTo>
                    <a:pt x="10776" y="8887"/>
                    <a:pt x="10657" y="8637"/>
                    <a:pt x="10466" y="8458"/>
                  </a:cubicBezTo>
                  <a:cubicBezTo>
                    <a:pt x="10764" y="8292"/>
                    <a:pt x="10966" y="7982"/>
                    <a:pt x="10966" y="7613"/>
                  </a:cubicBezTo>
                  <a:cubicBezTo>
                    <a:pt x="10966" y="7327"/>
                    <a:pt x="10847" y="7077"/>
                    <a:pt x="10657" y="6899"/>
                  </a:cubicBezTo>
                  <a:cubicBezTo>
                    <a:pt x="10954" y="6803"/>
                    <a:pt x="11145" y="6482"/>
                    <a:pt x="11145" y="6113"/>
                  </a:cubicBezTo>
                  <a:cubicBezTo>
                    <a:pt x="11145" y="5827"/>
                    <a:pt x="11026" y="5577"/>
                    <a:pt x="10835" y="5398"/>
                  </a:cubicBezTo>
                  <a:cubicBezTo>
                    <a:pt x="11133" y="5232"/>
                    <a:pt x="11347" y="4922"/>
                    <a:pt x="11347" y="4541"/>
                  </a:cubicBezTo>
                  <a:cubicBezTo>
                    <a:pt x="11347" y="4005"/>
                    <a:pt x="10907" y="3577"/>
                    <a:pt x="10371" y="3577"/>
                  </a:cubicBezTo>
                  <a:lnTo>
                    <a:pt x="7621" y="3577"/>
                  </a:lnTo>
                  <a:lnTo>
                    <a:pt x="7621" y="1827"/>
                  </a:lnTo>
                  <a:cubicBezTo>
                    <a:pt x="7621" y="1112"/>
                    <a:pt x="7418" y="588"/>
                    <a:pt x="7013" y="291"/>
                  </a:cubicBezTo>
                  <a:cubicBezTo>
                    <a:pt x="6703" y="61"/>
                    <a:pt x="6332" y="0"/>
                    <a:pt x="60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1"/>
            <p:cNvSpPr/>
            <p:nvPr/>
          </p:nvSpPr>
          <p:spPr>
            <a:xfrm>
              <a:off x="6920842" y="2577064"/>
              <a:ext cx="36709" cy="36677"/>
            </a:xfrm>
            <a:custGeom>
              <a:rect b="b" l="l" r="r" t="t"/>
              <a:pathLst>
                <a:path extrusionOk="0" h="1155" w="1156">
                  <a:moveTo>
                    <a:pt x="584" y="369"/>
                  </a:moveTo>
                  <a:cubicBezTo>
                    <a:pt x="703" y="369"/>
                    <a:pt x="787" y="464"/>
                    <a:pt x="787" y="584"/>
                  </a:cubicBezTo>
                  <a:cubicBezTo>
                    <a:pt x="787" y="703"/>
                    <a:pt x="703" y="786"/>
                    <a:pt x="584" y="786"/>
                  </a:cubicBezTo>
                  <a:cubicBezTo>
                    <a:pt x="465" y="786"/>
                    <a:pt x="370" y="703"/>
                    <a:pt x="370" y="584"/>
                  </a:cubicBezTo>
                  <a:cubicBezTo>
                    <a:pt x="370" y="464"/>
                    <a:pt x="453" y="369"/>
                    <a:pt x="584" y="369"/>
                  </a:cubicBezTo>
                  <a:close/>
                  <a:moveTo>
                    <a:pt x="584" y="0"/>
                  </a:moveTo>
                  <a:cubicBezTo>
                    <a:pt x="263" y="0"/>
                    <a:pt x="1" y="250"/>
                    <a:pt x="1" y="584"/>
                  </a:cubicBezTo>
                  <a:cubicBezTo>
                    <a:pt x="1" y="905"/>
                    <a:pt x="251" y="1155"/>
                    <a:pt x="584" y="1155"/>
                  </a:cubicBezTo>
                  <a:cubicBezTo>
                    <a:pt x="906" y="1155"/>
                    <a:pt x="1156" y="905"/>
                    <a:pt x="1156" y="584"/>
                  </a:cubicBezTo>
                  <a:cubicBezTo>
                    <a:pt x="1156" y="250"/>
                    <a:pt x="894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idx="1" type="subTitle"/>
          </p:nvPr>
        </p:nvSpPr>
        <p:spPr>
          <a:xfrm>
            <a:off x="722275" y="1290375"/>
            <a:ext cx="5588100" cy="3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/>
              <a:t>Stakeholder Analysis</a:t>
            </a:r>
            <a:r>
              <a:rPr lang="en" sz="1400"/>
              <a:t>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Customer (B2B): Automotive OEMs (e.g., General Motors</a:t>
            </a:r>
            <a:r>
              <a:rPr lang="en"/>
              <a:t>, Ford</a:t>
            </a:r>
            <a:r>
              <a:rPr lang="en"/>
              <a:t>).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Why: In a feature war, where they need to differentiate their AVs.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Our “AutoPark” software module is a high-value, licensable feature they can </a:t>
            </a:r>
            <a:r>
              <a:rPr b="1" lang="en"/>
              <a:t>build into</a:t>
            </a:r>
            <a:r>
              <a:rPr lang="en"/>
              <a:t> their new vehicles.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End-User (B2C Experience): The AV Owner / Rider.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Why: Core “customer experience” value. They get a true “curbside-to-curbside” experience. They are dropped off at the door, and the car vanishes → handling the parking task entirely.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Partners (Data &amp; Infrastructure):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Parking Infrastructure Owners: (e.g., municipalities, shopping malls, airports, commercial garages).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Provide the real-time data on which spots are open.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Data Aggregators: (e.g., Google Maps).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Need their APIs to find available lots, and they need your system to offer a premium "park-for-me" feature.</a:t>
            </a:r>
            <a:endParaRPr sz="1200"/>
          </a:p>
        </p:txBody>
      </p:sp>
      <p:sp>
        <p:nvSpPr>
          <p:cNvPr id="225" name="Google Shape;225;p32"/>
          <p:cNvSpPr txBox="1"/>
          <p:nvPr>
            <p:ph idx="15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Stakeholders + Monetization</a:t>
            </a:r>
            <a:endParaRPr/>
          </a:p>
        </p:txBody>
      </p:sp>
      <p:sp>
        <p:nvSpPr>
          <p:cNvPr id="226" name="Google Shape;226;p32"/>
          <p:cNvSpPr txBox="1"/>
          <p:nvPr>
            <p:ph idx="13" type="title"/>
          </p:nvPr>
        </p:nvSpPr>
        <p:spPr>
          <a:xfrm>
            <a:off x="228150" y="1413550"/>
            <a:ext cx="591000" cy="7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227" name="Google Shape;227;p32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32"/>
          <p:cNvSpPr txBox="1"/>
          <p:nvPr/>
        </p:nvSpPr>
        <p:spPr>
          <a:xfrm>
            <a:off x="6918475" y="1333925"/>
            <a:ext cx="21219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B2B Licensing Fee: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Charge OEMs a one-time “per-vehicle” license fee to install the AutoPark software.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OR</a:t>
            </a:r>
            <a:endParaRPr b="1"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SaaS (Software as a Service): Charge OEMs a small annual subscription fee for V2N network access and map/partner updates, creating recurring revenue.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229" name="Google Shape;229;p32"/>
          <p:cNvGrpSpPr/>
          <p:nvPr/>
        </p:nvGrpSpPr>
        <p:grpSpPr>
          <a:xfrm>
            <a:off x="5798901" y="1515509"/>
            <a:ext cx="1165777" cy="1623754"/>
            <a:chOff x="236331" y="1116004"/>
            <a:chExt cx="1059219" cy="552899"/>
          </a:xfrm>
        </p:grpSpPr>
        <p:sp>
          <p:nvSpPr>
            <p:cNvPr id="230" name="Google Shape;230;p32"/>
            <p:cNvSpPr/>
            <p:nvPr/>
          </p:nvSpPr>
          <p:spPr>
            <a:xfrm>
              <a:off x="236331" y="1176041"/>
              <a:ext cx="119700" cy="48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31" name="Google Shape;231;p32"/>
            <p:cNvCxnSpPr>
              <a:stCxn id="230" idx="6"/>
              <a:endCxn id="232" idx="3"/>
            </p:cNvCxnSpPr>
            <p:nvPr/>
          </p:nvCxnSpPr>
          <p:spPr>
            <a:xfrm flipH="1" rot="10800000">
              <a:off x="356031" y="1135991"/>
              <a:ext cx="819900" cy="645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" name="Google Shape;233;p32"/>
            <p:cNvCxnSpPr>
              <a:stCxn id="230" idx="6"/>
              <a:endCxn id="234" idx="3"/>
            </p:cNvCxnSpPr>
            <p:nvPr/>
          </p:nvCxnSpPr>
          <p:spPr>
            <a:xfrm>
              <a:off x="356031" y="1200491"/>
              <a:ext cx="819900" cy="444000"/>
            </a:xfrm>
            <a:prstGeom prst="curvedConnector3">
              <a:avLst>
                <a:gd fmla="val 57914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4" name="Google Shape;234;p32"/>
            <p:cNvSpPr/>
            <p:nvPr/>
          </p:nvSpPr>
          <p:spPr>
            <a:xfrm rot="5400000">
              <a:off x="1211251" y="1584603"/>
              <a:ext cx="48900" cy="119700"/>
            </a:xfrm>
            <a:prstGeom prst="triangle">
              <a:avLst>
                <a:gd fmla="val 50000" name="adj"/>
              </a:avLst>
            </a:prstGeom>
            <a:solidFill>
              <a:srgbClr val="50325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2" name="Google Shape;232;p32"/>
            <p:cNvSpPr/>
            <p:nvPr/>
          </p:nvSpPr>
          <p:spPr>
            <a:xfrm rot="5400000">
              <a:off x="1215601" y="1076254"/>
              <a:ext cx="40200" cy="119700"/>
            </a:xfrm>
            <a:prstGeom prst="triangle">
              <a:avLst>
                <a:gd fmla="val 50000" name="adj"/>
              </a:avLst>
            </a:prstGeom>
            <a:solidFill>
              <a:srgbClr val="50325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3877850" y="46517"/>
            <a:ext cx="5176200" cy="61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V2 → B</a:t>
            </a:r>
            <a:r>
              <a:rPr lang="en"/>
              <a:t>eachhead Market</a:t>
            </a:r>
            <a:endParaRPr/>
          </a:p>
        </p:txBody>
      </p:sp>
      <p:sp>
        <p:nvSpPr>
          <p:cNvPr id="240" name="Google Shape;240;p33"/>
          <p:cNvSpPr txBox="1"/>
          <p:nvPr>
            <p:ph idx="1" type="subTitle"/>
          </p:nvPr>
        </p:nvSpPr>
        <p:spPr>
          <a:xfrm>
            <a:off x="42000" y="55925"/>
            <a:ext cx="3593400" cy="1562100"/>
          </a:xfrm>
          <a:prstGeom prst="rect">
            <a:avLst/>
          </a:prstGeom>
          <a:ln cap="flat" cmpd="sng" w="9525">
            <a:solidFill>
              <a:srgbClr val="FF6B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V1 Issues: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Reliant </a:t>
            </a:r>
            <a:r>
              <a:rPr lang="en"/>
              <a:t>on citywide V2X and smart garage APIs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Low feasibility → Waits for the world to change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One-time fee</a:t>
            </a:r>
            <a:endParaRPr/>
          </a:p>
        </p:txBody>
      </p:sp>
      <p:sp>
        <p:nvSpPr>
          <p:cNvPr id="241" name="Google Shape;241;p33"/>
          <p:cNvSpPr txBox="1"/>
          <p:nvPr/>
        </p:nvSpPr>
        <p:spPr>
          <a:xfrm>
            <a:off x="3787550" y="746400"/>
            <a:ext cx="5266500" cy="309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How It Works (V2):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EXAMPLE: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eriod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The AV drops the passenger at the airport terminal (“Drop-off Zone”).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eriod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The “AutoPark” software activates.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eriod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It asks the garage's "Lighthouse" (via a simple V2N/V2I data ping), “Where is the AutoPark-designated level?”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eriod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The Lighthouse pings back: "Proceed to Level 4."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eriod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The AV's </a:t>
            </a: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own sensors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(cameras/LiDAR) take over. It </a:t>
            </a: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follows the existing painted arrows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reads existing signs ("Level 4," "Exit," "Stop"), and navigates the "semi-structured" garage environment.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eriod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Once on Level 4, it </a:t>
            </a: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visually searches for any open spot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(or one with a specific </a:t>
            </a:r>
            <a:r>
              <a:rPr lang="en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“AutoPark” logo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) and parks itself.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! No longer relying on external corp’s sensors or real-time maps !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42000" y="1784975"/>
            <a:ext cx="3593400" cy="2279700"/>
          </a:xfrm>
          <a:prstGeom prst="rect">
            <a:avLst/>
          </a:prstGeom>
          <a:noFill/>
          <a:ln cap="flat" cmpd="sng" w="9525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Our “Product” (V2)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arenR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The In-Vehicle Software (Core Product) = “AutoPark” module on the AV.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Pre-loaded with the “micro-maps” of partner locations.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AutoNum type="arabicParenR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The “Lighthouse” Beacon (= Enabler)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 single, low-cost piece of hardware (e.g., a Wi-Fi/5G broadcaster) that we install at the entrance of a </a:t>
            </a:r>
            <a:r>
              <a:rPr i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partner garage.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38250" y="4085425"/>
            <a:ext cx="90675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Revenue-Sharing: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-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Take a cut of every parking transaction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Business-to-Business-to-Consumer (B2B2C)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The driver pulls up to the terminal. The AV's infotainment screen asks: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-"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“Welcome to Pearson Airport. Use AutoPark for a seamless drop-off? (Special rate: $15)”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6642025" y="3925775"/>
            <a:ext cx="24675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-The Airport/Garage (gets their parking fee)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-Startup (gets a "platform fee" for the autonomous tech)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-The OEM (gets a "software fee" for having your module)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45" name="Google Shape;245;p33"/>
          <p:cNvCxnSpPr/>
          <p:nvPr/>
        </p:nvCxnSpPr>
        <p:spPr>
          <a:xfrm flipH="1" rot="10800000">
            <a:off x="3359025" y="4057100"/>
            <a:ext cx="3282900" cy="5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33"/>
          <p:cNvCxnSpPr/>
          <p:nvPr/>
        </p:nvCxnSpPr>
        <p:spPr>
          <a:xfrm flipH="1" rot="10800000">
            <a:off x="3400500" y="4354100"/>
            <a:ext cx="3248400" cy="24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3"/>
          <p:cNvCxnSpPr/>
          <p:nvPr/>
        </p:nvCxnSpPr>
        <p:spPr>
          <a:xfrm>
            <a:off x="3379750" y="4596200"/>
            <a:ext cx="3269100" cy="17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33"/>
          <p:cNvSpPr/>
          <p:nvPr/>
        </p:nvSpPr>
        <p:spPr>
          <a:xfrm>
            <a:off x="3359025" y="4548185"/>
            <a:ext cx="96900" cy="96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873625" y="3070425"/>
            <a:ext cx="7401900" cy="187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Modular Rear-End Attachment System for Connected Autonomous Vehicles</a:t>
            </a:r>
            <a:endParaRPr sz="2200"/>
          </a:p>
        </p:txBody>
      </p:sp>
      <p:sp>
        <p:nvSpPr>
          <p:cNvPr id="254" name="Google Shape;254;p34"/>
          <p:cNvSpPr txBox="1"/>
          <p:nvPr>
            <p:ph idx="2" type="title"/>
          </p:nvPr>
        </p:nvSpPr>
        <p:spPr>
          <a:xfrm>
            <a:off x="7007038" y="1610330"/>
            <a:ext cx="1268400" cy="12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255" name="Google Shape;255;p34"/>
          <p:cNvCxnSpPr/>
          <p:nvPr/>
        </p:nvCxnSpPr>
        <p:spPr>
          <a:xfrm>
            <a:off x="-76525" y="29430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34"/>
          <p:cNvSpPr txBox="1"/>
          <p:nvPr>
            <p:ph idx="4294967295" type="subTitle"/>
          </p:nvPr>
        </p:nvSpPr>
        <p:spPr>
          <a:xfrm>
            <a:off x="101600" y="91000"/>
            <a:ext cx="29412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*Disclosure: None of the titles are confirmed/in their final form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228600" y="228604"/>
            <a:ext cx="8686800" cy="10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Proposal Paragraph</a:t>
            </a:r>
            <a:endParaRPr/>
          </a:p>
        </p:txBody>
      </p:sp>
      <p:cxnSp>
        <p:nvCxnSpPr>
          <p:cNvPr id="262" name="Google Shape;262;p35"/>
          <p:cNvCxnSpPr/>
          <p:nvPr/>
        </p:nvCxnSpPr>
        <p:spPr>
          <a:xfrm>
            <a:off x="-76525" y="1495025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3" name="Google Shape;263;p35" title="Screenshot 2025-11-03 at 5.14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88" y="1552925"/>
            <a:ext cx="4741325" cy="343384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5"/>
          <p:cNvSpPr/>
          <p:nvPr/>
        </p:nvSpPr>
        <p:spPr>
          <a:xfrm>
            <a:off x="2375475" y="2330175"/>
            <a:ext cx="1682100" cy="1680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308550" y="2444475"/>
            <a:ext cx="1548900" cy="1680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1508700" y="2612475"/>
            <a:ext cx="904800" cy="1239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3232725" y="3333325"/>
            <a:ext cx="1425000" cy="1239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68" name="Google Shape;268;p35"/>
          <p:cNvSpPr txBox="1"/>
          <p:nvPr>
            <p:ph idx="4294967295" type="title"/>
          </p:nvPr>
        </p:nvSpPr>
        <p:spPr>
          <a:xfrm>
            <a:off x="5210175" y="2043025"/>
            <a:ext cx="2437500" cy="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1) </a:t>
            </a:r>
            <a:r>
              <a:rPr lang="en" sz="1100"/>
              <a:t>Pain point-focus = congestion</a:t>
            </a:r>
            <a:endParaRPr sz="1100"/>
          </a:p>
        </p:txBody>
      </p:sp>
      <p:sp>
        <p:nvSpPr>
          <p:cNvPr id="269" name="Google Shape;269;p35"/>
          <p:cNvSpPr/>
          <p:nvPr/>
        </p:nvSpPr>
        <p:spPr>
          <a:xfrm>
            <a:off x="3752925" y="3088725"/>
            <a:ext cx="1057200" cy="123900"/>
          </a:xfrm>
          <a:prstGeom prst="rect">
            <a:avLst/>
          </a:prstGeom>
          <a:solidFill>
            <a:srgbClr val="B07CC6">
              <a:alpha val="55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0" name="Google Shape;270;p35"/>
          <p:cNvSpPr txBox="1"/>
          <p:nvPr>
            <p:ph idx="4294967295" type="title"/>
          </p:nvPr>
        </p:nvSpPr>
        <p:spPr>
          <a:xfrm>
            <a:off x="5210175" y="2948325"/>
            <a:ext cx="3886200" cy="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2</a:t>
            </a:r>
            <a:r>
              <a:rPr lang="en" sz="1100"/>
              <a:t>) How it works = synchronized acceleration, braking, navigation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36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36"/>
          <p:cNvSpPr txBox="1"/>
          <p:nvPr>
            <p:ph idx="15" type="title"/>
          </p:nvPr>
        </p:nvSpPr>
        <p:spPr>
          <a:xfrm>
            <a:off x="6078450" y="462375"/>
            <a:ext cx="283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77" name="Google Shape;277;p36"/>
          <p:cNvSpPr txBox="1"/>
          <p:nvPr>
            <p:ph idx="1" type="subTitle"/>
          </p:nvPr>
        </p:nvSpPr>
        <p:spPr>
          <a:xfrm>
            <a:off x="722275" y="1156975"/>
            <a:ext cx="8307600" cy="17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/>
              <a:t>Product Scope:</a:t>
            </a:r>
            <a:br>
              <a:rPr b="1" lang="en" u="sng"/>
            </a:b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gets counted:</a:t>
            </a:r>
            <a:r>
              <a:rPr lang="en"/>
              <a:t> any AutoLink-ready vehicle (ex: new AVs + retrofit-capable EVs/ADAS Level 3 - 4) that can participate in physical/digital platooning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b="1" lang="en"/>
              <a:t>Buyer:</a:t>
            </a:r>
            <a:r>
              <a:rPr lang="en"/>
              <a:t> OEMs &amp; fleets (license + optional hardware)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Growth driver:</a:t>
            </a:r>
            <a:r>
              <a:rPr lang="en"/>
              <a:t> network effect, each added compatible vehicle increases utility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(convoy density → energy savings → more adoption).</a:t>
            </a:r>
            <a:endParaRPr/>
          </a:p>
        </p:txBody>
      </p:sp>
      <p:sp>
        <p:nvSpPr>
          <p:cNvPr id="278" name="Google Shape;278;p36"/>
          <p:cNvSpPr txBox="1"/>
          <p:nvPr>
            <p:ph idx="13" type="title"/>
          </p:nvPr>
        </p:nvSpPr>
        <p:spPr>
          <a:xfrm>
            <a:off x="228150" y="1413550"/>
            <a:ext cx="591000" cy="7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279" name="Google Shape;279;p36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0" name="Google Shape;280;p36"/>
          <p:cNvGrpSpPr/>
          <p:nvPr/>
        </p:nvGrpSpPr>
        <p:grpSpPr>
          <a:xfrm>
            <a:off x="6803381" y="691628"/>
            <a:ext cx="286314" cy="200018"/>
            <a:chOff x="6849393" y="3733994"/>
            <a:chExt cx="355053" cy="248038"/>
          </a:xfrm>
        </p:grpSpPr>
        <p:sp>
          <p:nvSpPr>
            <p:cNvPr id="281" name="Google Shape;281;p36"/>
            <p:cNvSpPr/>
            <p:nvPr/>
          </p:nvSpPr>
          <p:spPr>
            <a:xfrm>
              <a:off x="6849393" y="3733994"/>
              <a:ext cx="355053" cy="248038"/>
            </a:xfrm>
            <a:custGeom>
              <a:rect b="b" l="l" r="r" t="t"/>
              <a:pathLst>
                <a:path extrusionOk="0" h="7811" w="11181">
                  <a:moveTo>
                    <a:pt x="10800" y="357"/>
                  </a:moveTo>
                  <a:cubicBezTo>
                    <a:pt x="10800" y="357"/>
                    <a:pt x="10823" y="357"/>
                    <a:pt x="10823" y="369"/>
                  </a:cubicBezTo>
                  <a:lnTo>
                    <a:pt x="10823" y="5227"/>
                  </a:lnTo>
                  <a:lnTo>
                    <a:pt x="346" y="5239"/>
                  </a:lnTo>
                  <a:cubicBezTo>
                    <a:pt x="346" y="5239"/>
                    <a:pt x="334" y="5239"/>
                    <a:pt x="334" y="5227"/>
                  </a:cubicBezTo>
                  <a:lnTo>
                    <a:pt x="334" y="369"/>
                  </a:lnTo>
                  <a:cubicBezTo>
                    <a:pt x="334" y="369"/>
                    <a:pt x="334" y="357"/>
                    <a:pt x="346" y="357"/>
                  </a:cubicBezTo>
                  <a:close/>
                  <a:moveTo>
                    <a:pt x="10835" y="5572"/>
                  </a:moveTo>
                  <a:lnTo>
                    <a:pt x="10823" y="5977"/>
                  </a:lnTo>
                  <a:lnTo>
                    <a:pt x="10252" y="5977"/>
                  </a:lnTo>
                  <a:cubicBezTo>
                    <a:pt x="10169" y="5977"/>
                    <a:pt x="10073" y="6060"/>
                    <a:pt x="10073" y="6156"/>
                  </a:cubicBezTo>
                  <a:cubicBezTo>
                    <a:pt x="10073" y="6263"/>
                    <a:pt x="10157" y="6334"/>
                    <a:pt x="10252" y="6334"/>
                  </a:cubicBezTo>
                  <a:lnTo>
                    <a:pt x="10823" y="6334"/>
                  </a:lnTo>
                  <a:lnTo>
                    <a:pt x="10823" y="6739"/>
                  </a:lnTo>
                  <a:lnTo>
                    <a:pt x="8014" y="6739"/>
                  </a:lnTo>
                  <a:cubicBezTo>
                    <a:pt x="7918" y="6739"/>
                    <a:pt x="7823" y="6811"/>
                    <a:pt x="7823" y="6918"/>
                  </a:cubicBezTo>
                  <a:cubicBezTo>
                    <a:pt x="7823" y="7013"/>
                    <a:pt x="7906" y="7096"/>
                    <a:pt x="8014" y="7096"/>
                  </a:cubicBezTo>
                  <a:lnTo>
                    <a:pt x="10823" y="7096"/>
                  </a:lnTo>
                  <a:lnTo>
                    <a:pt x="10823" y="7489"/>
                  </a:lnTo>
                  <a:cubicBezTo>
                    <a:pt x="10823" y="7489"/>
                    <a:pt x="10823" y="7501"/>
                    <a:pt x="10812" y="7501"/>
                  </a:cubicBezTo>
                  <a:lnTo>
                    <a:pt x="358" y="7501"/>
                  </a:lnTo>
                  <a:cubicBezTo>
                    <a:pt x="358" y="7501"/>
                    <a:pt x="346" y="7501"/>
                    <a:pt x="346" y="7489"/>
                  </a:cubicBezTo>
                  <a:lnTo>
                    <a:pt x="346" y="7096"/>
                  </a:lnTo>
                  <a:lnTo>
                    <a:pt x="7263" y="7096"/>
                  </a:lnTo>
                  <a:cubicBezTo>
                    <a:pt x="7359" y="7096"/>
                    <a:pt x="7442" y="7025"/>
                    <a:pt x="7442" y="6918"/>
                  </a:cubicBezTo>
                  <a:cubicBezTo>
                    <a:pt x="7442" y="6834"/>
                    <a:pt x="7371" y="6739"/>
                    <a:pt x="7263" y="6739"/>
                  </a:cubicBezTo>
                  <a:lnTo>
                    <a:pt x="346" y="6739"/>
                  </a:lnTo>
                  <a:lnTo>
                    <a:pt x="346" y="6334"/>
                  </a:lnTo>
                  <a:lnTo>
                    <a:pt x="9514" y="6334"/>
                  </a:lnTo>
                  <a:cubicBezTo>
                    <a:pt x="9597" y="6334"/>
                    <a:pt x="9692" y="6263"/>
                    <a:pt x="9692" y="6156"/>
                  </a:cubicBezTo>
                  <a:cubicBezTo>
                    <a:pt x="9692" y="6072"/>
                    <a:pt x="9621" y="5977"/>
                    <a:pt x="9514" y="5977"/>
                  </a:cubicBezTo>
                  <a:lnTo>
                    <a:pt x="346" y="5977"/>
                  </a:lnTo>
                  <a:lnTo>
                    <a:pt x="346" y="5572"/>
                  </a:lnTo>
                  <a:close/>
                  <a:moveTo>
                    <a:pt x="358" y="0"/>
                  </a:moveTo>
                  <a:cubicBezTo>
                    <a:pt x="167" y="0"/>
                    <a:pt x="1" y="167"/>
                    <a:pt x="1" y="357"/>
                  </a:cubicBezTo>
                  <a:lnTo>
                    <a:pt x="1" y="7453"/>
                  </a:lnTo>
                  <a:cubicBezTo>
                    <a:pt x="1" y="7644"/>
                    <a:pt x="167" y="7811"/>
                    <a:pt x="358" y="7811"/>
                  </a:cubicBezTo>
                  <a:lnTo>
                    <a:pt x="10823" y="7811"/>
                  </a:lnTo>
                  <a:cubicBezTo>
                    <a:pt x="11014" y="7811"/>
                    <a:pt x="11181" y="7644"/>
                    <a:pt x="11181" y="7453"/>
                  </a:cubicBezTo>
                  <a:lnTo>
                    <a:pt x="11181" y="357"/>
                  </a:lnTo>
                  <a:cubicBezTo>
                    <a:pt x="11181" y="167"/>
                    <a:pt x="11014" y="0"/>
                    <a:pt x="10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6"/>
            <p:cNvSpPr/>
            <p:nvPr/>
          </p:nvSpPr>
          <p:spPr>
            <a:xfrm>
              <a:off x="7080411" y="3758192"/>
              <a:ext cx="100219" cy="129687"/>
            </a:xfrm>
            <a:custGeom>
              <a:rect b="b" l="l" r="r" t="t"/>
              <a:pathLst>
                <a:path extrusionOk="0" h="4084" w="3156">
                  <a:moveTo>
                    <a:pt x="179" y="0"/>
                  </a:moveTo>
                  <a:cubicBezTo>
                    <a:pt x="96" y="0"/>
                    <a:pt x="0" y="72"/>
                    <a:pt x="0" y="179"/>
                  </a:cubicBezTo>
                  <a:cubicBezTo>
                    <a:pt x="0" y="274"/>
                    <a:pt x="84" y="357"/>
                    <a:pt x="179" y="357"/>
                  </a:cubicBezTo>
                  <a:lnTo>
                    <a:pt x="2072" y="357"/>
                  </a:lnTo>
                  <a:cubicBezTo>
                    <a:pt x="2144" y="726"/>
                    <a:pt x="2429" y="1012"/>
                    <a:pt x="2798" y="1084"/>
                  </a:cubicBezTo>
                  <a:lnTo>
                    <a:pt x="2798" y="3001"/>
                  </a:lnTo>
                  <a:cubicBezTo>
                    <a:pt x="2429" y="3072"/>
                    <a:pt x="2144" y="3358"/>
                    <a:pt x="2072" y="3727"/>
                  </a:cubicBezTo>
                  <a:lnTo>
                    <a:pt x="179" y="3727"/>
                  </a:lnTo>
                  <a:cubicBezTo>
                    <a:pt x="96" y="3727"/>
                    <a:pt x="0" y="3810"/>
                    <a:pt x="0" y="3905"/>
                  </a:cubicBezTo>
                  <a:cubicBezTo>
                    <a:pt x="0" y="4013"/>
                    <a:pt x="84" y="4084"/>
                    <a:pt x="179" y="4084"/>
                  </a:cubicBezTo>
                  <a:lnTo>
                    <a:pt x="2239" y="4084"/>
                  </a:lnTo>
                  <a:cubicBezTo>
                    <a:pt x="2322" y="4084"/>
                    <a:pt x="2417" y="4013"/>
                    <a:pt x="2417" y="3905"/>
                  </a:cubicBezTo>
                  <a:cubicBezTo>
                    <a:pt x="2417" y="3596"/>
                    <a:pt x="2667" y="3346"/>
                    <a:pt x="2977" y="3346"/>
                  </a:cubicBezTo>
                  <a:cubicBezTo>
                    <a:pt x="3072" y="3346"/>
                    <a:pt x="3156" y="3274"/>
                    <a:pt x="3156" y="3167"/>
                  </a:cubicBezTo>
                  <a:lnTo>
                    <a:pt x="3156" y="917"/>
                  </a:lnTo>
                  <a:cubicBezTo>
                    <a:pt x="3156" y="810"/>
                    <a:pt x="3072" y="738"/>
                    <a:pt x="2977" y="738"/>
                  </a:cubicBezTo>
                  <a:cubicBezTo>
                    <a:pt x="2667" y="738"/>
                    <a:pt x="2417" y="488"/>
                    <a:pt x="2417" y="179"/>
                  </a:cubicBezTo>
                  <a:cubicBezTo>
                    <a:pt x="2417" y="83"/>
                    <a:pt x="2346" y="0"/>
                    <a:pt x="2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6"/>
            <p:cNvSpPr/>
            <p:nvPr/>
          </p:nvSpPr>
          <p:spPr>
            <a:xfrm>
              <a:off x="6873209" y="3757811"/>
              <a:ext cx="100219" cy="130068"/>
            </a:xfrm>
            <a:custGeom>
              <a:rect b="b" l="l" r="r" t="t"/>
              <a:pathLst>
                <a:path extrusionOk="0" h="4096" w="3156">
                  <a:moveTo>
                    <a:pt x="918" y="0"/>
                  </a:moveTo>
                  <a:cubicBezTo>
                    <a:pt x="834" y="0"/>
                    <a:pt x="739" y="84"/>
                    <a:pt x="739" y="191"/>
                  </a:cubicBezTo>
                  <a:cubicBezTo>
                    <a:pt x="739" y="500"/>
                    <a:pt x="489" y="750"/>
                    <a:pt x="179" y="750"/>
                  </a:cubicBezTo>
                  <a:cubicBezTo>
                    <a:pt x="84" y="750"/>
                    <a:pt x="1" y="822"/>
                    <a:pt x="1" y="929"/>
                  </a:cubicBezTo>
                  <a:lnTo>
                    <a:pt x="1" y="3179"/>
                  </a:lnTo>
                  <a:cubicBezTo>
                    <a:pt x="1" y="3263"/>
                    <a:pt x="72" y="3358"/>
                    <a:pt x="179" y="3358"/>
                  </a:cubicBezTo>
                  <a:cubicBezTo>
                    <a:pt x="489" y="3358"/>
                    <a:pt x="739" y="3608"/>
                    <a:pt x="739" y="3917"/>
                  </a:cubicBezTo>
                  <a:cubicBezTo>
                    <a:pt x="739" y="4013"/>
                    <a:pt x="810" y="4096"/>
                    <a:pt x="918" y="4096"/>
                  </a:cubicBezTo>
                  <a:lnTo>
                    <a:pt x="2977" y="4096"/>
                  </a:lnTo>
                  <a:cubicBezTo>
                    <a:pt x="3061" y="4096"/>
                    <a:pt x="3156" y="4025"/>
                    <a:pt x="3156" y="3917"/>
                  </a:cubicBezTo>
                  <a:cubicBezTo>
                    <a:pt x="3132" y="3822"/>
                    <a:pt x="3061" y="3739"/>
                    <a:pt x="2977" y="3739"/>
                  </a:cubicBezTo>
                  <a:lnTo>
                    <a:pt x="1084" y="3739"/>
                  </a:lnTo>
                  <a:cubicBezTo>
                    <a:pt x="1013" y="3370"/>
                    <a:pt x="727" y="3084"/>
                    <a:pt x="346" y="3013"/>
                  </a:cubicBezTo>
                  <a:lnTo>
                    <a:pt x="346" y="1096"/>
                  </a:lnTo>
                  <a:cubicBezTo>
                    <a:pt x="727" y="1024"/>
                    <a:pt x="1013" y="738"/>
                    <a:pt x="1084" y="369"/>
                  </a:cubicBezTo>
                  <a:lnTo>
                    <a:pt x="2977" y="369"/>
                  </a:lnTo>
                  <a:cubicBezTo>
                    <a:pt x="3061" y="369"/>
                    <a:pt x="3156" y="286"/>
                    <a:pt x="3156" y="191"/>
                  </a:cubicBezTo>
                  <a:cubicBezTo>
                    <a:pt x="3156" y="95"/>
                    <a:pt x="3073" y="0"/>
                    <a:pt x="2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6"/>
            <p:cNvSpPr/>
            <p:nvPr/>
          </p:nvSpPr>
          <p:spPr>
            <a:xfrm>
              <a:off x="6962060" y="3758192"/>
              <a:ext cx="129338" cy="129338"/>
            </a:xfrm>
            <a:custGeom>
              <a:rect b="b" l="l" r="r" t="t"/>
              <a:pathLst>
                <a:path extrusionOk="0" h="4073" w="4073">
                  <a:moveTo>
                    <a:pt x="2037" y="334"/>
                  </a:moveTo>
                  <a:cubicBezTo>
                    <a:pt x="2977" y="334"/>
                    <a:pt x="3727" y="1096"/>
                    <a:pt x="3727" y="2036"/>
                  </a:cubicBezTo>
                  <a:cubicBezTo>
                    <a:pt x="3727" y="2977"/>
                    <a:pt x="2977" y="3727"/>
                    <a:pt x="2037" y="3727"/>
                  </a:cubicBezTo>
                  <a:cubicBezTo>
                    <a:pt x="1096" y="3727"/>
                    <a:pt x="334" y="2977"/>
                    <a:pt x="334" y="2036"/>
                  </a:cubicBezTo>
                  <a:cubicBezTo>
                    <a:pt x="334" y="1096"/>
                    <a:pt x="1096" y="334"/>
                    <a:pt x="2037" y="334"/>
                  </a:cubicBezTo>
                  <a:close/>
                  <a:moveTo>
                    <a:pt x="2037" y="0"/>
                  </a:moveTo>
                  <a:cubicBezTo>
                    <a:pt x="906" y="0"/>
                    <a:pt x="1" y="917"/>
                    <a:pt x="1" y="2036"/>
                  </a:cubicBezTo>
                  <a:cubicBezTo>
                    <a:pt x="1" y="3155"/>
                    <a:pt x="918" y="4072"/>
                    <a:pt x="2037" y="4072"/>
                  </a:cubicBezTo>
                  <a:cubicBezTo>
                    <a:pt x="3156" y="4072"/>
                    <a:pt x="4073" y="3155"/>
                    <a:pt x="4073" y="2036"/>
                  </a:cubicBezTo>
                  <a:cubicBezTo>
                    <a:pt x="4073" y="905"/>
                    <a:pt x="3168" y="0"/>
                    <a:pt x="2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6"/>
            <p:cNvSpPr/>
            <p:nvPr/>
          </p:nvSpPr>
          <p:spPr>
            <a:xfrm>
              <a:off x="6997244" y="3781627"/>
              <a:ext cx="59382" cy="82436"/>
            </a:xfrm>
            <a:custGeom>
              <a:rect b="b" l="l" r="r" t="t"/>
              <a:pathLst>
                <a:path extrusionOk="0" h="2596" w="1870">
                  <a:moveTo>
                    <a:pt x="750" y="536"/>
                  </a:moveTo>
                  <a:lnTo>
                    <a:pt x="750" y="1060"/>
                  </a:lnTo>
                  <a:cubicBezTo>
                    <a:pt x="452" y="965"/>
                    <a:pt x="345" y="881"/>
                    <a:pt x="345" y="762"/>
                  </a:cubicBezTo>
                  <a:cubicBezTo>
                    <a:pt x="345" y="691"/>
                    <a:pt x="500" y="584"/>
                    <a:pt x="750" y="536"/>
                  </a:cubicBezTo>
                  <a:close/>
                  <a:moveTo>
                    <a:pt x="1107" y="1524"/>
                  </a:moveTo>
                  <a:cubicBezTo>
                    <a:pt x="1405" y="1608"/>
                    <a:pt x="1512" y="1703"/>
                    <a:pt x="1512" y="1822"/>
                  </a:cubicBezTo>
                  <a:cubicBezTo>
                    <a:pt x="1512" y="1893"/>
                    <a:pt x="1357" y="2001"/>
                    <a:pt x="1107" y="2036"/>
                  </a:cubicBezTo>
                  <a:lnTo>
                    <a:pt x="1107" y="1524"/>
                  </a:lnTo>
                  <a:close/>
                  <a:moveTo>
                    <a:pt x="941" y="0"/>
                  </a:moveTo>
                  <a:cubicBezTo>
                    <a:pt x="857" y="0"/>
                    <a:pt x="762" y="72"/>
                    <a:pt x="762" y="179"/>
                  </a:cubicBezTo>
                  <a:lnTo>
                    <a:pt x="762" y="191"/>
                  </a:lnTo>
                  <a:cubicBezTo>
                    <a:pt x="333" y="238"/>
                    <a:pt x="24" y="477"/>
                    <a:pt x="24" y="774"/>
                  </a:cubicBezTo>
                  <a:cubicBezTo>
                    <a:pt x="24" y="1191"/>
                    <a:pt x="441" y="1346"/>
                    <a:pt x="762" y="1429"/>
                  </a:cubicBezTo>
                  <a:lnTo>
                    <a:pt x="762" y="2036"/>
                  </a:lnTo>
                  <a:cubicBezTo>
                    <a:pt x="512" y="2001"/>
                    <a:pt x="357" y="1893"/>
                    <a:pt x="357" y="1822"/>
                  </a:cubicBezTo>
                  <a:cubicBezTo>
                    <a:pt x="357" y="1727"/>
                    <a:pt x="286" y="1643"/>
                    <a:pt x="179" y="1643"/>
                  </a:cubicBezTo>
                  <a:cubicBezTo>
                    <a:pt x="83" y="1643"/>
                    <a:pt x="0" y="1715"/>
                    <a:pt x="0" y="1822"/>
                  </a:cubicBezTo>
                  <a:cubicBezTo>
                    <a:pt x="0" y="2120"/>
                    <a:pt x="310" y="2334"/>
                    <a:pt x="750" y="2393"/>
                  </a:cubicBezTo>
                  <a:lnTo>
                    <a:pt x="750" y="2417"/>
                  </a:lnTo>
                  <a:cubicBezTo>
                    <a:pt x="750" y="2501"/>
                    <a:pt x="822" y="2596"/>
                    <a:pt x="929" y="2596"/>
                  </a:cubicBezTo>
                  <a:cubicBezTo>
                    <a:pt x="1036" y="2596"/>
                    <a:pt x="1107" y="2513"/>
                    <a:pt x="1107" y="2417"/>
                  </a:cubicBezTo>
                  <a:lnTo>
                    <a:pt x="1107" y="2393"/>
                  </a:lnTo>
                  <a:cubicBezTo>
                    <a:pt x="1536" y="2358"/>
                    <a:pt x="1845" y="2120"/>
                    <a:pt x="1845" y="1822"/>
                  </a:cubicBezTo>
                  <a:cubicBezTo>
                    <a:pt x="1845" y="1417"/>
                    <a:pt x="1453" y="1250"/>
                    <a:pt x="1107" y="1167"/>
                  </a:cubicBezTo>
                  <a:lnTo>
                    <a:pt x="1107" y="548"/>
                  </a:lnTo>
                  <a:cubicBezTo>
                    <a:pt x="1357" y="596"/>
                    <a:pt x="1512" y="703"/>
                    <a:pt x="1512" y="774"/>
                  </a:cubicBezTo>
                  <a:cubicBezTo>
                    <a:pt x="1512" y="869"/>
                    <a:pt x="1584" y="953"/>
                    <a:pt x="1691" y="953"/>
                  </a:cubicBezTo>
                  <a:cubicBezTo>
                    <a:pt x="1774" y="953"/>
                    <a:pt x="1869" y="881"/>
                    <a:pt x="1869" y="774"/>
                  </a:cubicBezTo>
                  <a:cubicBezTo>
                    <a:pt x="1869" y="477"/>
                    <a:pt x="1548" y="250"/>
                    <a:pt x="1119" y="191"/>
                  </a:cubicBezTo>
                  <a:lnTo>
                    <a:pt x="1119" y="179"/>
                  </a:lnTo>
                  <a:cubicBezTo>
                    <a:pt x="1119" y="84"/>
                    <a:pt x="1048" y="0"/>
                    <a:pt x="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286" name="Google Shape;286;p36"/>
          <p:cNvGraphicFramePr/>
          <p:nvPr/>
        </p:nvGraphicFramePr>
        <p:xfrm>
          <a:off x="287900" y="293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{44BD94AA-547F-48BF-A0EB-3BB84CB84F39}</a:tableStyleId>
              </a:tblPr>
              <a:tblGrid>
                <a:gridCol w="546050"/>
                <a:gridCol w="2138675"/>
                <a:gridCol w="637050"/>
                <a:gridCol w="646150"/>
                <a:gridCol w="4659575"/>
              </a:tblGrid>
              <a:tr h="45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Market Tier</a:t>
                      </a:r>
                      <a:endParaRPr b="1" sz="8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Definition</a:t>
                      </a:r>
                      <a:endParaRPr b="1" sz="8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Market Size (USD)</a:t>
                      </a:r>
                      <a:endParaRPr b="1" sz="8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Vehicles (M units)</a:t>
                      </a:r>
                      <a:endParaRPr b="1" sz="8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Notes / Sources</a:t>
                      </a:r>
                      <a:endParaRPr b="1" sz="8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TAM</a:t>
                      </a:r>
                      <a:endParaRPr b="1" sz="8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Global AV-capable vehicles that could support AutoLink (feature adoption across all connected and autonomous fleets by 2030)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≈ $18.4 B / year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12.0 M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Derived from global </a:t>
                      </a: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automotive platooning system market</a:t>
                      </a: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(USD 4.46 B → 18.38 B by 2029, CAGR 32.4%) and </a:t>
                      </a: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connected-car market</a:t>
                      </a: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(USD 12.4 B → 26.4 B by 2030) —</a:t>
                      </a:r>
                      <a:r>
                        <a:rPr lang="en" sz="7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Karla"/>
                          <a:ea typeface="Karla"/>
                          <a:cs typeface="Karla"/>
                          <a:sym typeface="Karla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700" u="sng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The Business Research Company 2024</a:t>
                      </a: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and</a:t>
                      </a:r>
                      <a:r>
                        <a:rPr lang="en" sz="7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Karla"/>
                          <a:ea typeface="Karla"/>
                          <a:cs typeface="Karla"/>
                          <a:sym typeface="Karla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700" u="sng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Markets &amp; Markets 2024</a:t>
                      </a: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. Represents total addressable AV ecosystem where AutoLink-like convoying could apply.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SAM</a:t>
                      </a:r>
                      <a:endParaRPr b="1" sz="8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AV-capable vehicles in regions with legal / high-density platooning support (North America, EU, China ≈ 60% of global market)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≈ $7.4 B / year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4.8 M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60 % regional availability × 70 % highway-fit filter ≈ 42 % of TAM. Reflects corridors actively piloting V2V and platooning standards.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SOM</a:t>
                      </a:r>
                      <a:endParaRPr b="1" sz="8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3–5 yr attainable penetration via early OEM &amp; fleet partners (initial feature deployment)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≈ $590 M / year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0.42 M</a:t>
                      </a:r>
                      <a:endParaRPr b="1"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~8 % penetration of SAM by Year 5 — targets OEMs and autonomous fleets (Tesla, Volvo, Waymo, Cruise, BYD). Assumes ARPU ≈ $140 software license + $10 integration fee per vehicle.</a:t>
                      </a:r>
                      <a:endParaRPr sz="7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87" name="Google Shape;287;p36"/>
          <p:cNvPicPr preferRelativeResize="0"/>
          <p:nvPr/>
        </p:nvPicPr>
        <p:blipFill rotWithShape="1">
          <a:blip r:embed="rId8">
            <a:alphaModFix/>
          </a:blip>
          <a:srcRect b="9446" l="0" r="0" t="22493"/>
          <a:stretch/>
        </p:blipFill>
        <p:spPr>
          <a:xfrm>
            <a:off x="103700" y="171975"/>
            <a:ext cx="2024223" cy="92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idx="15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Stakeholders + Monetization</a:t>
            </a:r>
            <a:endParaRPr/>
          </a:p>
        </p:txBody>
      </p:sp>
      <p:sp>
        <p:nvSpPr>
          <p:cNvPr id="293" name="Google Shape;293;p37"/>
          <p:cNvSpPr txBox="1"/>
          <p:nvPr>
            <p:ph idx="1" type="subTitle"/>
          </p:nvPr>
        </p:nvSpPr>
        <p:spPr>
          <a:xfrm>
            <a:off x="722275" y="1290375"/>
            <a:ext cx="5588100" cy="3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/>
              <a:t>Stakeholder Analysis</a:t>
            </a:r>
            <a:r>
              <a:rPr lang="en" sz="1400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Customer (B2B): Automotive OEMs &amp; Tier-1 Suppliers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Why: In a feature race, OEMs need differentiators that improve energy efficiency and range.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Our “AutoLink” module is a high-value, </a:t>
            </a:r>
            <a:r>
              <a:rPr b="1" lang="en"/>
              <a:t>licensable hardware-software system</a:t>
            </a:r>
            <a:r>
              <a:rPr lang="en"/>
              <a:t> that enables synchronized platooning and energy sharing.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OEMs can build it into their new AV and EV platforms as a </a:t>
            </a:r>
            <a:r>
              <a:rPr b="1" lang="en"/>
              <a:t>premium connectivity feature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End-User (B2C / Fleet Experience): Fleet Operators &amp; Autonomous Mobility Providers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Why: Fleet owners benefit from </a:t>
            </a:r>
            <a:r>
              <a:rPr b="1" lang="en"/>
              <a:t>reduced energy consumption</a:t>
            </a:r>
            <a:r>
              <a:rPr lang="en"/>
              <a:t> (~10–15% savings) and smoother </a:t>
            </a:r>
            <a:r>
              <a:rPr b="1" lang="en"/>
              <a:t>traffic flow</a:t>
            </a:r>
            <a:r>
              <a:rPr lang="en"/>
              <a:t> (solves traffic congestion)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Value: Provides a network-ready platform for connected fleets and ride-sharing operators.</a:t>
            </a:r>
            <a:endParaRPr sz="1200"/>
          </a:p>
        </p:txBody>
      </p:sp>
      <p:sp>
        <p:nvSpPr>
          <p:cNvPr id="294" name="Google Shape;294;p37"/>
          <p:cNvSpPr txBox="1"/>
          <p:nvPr>
            <p:ph idx="13" type="title"/>
          </p:nvPr>
        </p:nvSpPr>
        <p:spPr>
          <a:xfrm>
            <a:off x="228150" y="1413550"/>
            <a:ext cx="591000" cy="7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295" name="Google Shape;295;p37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7"/>
          <p:cNvSpPr txBox="1"/>
          <p:nvPr/>
        </p:nvSpPr>
        <p:spPr>
          <a:xfrm>
            <a:off x="6918475" y="1333925"/>
            <a:ext cx="2121900" cy="284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Sell the physical “AutoLink Coupler” module to OEMs or Tier-1 suppliers for factory integration or aftermarket installation.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AND</a:t>
            </a:r>
            <a:endParaRPr b="1"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Charge OEMs an annual subscription per connected vehicle to maintain access to the AutoLink network.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297" name="Google Shape;297;p37"/>
          <p:cNvGrpSpPr/>
          <p:nvPr/>
        </p:nvGrpSpPr>
        <p:grpSpPr>
          <a:xfrm>
            <a:off x="5773401" y="1447509"/>
            <a:ext cx="1165777" cy="1623754"/>
            <a:chOff x="236331" y="1116004"/>
            <a:chExt cx="1059219" cy="552899"/>
          </a:xfrm>
        </p:grpSpPr>
        <p:sp>
          <p:nvSpPr>
            <p:cNvPr id="298" name="Google Shape;298;p37"/>
            <p:cNvSpPr/>
            <p:nvPr/>
          </p:nvSpPr>
          <p:spPr>
            <a:xfrm>
              <a:off x="236331" y="1176041"/>
              <a:ext cx="119700" cy="48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99" name="Google Shape;299;p37"/>
            <p:cNvCxnSpPr>
              <a:stCxn id="298" idx="6"/>
              <a:endCxn id="300" idx="3"/>
            </p:cNvCxnSpPr>
            <p:nvPr/>
          </p:nvCxnSpPr>
          <p:spPr>
            <a:xfrm flipH="1" rot="10800000">
              <a:off x="356031" y="1135991"/>
              <a:ext cx="819900" cy="645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37"/>
            <p:cNvCxnSpPr>
              <a:stCxn id="298" idx="6"/>
              <a:endCxn id="302" idx="3"/>
            </p:cNvCxnSpPr>
            <p:nvPr/>
          </p:nvCxnSpPr>
          <p:spPr>
            <a:xfrm>
              <a:off x="356031" y="1200491"/>
              <a:ext cx="819900" cy="444000"/>
            </a:xfrm>
            <a:prstGeom prst="curvedConnector3">
              <a:avLst>
                <a:gd fmla="val 57914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2" name="Google Shape;302;p37"/>
            <p:cNvSpPr/>
            <p:nvPr/>
          </p:nvSpPr>
          <p:spPr>
            <a:xfrm rot="5400000">
              <a:off x="1211251" y="1584603"/>
              <a:ext cx="48900" cy="119700"/>
            </a:xfrm>
            <a:prstGeom prst="triangle">
              <a:avLst>
                <a:gd fmla="val 50000" name="adj"/>
              </a:avLst>
            </a:prstGeom>
            <a:solidFill>
              <a:srgbClr val="50325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0" name="Google Shape;300;p37"/>
            <p:cNvSpPr/>
            <p:nvPr/>
          </p:nvSpPr>
          <p:spPr>
            <a:xfrm rot="5400000">
              <a:off x="1215601" y="1076254"/>
              <a:ext cx="40200" cy="119700"/>
            </a:xfrm>
            <a:prstGeom prst="triangle">
              <a:avLst>
                <a:gd fmla="val 50000" name="adj"/>
              </a:avLst>
            </a:prstGeom>
            <a:solidFill>
              <a:srgbClr val="50325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873625" y="3070425"/>
            <a:ext cx="7401900" cy="187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Visual Intelligent System for Transparent Awareness</a:t>
            </a:r>
            <a:endParaRPr sz="2200"/>
          </a:p>
        </p:txBody>
      </p:sp>
      <p:sp>
        <p:nvSpPr>
          <p:cNvPr id="308" name="Google Shape;308;p38"/>
          <p:cNvSpPr txBox="1"/>
          <p:nvPr>
            <p:ph idx="2" type="title"/>
          </p:nvPr>
        </p:nvSpPr>
        <p:spPr>
          <a:xfrm>
            <a:off x="7007038" y="1610330"/>
            <a:ext cx="1268400" cy="12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309" name="Google Shape;309;p38"/>
          <p:cNvCxnSpPr/>
          <p:nvPr/>
        </p:nvCxnSpPr>
        <p:spPr>
          <a:xfrm>
            <a:off x="-76525" y="29430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38"/>
          <p:cNvSpPr txBox="1"/>
          <p:nvPr>
            <p:ph idx="4294967295" type="subTitle"/>
          </p:nvPr>
        </p:nvSpPr>
        <p:spPr>
          <a:xfrm>
            <a:off x="101600" y="91000"/>
            <a:ext cx="2941200" cy="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*Disclosure: None of the titles are confirmed/in their final form</a:t>
            </a:r>
            <a:endParaRPr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/>
          <p:nvPr>
            <p:ph type="title"/>
          </p:nvPr>
        </p:nvSpPr>
        <p:spPr>
          <a:xfrm>
            <a:off x="228600" y="228604"/>
            <a:ext cx="8686800" cy="10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Proposal Paragraph</a:t>
            </a:r>
            <a:endParaRPr/>
          </a:p>
        </p:txBody>
      </p:sp>
      <p:cxnSp>
        <p:nvCxnSpPr>
          <p:cNvPr id="316" name="Google Shape;316;p39"/>
          <p:cNvCxnSpPr/>
          <p:nvPr/>
        </p:nvCxnSpPr>
        <p:spPr>
          <a:xfrm>
            <a:off x="-76525" y="1495025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7" name="Google Shape;317;p39" title="Screenshot 2025-11-10 at 5.35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400" y="1546829"/>
            <a:ext cx="4921206" cy="3558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/>
          <p:nvPr>
            <p:ph idx="3" type="subTitle"/>
          </p:nvPr>
        </p:nvSpPr>
        <p:spPr>
          <a:xfrm>
            <a:off x="4617325" y="1651425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in-vehicle displays focus on navigation, not the vehicle’s perception or decision-making process.</a:t>
            </a:r>
            <a:endParaRPr/>
          </a:p>
        </p:txBody>
      </p:sp>
      <p:sp>
        <p:nvSpPr>
          <p:cNvPr id="323" name="Google Shape;323;p40"/>
          <p:cNvSpPr txBox="1"/>
          <p:nvPr>
            <p:ph idx="15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324" name="Google Shape;324;p40"/>
          <p:cNvSpPr txBox="1"/>
          <p:nvPr>
            <p:ph idx="1" type="subTitle"/>
          </p:nvPr>
        </p:nvSpPr>
        <p:spPr>
          <a:xfrm>
            <a:off x="722275" y="1626975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rapid advances in autonomous driving, consumers remain uneasy about riding in self-driving vehicles.</a:t>
            </a:r>
            <a:endParaRPr/>
          </a:p>
        </p:txBody>
      </p:sp>
      <p:sp>
        <p:nvSpPr>
          <p:cNvPr id="325" name="Google Shape;325;p40"/>
          <p:cNvSpPr txBox="1"/>
          <p:nvPr>
            <p:ph idx="2" type="subTitle"/>
          </p:nvPr>
        </p:nvSpPr>
        <p:spPr>
          <a:xfrm>
            <a:off x="722275" y="2627788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According to McKinsey (2024), 67% of consumers cite “lack of trust and transparency” as the primary reason for avoiding AVs.</a:t>
            </a:r>
            <a:endParaRPr/>
          </a:p>
        </p:txBody>
      </p:sp>
      <p:sp>
        <p:nvSpPr>
          <p:cNvPr id="326" name="Google Shape;326;p40"/>
          <p:cNvSpPr txBox="1"/>
          <p:nvPr>
            <p:ph idx="4" type="subTitle"/>
          </p:nvPr>
        </p:nvSpPr>
        <p:spPr>
          <a:xfrm>
            <a:off x="4617325" y="2367138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transparent interfaces, riders feel disconnected from safety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slowing mainstream adoption of autonomous mobility.</a:t>
            </a:r>
            <a:endParaRPr/>
          </a:p>
        </p:txBody>
      </p:sp>
      <p:sp>
        <p:nvSpPr>
          <p:cNvPr id="327" name="Google Shape;327;p40"/>
          <p:cNvSpPr txBox="1"/>
          <p:nvPr>
            <p:ph idx="5" type="subTitle"/>
          </p:nvPr>
        </p:nvSpPr>
        <p:spPr>
          <a:xfrm>
            <a:off x="722275" y="3513750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Passengers cannot see or understand what the AV perceives, leading to anxiety, disengagement, and over-reliance on emergency overrides.</a:t>
            </a:r>
            <a:endParaRPr/>
          </a:p>
        </p:txBody>
      </p:sp>
      <p:sp>
        <p:nvSpPr>
          <p:cNvPr id="328" name="Google Shape;328;p40"/>
          <p:cNvSpPr txBox="1"/>
          <p:nvPr>
            <p:ph idx="6" type="subTitle"/>
          </p:nvPr>
        </p:nvSpPr>
        <p:spPr>
          <a:xfrm>
            <a:off x="4617325" y="3566725"/>
            <a:ext cx="3039000" cy="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transparency and trust through real-time, visual communication between human and vehicle.</a:t>
            </a:r>
            <a:endParaRPr/>
          </a:p>
        </p:txBody>
      </p:sp>
      <p:sp>
        <p:nvSpPr>
          <p:cNvPr id="329" name="Google Shape;329;p40"/>
          <p:cNvSpPr txBox="1"/>
          <p:nvPr>
            <p:ph type="title"/>
          </p:nvPr>
        </p:nvSpPr>
        <p:spPr>
          <a:xfrm>
            <a:off x="4123650" y="3246848"/>
            <a:ext cx="16143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</a:t>
            </a:r>
            <a:endParaRPr/>
          </a:p>
        </p:txBody>
      </p:sp>
      <p:sp>
        <p:nvSpPr>
          <p:cNvPr id="330" name="Google Shape;330;p40"/>
          <p:cNvSpPr txBox="1"/>
          <p:nvPr>
            <p:ph idx="8" type="title"/>
          </p:nvPr>
        </p:nvSpPr>
        <p:spPr>
          <a:xfrm>
            <a:off x="228600" y="2301750"/>
            <a:ext cx="8334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31" name="Google Shape;331;p40"/>
          <p:cNvSpPr txBox="1"/>
          <p:nvPr>
            <p:ph idx="13" type="title"/>
          </p:nvPr>
        </p:nvSpPr>
        <p:spPr>
          <a:xfrm>
            <a:off x="228600" y="1294575"/>
            <a:ext cx="16743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332" name="Google Shape;332;p40"/>
          <p:cNvSpPr txBox="1"/>
          <p:nvPr>
            <p:ph idx="14" type="title"/>
          </p:nvPr>
        </p:nvSpPr>
        <p:spPr>
          <a:xfrm>
            <a:off x="4123650" y="1294575"/>
            <a:ext cx="1200900" cy="58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</a:t>
            </a:r>
            <a:endParaRPr/>
          </a:p>
        </p:txBody>
      </p:sp>
      <p:cxnSp>
        <p:nvCxnSpPr>
          <p:cNvPr id="333" name="Google Shape;333;p40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40"/>
          <p:cNvSpPr txBox="1"/>
          <p:nvPr/>
        </p:nvSpPr>
        <p:spPr>
          <a:xfrm>
            <a:off x="4525675" y="833575"/>
            <a:ext cx="446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Current AV adoption is limited not by capability, but by trust.</a:t>
            </a:r>
            <a:endParaRPr sz="1200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335" name="Google Shape;3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9850" y="3891475"/>
            <a:ext cx="2104151" cy="118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7750" y="2704173"/>
            <a:ext cx="1796249" cy="112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>
            <p:ph idx="15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Stakeholders + Monetization</a:t>
            </a:r>
            <a:endParaRPr/>
          </a:p>
        </p:txBody>
      </p:sp>
      <p:sp>
        <p:nvSpPr>
          <p:cNvPr id="342" name="Google Shape;342;p41"/>
          <p:cNvSpPr txBox="1"/>
          <p:nvPr>
            <p:ph idx="1" type="subTitle"/>
          </p:nvPr>
        </p:nvSpPr>
        <p:spPr>
          <a:xfrm>
            <a:off x="722275" y="1290375"/>
            <a:ext cx="5588100" cy="3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/>
              <a:t>Stakeholder Analysis</a:t>
            </a:r>
            <a:r>
              <a:rPr lang="en" sz="1400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Customer (B2B): Automotive OEMs &amp; Tier-1 Suppliers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u="sng"/>
              <a:t>Why</a:t>
            </a:r>
            <a:r>
              <a:rPr lang="en"/>
              <a:t>: Traditional AR HUDs only display </a:t>
            </a:r>
            <a:r>
              <a:rPr b="1" lang="en"/>
              <a:t>limited driving data</a:t>
            </a:r>
            <a:r>
              <a:rPr lang="en"/>
              <a:t> (speed, navigation, warnings).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</a:t>
            </a:r>
            <a:r>
              <a:rPr lang="en" sz="1200"/>
              <a:t>VISTA introduces a full-windshield, spatially aware interface that visualizes how the AV perceives and reacts to its environment.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u="sng"/>
              <a:t>Value</a:t>
            </a:r>
            <a:r>
              <a:rPr lang="en"/>
              <a:t>: A complete visual awareness layer that bridges the trust-gap between human passengers and autonomous systems.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OEMs can integrate VISTA into next-generation EVs and AVs as a signature safety and </a:t>
            </a:r>
            <a:r>
              <a:rPr b="1" lang="en"/>
              <a:t>transparency feature</a:t>
            </a:r>
            <a:r>
              <a:rPr lang="en"/>
              <a:t>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End-User (B2C / Fleet Experience): AV Fleet Operators, Ride-Hailing Platforms, and Robotaxi Networks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Why: Fleet adoption relies heavily on rider comfort and confidence.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Value: VISTA enhances passenger experience by allowing riders to “see what the vehicle sees,” reducing anxiety and improving perceived safety.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Operators gain a measurable trust metric through engagement and reduced ride cancellations.</a:t>
            </a:r>
            <a:endParaRPr/>
          </a:p>
        </p:txBody>
      </p:sp>
      <p:sp>
        <p:nvSpPr>
          <p:cNvPr id="343" name="Google Shape;343;p41"/>
          <p:cNvSpPr txBox="1"/>
          <p:nvPr>
            <p:ph idx="13" type="title"/>
          </p:nvPr>
        </p:nvSpPr>
        <p:spPr>
          <a:xfrm>
            <a:off x="228150" y="1413550"/>
            <a:ext cx="591000" cy="7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344" name="Google Shape;344;p41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41"/>
          <p:cNvSpPr txBox="1"/>
          <p:nvPr/>
        </p:nvSpPr>
        <p:spPr>
          <a:xfrm>
            <a:off x="6890400" y="1260925"/>
            <a:ext cx="21219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Hardware Integration Revenue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AND</a:t>
            </a:r>
            <a:endParaRPr b="1"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SaaS Subscription (Recurring Software Revenue)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346" name="Google Shape;346;p41"/>
          <p:cNvGrpSpPr/>
          <p:nvPr/>
        </p:nvGrpSpPr>
        <p:grpSpPr>
          <a:xfrm>
            <a:off x="5773401" y="1447509"/>
            <a:ext cx="1165777" cy="1623754"/>
            <a:chOff x="236331" y="1116004"/>
            <a:chExt cx="1059219" cy="552899"/>
          </a:xfrm>
        </p:grpSpPr>
        <p:sp>
          <p:nvSpPr>
            <p:cNvPr id="347" name="Google Shape;347;p41"/>
            <p:cNvSpPr/>
            <p:nvPr/>
          </p:nvSpPr>
          <p:spPr>
            <a:xfrm>
              <a:off x="236331" y="1176041"/>
              <a:ext cx="119700" cy="48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48" name="Google Shape;348;p41"/>
            <p:cNvCxnSpPr>
              <a:stCxn id="347" idx="6"/>
              <a:endCxn id="349" idx="3"/>
            </p:cNvCxnSpPr>
            <p:nvPr/>
          </p:nvCxnSpPr>
          <p:spPr>
            <a:xfrm flipH="1" rot="10800000">
              <a:off x="356031" y="1135991"/>
              <a:ext cx="819900" cy="645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41"/>
            <p:cNvCxnSpPr>
              <a:stCxn id="347" idx="6"/>
              <a:endCxn id="351" idx="3"/>
            </p:cNvCxnSpPr>
            <p:nvPr/>
          </p:nvCxnSpPr>
          <p:spPr>
            <a:xfrm>
              <a:off x="356031" y="1200491"/>
              <a:ext cx="819900" cy="444000"/>
            </a:xfrm>
            <a:prstGeom prst="curvedConnector3">
              <a:avLst>
                <a:gd fmla="val 57914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1" name="Google Shape;351;p41"/>
            <p:cNvSpPr/>
            <p:nvPr/>
          </p:nvSpPr>
          <p:spPr>
            <a:xfrm rot="5400000">
              <a:off x="1211251" y="1584603"/>
              <a:ext cx="48900" cy="119700"/>
            </a:xfrm>
            <a:prstGeom prst="triangle">
              <a:avLst>
                <a:gd fmla="val 50000" name="adj"/>
              </a:avLst>
            </a:prstGeom>
            <a:solidFill>
              <a:srgbClr val="50325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9" name="Google Shape;349;p41"/>
            <p:cNvSpPr/>
            <p:nvPr/>
          </p:nvSpPr>
          <p:spPr>
            <a:xfrm rot="5400000">
              <a:off x="1215601" y="1076254"/>
              <a:ext cx="40200" cy="119700"/>
            </a:xfrm>
            <a:prstGeom prst="triangle">
              <a:avLst>
                <a:gd fmla="val 50000" name="adj"/>
              </a:avLst>
            </a:prstGeom>
            <a:solidFill>
              <a:srgbClr val="50325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>
            <p:ph type="title"/>
          </p:nvPr>
        </p:nvSpPr>
        <p:spPr>
          <a:xfrm>
            <a:off x="233650" y="228600"/>
            <a:ext cx="8686800" cy="8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Analysis</a:t>
            </a:r>
            <a:endParaRPr/>
          </a:p>
        </p:txBody>
      </p:sp>
      <p:sp>
        <p:nvSpPr>
          <p:cNvPr id="357" name="Google Shape;357;p42"/>
          <p:cNvSpPr txBox="1"/>
          <p:nvPr>
            <p:ph idx="1" type="body"/>
          </p:nvPr>
        </p:nvSpPr>
        <p:spPr>
          <a:xfrm>
            <a:off x="228600" y="1370175"/>
            <a:ext cx="3697800" cy="35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1. AR Automotive Display Market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Valued at USD 1.5B in 2023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Expected to exceed USD 15B by 2032 (CAGR ~28%)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Growth driven by premium OEM adoption of AR HUDs and in-vehicle transparency features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/>
              <a:t>2. Global Autonomous Vehicle Market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Valued at USD 54B in 2024, projected to reach USD 620B by 2032 (CAGR ~35%)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OEMs and AV developers are investing in UX systems that improve rider comfort and trust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/>
              <a:t>3. Consumer Trust Gap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67% of consumers cite “lack of trust and transparency” as their main hesitation toward AVs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40% increase in adoption likelihood when riders can visualize AV intent and perception</a:t>
            </a:r>
            <a:endParaRPr sz="900"/>
          </a:p>
        </p:txBody>
      </p:sp>
      <p:cxnSp>
        <p:nvCxnSpPr>
          <p:cNvPr id="358" name="Google Shape;358;p42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59" name="Google Shape;359;p42"/>
          <p:cNvGraphicFramePr/>
          <p:nvPr/>
        </p:nvGraphicFramePr>
        <p:xfrm>
          <a:off x="3987525" y="2145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{44BD94AA-547F-48BF-A0EB-3BB84CB84F39}</a:tableStyleId>
              </a:tblPr>
              <a:tblGrid>
                <a:gridCol w="502500"/>
                <a:gridCol w="2407125"/>
                <a:gridCol w="619600"/>
                <a:gridCol w="1509300"/>
              </a:tblGrid>
              <a:tr h="43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Tier</a:t>
                      </a:r>
                      <a:endParaRPr b="1"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Definition</a:t>
                      </a:r>
                      <a:endParaRPr b="1"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Market Size (USD)</a:t>
                      </a:r>
                      <a:endParaRPr b="1"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Key Assumptions</a:t>
                      </a:r>
                      <a:endParaRPr b="1"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TAM</a:t>
                      </a:r>
                      <a:endParaRPr b="1"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Portion of global AV market constrained by trust gap and solvable via transparency UI</a:t>
                      </a:r>
                      <a:endParaRPr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$7.8B</a:t>
                      </a:r>
                      <a:endParaRPr b="1"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$620B × 25% (trust-limited) × 5% (UI layer value)</a:t>
                      </a:r>
                      <a:endParaRPr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SAM</a:t>
                      </a:r>
                      <a:endParaRPr b="1"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AVs in AR-HUD-ready regions (NA, EU, East Asia)</a:t>
                      </a:r>
                      <a:endParaRPr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$2.3B</a:t>
                      </a:r>
                      <a:endParaRPr b="1"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60% region coverage × 50% HUD readiness</a:t>
                      </a:r>
                      <a:endParaRPr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SOM</a:t>
                      </a:r>
                      <a:endParaRPr b="1"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5-year attainable share via OEM &amp; fleet integrations</a:t>
                      </a:r>
                      <a:endParaRPr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$160M</a:t>
                      </a:r>
                      <a:endParaRPr b="1"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7% SAM penetration × $150 SaaS × 5-year cycle</a:t>
                      </a:r>
                      <a:endParaRPr sz="10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3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4"/>
          <p:cNvSpPr txBox="1"/>
          <p:nvPr>
            <p:ph type="title"/>
          </p:nvPr>
        </p:nvSpPr>
        <p:spPr>
          <a:xfrm>
            <a:off x="4767707" y="1742353"/>
            <a:ext cx="3738000" cy="11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hank you</a:t>
            </a:r>
            <a:endParaRPr/>
          </a:p>
        </p:txBody>
      </p:sp>
      <p:sp>
        <p:nvSpPr>
          <p:cNvPr id="370" name="Google Shape;370;p44"/>
          <p:cNvSpPr txBox="1"/>
          <p:nvPr/>
        </p:nvSpPr>
        <p:spPr>
          <a:xfrm>
            <a:off x="5515350" y="3635175"/>
            <a:ext cx="29142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Please keep this slide for attribution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71" name="Google Shape;371;p44"/>
          <p:cNvCxnSpPr/>
          <p:nvPr/>
        </p:nvCxnSpPr>
        <p:spPr>
          <a:xfrm>
            <a:off x="-76525" y="2860431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Gradient by Slidesgo">
  <a:themeElements>
    <a:clrScheme name="Simple Light">
      <a:dk1>
        <a:srgbClr val="083C77"/>
      </a:dk1>
      <a:lt1>
        <a:srgbClr val="EBFCFF"/>
      </a:lt1>
      <a:dk2>
        <a:srgbClr val="083C77"/>
      </a:dk2>
      <a:lt2>
        <a:srgbClr val="9CE3E9"/>
      </a:lt2>
      <a:accent1>
        <a:srgbClr val="93C4E0"/>
      </a:accent1>
      <a:accent2>
        <a:srgbClr val="829E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83C7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